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a14ac1be2b459a" /><Relationship Type="http://schemas.openxmlformats.org/officeDocument/2006/relationships/extended-properties" Target="/docProps/app.xml" Id="R71aa08327c484a71" /><Relationship Type="http://schemas.openxmlformats.org/officeDocument/2006/relationships/officeDocument" Target="/ppt/presentation.xml" Id="Rd8546100995541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f569b306224ceb"/>
  </p:sldMasterIdLst>
  <p:notesMasterIdLst>
    <p:notesMasterId xmlns:r="http://schemas.openxmlformats.org/officeDocument/2006/relationships" r:id="Rca0a269d4ec34698"/>
  </p:notesMasterIdLst>
  <p:sldIdLst>
    <p:sldId xmlns:r="http://schemas.openxmlformats.org/officeDocument/2006/relationships" id="256" r:id="Rb83eb53405d84df7"/>
    <p:sldId xmlns:r="http://schemas.openxmlformats.org/officeDocument/2006/relationships" id="257" r:id="Rb56386e5bb024e70"/>
    <p:sldId xmlns:r="http://schemas.openxmlformats.org/officeDocument/2006/relationships" id="258" r:id="R440bf02aa48343ec"/>
    <p:sldId xmlns:r="http://schemas.openxmlformats.org/officeDocument/2006/relationships" id="259" r:id="R6474779708a14c61"/>
    <p:sldId xmlns:r="http://schemas.openxmlformats.org/officeDocument/2006/relationships" id="260" r:id="R63b84e7f592c4ccb"/>
    <p:sldId xmlns:r="http://schemas.openxmlformats.org/officeDocument/2006/relationships" id="261" r:id="R4cc0624c23e24393"/>
    <p:sldId xmlns:r="http://schemas.openxmlformats.org/officeDocument/2006/relationships" id="262" r:id="Rba646022397844a7"/>
    <p:sldId xmlns:r="http://schemas.openxmlformats.org/officeDocument/2006/relationships" id="263" r:id="R00922ded65714a3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66b4ba079f4767" /><Relationship Type="http://schemas.openxmlformats.org/officeDocument/2006/relationships/slideMaster" Target="/ppt/slideMasters/slideMaster1.xml" Id="Ra0f569b306224ceb" /><Relationship Type="http://schemas.openxmlformats.org/officeDocument/2006/relationships/notesMaster" Target="/ppt/notesMasters/notesMaster1.xml" Id="Rca0a269d4ec34698" /><Relationship Type="http://schemas.openxmlformats.org/officeDocument/2006/relationships/presProps" Target="/ppt/presProps.xml" Id="Recb363a759ae40e4" /><Relationship Type="http://schemas.openxmlformats.org/officeDocument/2006/relationships/tableStyles" Target="/ppt/tableStyles.xml" Id="R775f4b9d6ffe47e5" /><Relationship Type="http://schemas.openxmlformats.org/officeDocument/2006/relationships/slide" Target="/ppt/slides/slide1.xml" Id="Rb83eb53405d84df7" /><Relationship Type="http://schemas.openxmlformats.org/officeDocument/2006/relationships/slide" Target="/ppt/slides/slide2.xml" Id="Rb56386e5bb024e70" /><Relationship Type="http://schemas.openxmlformats.org/officeDocument/2006/relationships/slide" Target="/ppt/slides/slide3.xml" Id="R440bf02aa48343ec" /><Relationship Type="http://schemas.openxmlformats.org/officeDocument/2006/relationships/slide" Target="/ppt/slides/slide4.xml" Id="R6474779708a14c61" /><Relationship Type="http://schemas.openxmlformats.org/officeDocument/2006/relationships/slide" Target="/ppt/slides/slide5.xml" Id="R63b84e7f592c4ccb" /><Relationship Type="http://schemas.openxmlformats.org/officeDocument/2006/relationships/slide" Target="/ppt/slides/slide6.xml" Id="R4cc0624c23e24393" /><Relationship Type="http://schemas.openxmlformats.org/officeDocument/2006/relationships/slide" Target="/ppt/slides/slide7.xml" Id="Rba646022397844a7" /><Relationship Type="http://schemas.openxmlformats.org/officeDocument/2006/relationships/slide" Target="/ppt/slides/slide8.xml" Id="R00922ded65714a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338867036845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888c00159e4254" /><Relationship Type="http://schemas.openxmlformats.org/officeDocument/2006/relationships/notesMaster" Target="/ppt/notesMasters/notesMaster1.xml" Id="R30f259be5f7345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8496dfb92840c7" /><Relationship Type="http://schemas.openxmlformats.org/officeDocument/2006/relationships/notesMaster" Target="/ppt/notesMasters/notesMaster1.xml" Id="R9d616396a6c240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09372c3b274d8e" /><Relationship Type="http://schemas.openxmlformats.org/officeDocument/2006/relationships/notesMaster" Target="/ppt/notesMasters/notesMaster1.xml" Id="R45833fa1312b42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c4edfae3084532" /><Relationship Type="http://schemas.openxmlformats.org/officeDocument/2006/relationships/notesMaster" Target="/ppt/notesMasters/notesMaster1.xml" Id="Rbea5f7627653459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a0879135ad4267" /><Relationship Type="http://schemas.openxmlformats.org/officeDocument/2006/relationships/notesMaster" Target="/ppt/notesMasters/notesMaster1.xml" Id="Re274e51f5b2743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e5a863e30046ef" /><Relationship Type="http://schemas.openxmlformats.org/officeDocument/2006/relationships/notesMaster" Target="/ppt/notesMasters/notesMaster1.xml" Id="R1747eda29263447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48f2ccc77844df" /><Relationship Type="http://schemas.openxmlformats.org/officeDocument/2006/relationships/notesMaster" Target="/ppt/notesMasters/notesMaster1.xml" Id="Re0e0d629c17e424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69dac80041e49f1" /><Relationship Type="http://schemas.openxmlformats.org/officeDocument/2006/relationships/notesMaster" Target="/ppt/notesMasters/notesMaster1.xml" Id="R009791d1f85c40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封面。说明本课在课程蓝图中的位置，并用一个真实业务问题导入主题。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《中华人民共和国个人信息保护法》</a:t>
            </a:r>
          </a:p>
          <a:p xmlns:a="http://schemas.openxmlformats.org/drawingml/2006/main">
            <a:r>
              <a:t>https://www.npc.gov.cn/npc/c2/c30834/202108/t20210820_313088.html</a:t>
            </a:r>
          </a:p>
          <a:p xmlns:a="http://schemas.openxmlformats.org/drawingml/2006/main">
            <a:r>
              <a:t>2. 正式题库 4.1 课时内容</a:t>
            </a:r>
          </a:p>
          <a:p xmlns:a="http://schemas.openxmlformats.org/drawingml/2006/main">
            <a:r>
              <a:t>backend/app/resources/content/question-bank-v1.json#lesson_theory_4_1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学习目标与知识结构。先说明目标，再解释各知识点之间的依赖关系。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《中华人民共和国个人信息保护法》</a:t>
            </a:r>
          </a:p>
          <a:p xmlns:a="http://schemas.openxmlformats.org/drawingml/2006/main">
            <a:r>
              <a:t>https://www.npc.gov.cn/npc/c2/c30834/202108/t20210820_313088.html</a:t>
            </a:r>
          </a:p>
          <a:p xmlns:a="http://schemas.openxmlformats.org/drawingml/2006/main">
            <a:r>
              <a:t>2. 正式题库 4.1 课时内容</a:t>
            </a:r>
          </a:p>
          <a:p xmlns:a="http://schemas.openxmlformats.org/drawingml/2006/main">
            <a:r>
              <a:t>backend/app/resources/content/question-bank-v1.json#lesson_theory_4_1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核心概念：敏感数据类型。结合要点解释定义、适用边界和验证方式。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《中华人民共和国个人信息保护法》</a:t>
            </a:r>
          </a:p>
          <a:p xmlns:a="http://schemas.openxmlformats.org/drawingml/2006/main">
            <a:r>
              <a:t>https://www.npc.gov.cn/npc/c2/c30834/202108/t20210820_313088.html</a:t>
            </a:r>
          </a:p>
          <a:p xmlns:a="http://schemas.openxmlformats.org/drawingml/2006/main">
            <a:r>
              <a:t>2. 正式题库 4.1 课时内容</a:t>
            </a:r>
          </a:p>
          <a:p xmlns:a="http://schemas.openxmlformats.org/drawingml/2006/main">
            <a:r>
              <a:t>backend/app/resources/content/question-bank-v1.json#lesson_theory_4_1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核心概念：正则与词典规则。结合要点解释定义、适用边界和验证方式。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《中华人民共和国个人信息保护法》</a:t>
            </a:r>
          </a:p>
          <a:p xmlns:a="http://schemas.openxmlformats.org/drawingml/2006/main">
            <a:r>
              <a:t>https://www.npc.gov.cn/npc/c2/c30834/202108/t20210820_313088.html</a:t>
            </a:r>
          </a:p>
          <a:p xmlns:a="http://schemas.openxmlformats.org/drawingml/2006/main">
            <a:r>
              <a:t>2. 正式题库 4.1 课时内容</a:t>
            </a:r>
          </a:p>
          <a:p xmlns:a="http://schemas.openxmlformats.org/drawingml/2006/main">
            <a:r>
              <a:t>backend/app/resources/content/question-bank-v1.json#lesson_theory_4_1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核心概念：上下文识别。结合要点解释定义、适用边界和验证方式。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《中华人民共和国个人信息保护法》</a:t>
            </a:r>
          </a:p>
          <a:p xmlns:a="http://schemas.openxmlformats.org/drawingml/2006/main">
            <a:r>
              <a:t>https://www.npc.gov.cn/npc/c2/c30834/202108/t20210820_313088.html</a:t>
            </a:r>
          </a:p>
          <a:p xmlns:a="http://schemas.openxmlformats.org/drawingml/2006/main">
            <a:r>
              <a:t>2. 正式题库 4.1 课时内容</a:t>
            </a:r>
          </a:p>
          <a:p xmlns:a="http://schemas.openxmlformats.org/drawingml/2006/main">
            <a:r>
              <a:t>backend/app/resources/content/question-bank-v1.json#lesson_theory_4_1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核心概念：误报、漏报与抽检。结合要点解释定义、适用边界和验证方式。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《中华人民共和国个人信息保护法》</a:t>
            </a:r>
          </a:p>
          <a:p xmlns:a="http://schemas.openxmlformats.org/drawingml/2006/main">
            <a:r>
              <a:t>https://www.npc.gov.cn/npc/c2/c30834/202108/t20210820_313088.html</a:t>
            </a:r>
          </a:p>
          <a:p xmlns:a="http://schemas.openxmlformats.org/drawingml/2006/main">
            <a:r>
              <a:t>2. 正式题库 4.1 课时内容</a:t>
            </a:r>
          </a:p>
          <a:p xmlns:a="http://schemas.openxmlformats.org/drawingml/2006/main">
            <a:r>
              <a:t>backend/app/resources/content/question-bank-v1.json#lesson_theory_4_1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业务案例。引导学生先识别事实，再提出控制方案和可验证证据。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《中华人民共和国个人信息保护法》</a:t>
            </a:r>
          </a:p>
          <a:p xmlns:a="http://schemas.openxmlformats.org/drawingml/2006/main">
            <a:r>
              <a:t>https://www.npc.gov.cn/npc/c2/c30834/202108/t20210820_313088.html</a:t>
            </a:r>
          </a:p>
          <a:p xmlns:a="http://schemas.openxmlformats.org/drawingml/2006/main">
            <a:r>
              <a:t>2. 正式题库 4.1 课时内容</a:t>
            </a:r>
          </a:p>
          <a:p xmlns:a="http://schemas.openxmlformats.org/drawingml/2006/main">
            <a:r>
              <a:t>backend/app/resources/content/question-bank-v1.json#lesson_theory_4_1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知识检查。先让学生独立回答，再展示参考答案并回到本课学习目标。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《中华人民共和国个人信息保护法》</a:t>
            </a:r>
          </a:p>
          <a:p xmlns:a="http://schemas.openxmlformats.org/drawingml/2006/main">
            <a:r>
              <a:t>https://www.npc.gov.cn/npc/c2/c30834/202108/t20210820_313088.html</a:t>
            </a:r>
          </a:p>
          <a:p xmlns:a="http://schemas.openxmlformats.org/drawingml/2006/main">
            <a:r>
              <a:t>2. 正式题库 4.1 课时内容</a:t>
            </a:r>
          </a:p>
          <a:p xmlns:a="http://schemas.openxmlformats.org/drawingml/2006/main">
            <a:r>
              <a:t>backend/app/resources/content/question-bank-v1.json#lesson_theory_4_1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a08cef90e146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9dfe8641c54d45" /><Relationship Type="http://schemas.openxmlformats.org/officeDocument/2006/relationships/slideLayout" Target="/ppt/slideLayouts/slideLayout1.xml" Id="R5e20f109d8154c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20f109d8154c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e68a6cc0b84a61" /><Relationship Type="http://schemas.openxmlformats.org/officeDocument/2006/relationships/image" Target="/ppt/media/image.png" Id="R4f50155c44cc420c" /><Relationship Type="http://schemas.openxmlformats.org/officeDocument/2006/relationships/notesSlide" Target="/ppt/notesSlides/notesSlide1.xml" Id="R734b747dd02443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9f295586d54af4" /><Relationship Type="http://schemas.openxmlformats.org/officeDocument/2006/relationships/notesSlide" Target="/ppt/notesSlides/notesSlide2.xml" Id="R355ff84176244d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cd347e00bd4961" /><Relationship Type="http://schemas.openxmlformats.org/officeDocument/2006/relationships/notesSlide" Target="/ppt/notesSlides/notesSlide3.xml" Id="R656d2ccd3c0445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ec16f5b2ca4307" /><Relationship Type="http://schemas.openxmlformats.org/officeDocument/2006/relationships/notesSlide" Target="/ppt/notesSlides/notesSlide4.xml" Id="R4d0b76440010484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25ad112bb64657" /><Relationship Type="http://schemas.openxmlformats.org/officeDocument/2006/relationships/notesSlide" Target="/ppt/notesSlides/notesSlide5.xml" Id="Rbbf97404496745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2b67eb8bf141d2" /><Relationship Type="http://schemas.openxmlformats.org/officeDocument/2006/relationships/notesSlide" Target="/ppt/notesSlides/notesSlide6.xml" Id="R43709088e4c543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94445751bc4a6b" /><Relationship Type="http://schemas.openxmlformats.org/officeDocument/2006/relationships/notesSlide" Target="/ppt/notesSlides/notesSlide7.xml" Id="Rffb495b8fd12405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f087946bd64b73" /><Relationship Type="http://schemas.openxmlformats.org/officeDocument/2006/relationships/notesSlide" Target="/ppt/notesSlides/notesSlide8.xml" Id="Rafe286facb28413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1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50155c44cc420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BA3B68-3CB2-44BE-B4DD-029BA089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第 4 章  ·  4.1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01BEB1-383E-40C4-B06E-CCA5E411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5715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敏感数据定义与自动识别方法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0904F4-CCC9-44EB-9F8E-4FD7C010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数据安全技术基础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157C5C-967A-4C2F-A080-0AFB9360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跃科网络空间安全实训平台</a:t>
            </a:r>
          </a:p>
        </p:txBody>
      </p:sp>
    </p:spTree>
    <p:extLst>
      <p:ext uri="{BB962C8B-B14F-4D97-AF65-F5344CB8AC3E}">
        <p14:creationId xmlns:p14="http://schemas.microsoft.com/office/powerpoint/2010/main" val="4768909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262692-CA63-4E86-8BA2-52E42F25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本课目标与知识结构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2CAFA3-5113-46F3-A888-1FF4596E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676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4.1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201B21-FFCA-4B1C-8EDD-67FB6C2E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学习目标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0F835F-B5B9-4295-A683-533A18B1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01  能够识别个人信息、敏感个人信息和重要业务数据的典型特征。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02  能够组合字段名、规则、词典、上下文和人工抽检改进自动识别效果。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4B706F-9D53-4D7D-AA61-92F8859B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知识结构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75BB60-39E9-40BB-84F7-3175DE4DF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143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01  敏感数据类型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02  正则与词典规则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03  上下文识别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04  误报、漏报与抽检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3C58D2-76C3-4F78-970B-4E111CFD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4.1  数据安全技术基础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C08304-13EA-4C4C-9A0A-05E0BB27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0982255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D1C816-8A27-4DDC-BE1C-E238127B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01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F374FE-8309-40CD-8D13-E48615BD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敏感数据类型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E94AD5-5143-475C-A863-3521AA51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敏感性来自数据内容、处理场景和受损后果，不能只靠字段名称判断。个人身份、健康、金融、认证凭据和重要业务数据通常需要更严格的识别与保护。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7E6643-36ED-48C2-80F5-72C72C679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区分直接标识、准标识和敏感属性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同一数据在不同用途下风险可能变化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组合数据可能比单个字段更敏感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识别范围应包含正文、附件和日志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519062-1C80-4B73-8E98-AA3DD34D6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4.1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FB45DA-E998-4995-9940-0694ED6F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7340698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320438-1156-4F40-A09C-8FC07D6A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02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B77306-82F5-4BCC-A118-66241089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正则与词典规则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FCCCC7-0C28-407E-B942-A932F994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正则规则擅长识别格式稳定的号码，词典规则适合姓名、机构和行业术语等已知集合。两者都可能因格式变化或语义歧义产生误判，需要版本化并用样本持续校准。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4E40B6-2B0F-42FD-A5E6-4B8B8AFB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正则同时检查长度、前缀和校验位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词典应维护来源、生效范围和更新时间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避免用单一宽泛表达式匹配所有数字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规则命中应保留规则版本和位置证据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5424E3-2CF6-4C70-AA23-C182CB22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4.1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A7A18F-A897-40D6-9ADA-DCF9D233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7622666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45492E-CC0F-4E34-AEF5-329B1BED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03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4B8DF3-F090-4667-8C70-92159C9D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上下文识别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989813-3BC0-4F04-A966-EB60BB8E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上下文识别结合字段名、相邻文字、表结构和业务用途判断内容含义。它能减少纯格式规则的误报，但模型或启发式结果仍需可解释和人工抽查。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7C74E8-02F5-46D2-9CE7-2A6745C2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手机号格式旁的联系人字段提高置信度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病历语境可帮助区分普通数字与诊疗编号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上下文范围过大会引入无关线索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高风险判定应保留可复核依据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CD800D-FB04-456D-BEA2-ABB365BF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4.1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45412B-E819-40A1-8DFF-6F145785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05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5430409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35A4E8-76EC-4386-B8B9-19A8337C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04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5BC35B-31AF-4EB7-96E2-A8D03F236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误报、漏报与抽检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7B682E-401F-42F5-9A36-88400E0F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误报会增加处置成本，漏报会让真实敏感数据失去保护，两者需要分别度量。抽检应覆盖已命中和未命中样本，才能估算准确率与召回能力。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F15CED-6569-4A12-B2C1-AAE9D6EC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随机样本与高风险样本分层抽取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记录真实阳性、假阳性和假阴性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按数据源和规则分析误差原因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规则更新后用固定基准集回归验证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34EC34-628B-497A-B0C6-632D93F6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4.1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D1527E-0C3A-4BB2-B129-2958498E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06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3606904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BC62E7-06A7-4636-9DCF-A5BAC1AF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业务案例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AA3D8D-EA64-46E1-8090-07192F9D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把概念放回真实决策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753992-C6F7-429A-A970-B3015A9A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10858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扫描器检测手机号时同时检查字段名、号码格式和业务表语义，再由数据负责人抽样确认，避免把随机十一位数字全部误报。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FB8451-DD7B-4CCB-9802-AF98738C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课堂讨论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298AE5-57B3-4901-9C2F-8887D242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24400"/>
            <a:ext cx="1076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案例中的核心数据资产、威胁和责任主体分别是什么？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优先控制措施是什么，如何用日志、测试或指标验证效果？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哪些边界条件变化后，需要重新评估方案？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844466-4763-42C6-85C9-7D6A7171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4.1  数据安全技术基础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770E4F-4CD6-4F9E-816E-40FFD579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07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7147885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1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B28866-A46C-4C1A-812F-54A97987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知识检查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935D8A-BB95-42D4-9A6F-301D90C0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763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敏感数据识别为什么不能只依赖固定格式？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3E7A5B-D355-4703-A9E1-6823D624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9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9968"/>
                </a:solidFill>
                <a:latin typeface="Microsoft YaHei"/>
                <a:ea typeface="Microsoft YaHei"/>
                <a:cs typeface="Microsoft YaHei"/>
              </a:rPr>
              <a:t>参考答案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48C652-3C07-40DD-B989-81BBED60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1076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普通数据可能具有相同格式，敏感数据也可能存在异常格式；需要结合上下文、多种规则和人工复核。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E2DA24-605D-4CFC-BA56-8F9159C7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4.1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15122A-ACD6-43CB-802F-8B3DE181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08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8920107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2026-09-21T18:10:40.1060000Z</dcterms:created>
  <dcterms:modified xsi:type="dcterms:W3CDTF">2026-09-21T18:10:40.1060000Z</dcterms:modified>
</coreProperties>
</file>