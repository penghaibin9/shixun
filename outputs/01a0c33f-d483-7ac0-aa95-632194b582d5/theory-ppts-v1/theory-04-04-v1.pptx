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3457a503da46bc" /><Relationship Type="http://schemas.openxmlformats.org/officeDocument/2006/relationships/extended-properties" Target="/docProps/app.xml" Id="R74750ab6e7d045d2" /><Relationship Type="http://schemas.openxmlformats.org/officeDocument/2006/relationships/officeDocument" Target="/ppt/presentation.xml" Id="Rfffd4b0d1f1a4a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5708a912f1464f"/>
  </p:sldMasterIdLst>
  <p:notesMasterIdLst>
    <p:notesMasterId xmlns:r="http://schemas.openxmlformats.org/officeDocument/2006/relationships" r:id="Reb45fc3b32474526"/>
  </p:notesMasterIdLst>
  <p:sldIdLst>
    <p:sldId xmlns:r="http://schemas.openxmlformats.org/officeDocument/2006/relationships" id="256" r:id="R998526882bb14e6e"/>
    <p:sldId xmlns:r="http://schemas.openxmlformats.org/officeDocument/2006/relationships" id="257" r:id="Rf48c57c25eb04876"/>
    <p:sldId xmlns:r="http://schemas.openxmlformats.org/officeDocument/2006/relationships" id="258" r:id="R3cd38136fe8e4a39"/>
    <p:sldId xmlns:r="http://schemas.openxmlformats.org/officeDocument/2006/relationships" id="259" r:id="R549771d1e8bb4996"/>
    <p:sldId xmlns:r="http://schemas.openxmlformats.org/officeDocument/2006/relationships" id="260" r:id="Rd1d054ece89044c2"/>
    <p:sldId xmlns:r="http://schemas.openxmlformats.org/officeDocument/2006/relationships" id="261" r:id="R8dd54879111f4a9f"/>
    <p:sldId xmlns:r="http://schemas.openxmlformats.org/officeDocument/2006/relationships" id="262" r:id="R7d9c604dbb6f4ae7"/>
    <p:sldId xmlns:r="http://schemas.openxmlformats.org/officeDocument/2006/relationships" id="263" r:id="R7fd67184f3c544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e987fcc402457b" /><Relationship Type="http://schemas.openxmlformats.org/officeDocument/2006/relationships/slideMaster" Target="/ppt/slideMasters/slideMaster1.xml" Id="R345708a912f1464f" /><Relationship Type="http://schemas.openxmlformats.org/officeDocument/2006/relationships/notesMaster" Target="/ppt/notesMasters/notesMaster1.xml" Id="Reb45fc3b32474526" /><Relationship Type="http://schemas.openxmlformats.org/officeDocument/2006/relationships/presProps" Target="/ppt/presProps.xml" Id="R1d68ee5f755842b5" /><Relationship Type="http://schemas.openxmlformats.org/officeDocument/2006/relationships/tableStyles" Target="/ppt/tableStyles.xml" Id="Rbe7cecb7f3c1445d" /><Relationship Type="http://schemas.openxmlformats.org/officeDocument/2006/relationships/slide" Target="/ppt/slides/slide1.xml" Id="R998526882bb14e6e" /><Relationship Type="http://schemas.openxmlformats.org/officeDocument/2006/relationships/slide" Target="/ppt/slides/slide2.xml" Id="Rf48c57c25eb04876" /><Relationship Type="http://schemas.openxmlformats.org/officeDocument/2006/relationships/slide" Target="/ppt/slides/slide3.xml" Id="R3cd38136fe8e4a39" /><Relationship Type="http://schemas.openxmlformats.org/officeDocument/2006/relationships/slide" Target="/ppt/slides/slide4.xml" Id="R549771d1e8bb4996" /><Relationship Type="http://schemas.openxmlformats.org/officeDocument/2006/relationships/slide" Target="/ppt/slides/slide5.xml" Id="Rd1d054ece89044c2" /><Relationship Type="http://schemas.openxmlformats.org/officeDocument/2006/relationships/slide" Target="/ppt/slides/slide6.xml" Id="R8dd54879111f4a9f" /><Relationship Type="http://schemas.openxmlformats.org/officeDocument/2006/relationships/slide" Target="/ppt/slides/slide7.xml" Id="R7d9c604dbb6f4ae7" /><Relationship Type="http://schemas.openxmlformats.org/officeDocument/2006/relationships/slide" Target="/ppt/slides/slide8.xml" Id="R7fd67184f3c5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c046ea553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c1dda72144a8b" /><Relationship Type="http://schemas.openxmlformats.org/officeDocument/2006/relationships/notesMaster" Target="/ppt/notesMasters/notesMaster1.xml" Id="Rfed15e157ae1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52348d5444a22" /><Relationship Type="http://schemas.openxmlformats.org/officeDocument/2006/relationships/notesMaster" Target="/ppt/notesMasters/notesMaster1.xml" Id="Re66be848649547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f3e9850bed4f2b" /><Relationship Type="http://schemas.openxmlformats.org/officeDocument/2006/relationships/notesMaster" Target="/ppt/notesMasters/notesMaster1.xml" Id="R1f49e5c4fbc341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9beaae26a74035" /><Relationship Type="http://schemas.openxmlformats.org/officeDocument/2006/relationships/notesMaster" Target="/ppt/notesMasters/notesMaster1.xml" Id="Re8228f4c31dd41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7fa8d81e614ba8" /><Relationship Type="http://schemas.openxmlformats.org/officeDocument/2006/relationships/notesMaster" Target="/ppt/notesMasters/notesMaster1.xml" Id="R5a06295faa30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adf8c6be844890" /><Relationship Type="http://schemas.openxmlformats.org/officeDocument/2006/relationships/notesMaster" Target="/ppt/notesMasters/notesMaster1.xml" Id="R75f8b2100cba41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0f65cc9c647c9" /><Relationship Type="http://schemas.openxmlformats.org/officeDocument/2006/relationships/notesMaster" Target="/ppt/notesMasters/notesMaster1.xml" Id="Rb00b3ae2f1574a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524ff218a6485a" /><Relationship Type="http://schemas.openxmlformats.org/officeDocument/2006/relationships/notesMaster" Target="/ppt/notesMasters/notesMaster1.xml" Id="R58de272af6d1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核心概念：静态脱敏副本。结合要点解释定义、适用边界和验证方式。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核心概念：动态脱敏策略。结合要点解释定义、适用边界和验证方式。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核心概念：角色与场景。结合要点解释定义、适用边界和验证方式。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核心概念：原值保护与旁路风险。结合要点解释定义、适用边界和验证方式。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《中华人民共和国个人信息保护法》</a:t>
            </a:r>
          </a:p>
          <a:p xmlns:a="http://schemas.openxmlformats.org/drawingml/2006/main">
            <a:r>
              <a:t>https://www.npc.gov.cn/npc/c2/c30834/202108/t20210820_313088.html</a:t>
            </a:r>
          </a:p>
          <a:p xmlns:a="http://schemas.openxmlformats.org/drawingml/2006/main">
            <a:r>
              <a:t>2. 正式题库 4.4 课时内容</a:t>
            </a:r>
          </a:p>
          <a:p xmlns:a="http://schemas.openxmlformats.org/drawingml/2006/main">
            <a:r>
              <a:t>backend/app/resources/content/question-bank-v1.json#lesson_theory_4_4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b4bfdd2b049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3b46f216604496" /><Relationship Type="http://schemas.openxmlformats.org/officeDocument/2006/relationships/slideLayout" Target="/ppt/slideLayouts/slideLayout1.xml" Id="Rde89ee6dbc954b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89ee6dbc954b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ce014ec5c4c1f" /><Relationship Type="http://schemas.openxmlformats.org/officeDocument/2006/relationships/image" Target="/ppt/media/image.png" Id="R13a19c4f37844ced" /><Relationship Type="http://schemas.openxmlformats.org/officeDocument/2006/relationships/notesSlide" Target="/ppt/notesSlides/notesSlide1.xml" Id="Rc8b375e41cab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54caf4a5043ca" /><Relationship Type="http://schemas.openxmlformats.org/officeDocument/2006/relationships/notesSlide" Target="/ppt/notesSlides/notesSlide2.xml" Id="R2c92ed04f394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5d4814494484a" /><Relationship Type="http://schemas.openxmlformats.org/officeDocument/2006/relationships/notesSlide" Target="/ppt/notesSlides/notesSlide3.xml" Id="Rb04d44ac8bc84f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10a105c0642c4" /><Relationship Type="http://schemas.openxmlformats.org/officeDocument/2006/relationships/notesSlide" Target="/ppt/notesSlides/notesSlide4.xml" Id="R5a61729fa0374c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fc389fa254056" /><Relationship Type="http://schemas.openxmlformats.org/officeDocument/2006/relationships/notesSlide" Target="/ppt/notesSlides/notesSlide5.xml" Id="R625c143341024e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5339b18b14818" /><Relationship Type="http://schemas.openxmlformats.org/officeDocument/2006/relationships/notesSlide" Target="/ppt/notesSlides/notesSlide6.xml" Id="R8d09794a639943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fbb2346454be6" /><Relationship Type="http://schemas.openxmlformats.org/officeDocument/2006/relationships/notesSlide" Target="/ppt/notesSlides/notesSlide7.xml" Id="Rb2706f9284d847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fa47c7f404dc1" /><Relationship Type="http://schemas.openxmlformats.org/officeDocument/2006/relationships/notesSlide" Target="/ppt/notesSlides/notesSlide8.xml" Id="R0bca4af3c18b45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19c4f37844ce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B686B-63FA-40A5-BF82-994BAF84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4 章  ·  4.4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F6A7B-33A6-4FC7-871C-9A33463A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静态脱敏与动态脱敏的对比与应用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15855-EF74-4363-9267-0535799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1A0B6-0D39-4F42-AC9F-E53F32C3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541017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88C3A-554E-48B6-9885-9466864A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F102D-A8A7-44B0-AF40-79D72EF3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4.4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BE4DF-5035-4519-B596-10C8A29A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49534-71BB-4657-AED1-78E0A21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能够比较静态脱敏副本与动态查询改写的处理时机和风险边界。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能够根据测试、分析和在线查询场景选择脱敏方式并验证服务端控制。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1EA52-69FF-42EE-8B4A-59A33CF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14488-4F99-429D-90EE-9141B088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静态脱敏副本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动态脱敏策略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角色与场景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原值保护与旁路风险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3FB5F-4C92-4802-A1C1-22C3B101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67369-BC9B-4C44-94D8-D128B5B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42144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2E0EF-74A8-4297-97BB-CBE9B17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1BD28-981F-43D4-A1D7-152BF57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静态脱敏副本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3CFCB-B363-4F64-8BB8-91713854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静态脱敏在复制数据后永久处理副本，常用于开发、测试和离线分析。安全性取决于副本是否脱离原值、处理是否完整，以及后续刷新时能否重复执行相同规则。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A4C3-E56A-4651-A842-9EF0E11A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生产原库保持受控且不直接下发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脱敏任务覆盖主表、关联表和附件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刷新副本前先清理旧数据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对输出副本执行重识别和泄露扫描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12961-A9B2-4FB9-AC4E-5FC38D34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83AC9-0B92-4134-AEA5-039AAFBF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24776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7E5A1-A09E-4A00-9214-F84A732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EFDDA-54D3-4198-BEB8-C1A39546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动态脱敏策略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94FAE-51CB-4709-A522-2E07C3A5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动态脱敏在查询响应时根据身份、角色、用途和环境决定展示原值或掩码值。它不改变底层数据，适合在线业务，但策略旁路或高权限滥用会直接暴露原值。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0BD4E-64F8-4E54-BE6B-BFBC364F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策略必须在可信服务端或数据库层执行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同一字段可按角色返回不同粒度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导出、搜索和聚合接口也要应用策略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记录原值访问者、时间和业务理由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82929-9F2F-4E04-8FB9-7DEDE88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DB3F0-6122-41A5-8F75-D7F468F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423381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691FE-547C-44A0-A0C6-D39E706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B0344-6FCC-4EF8-ABEA-9EF13236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角色与场景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0AC56-72AC-4A21-913C-B1D11B7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脱敏决策不应只看角色名称，还要结合具体任务、数据对象、操作方式和风险环境。相同人员在客服查询、故障排查和批量导出时可能需要不同权限。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3BCBE-77A8-45E9-867B-020BF258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默认返回满足任务的最小信息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高风险场景增加审批或重新认证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批量访问比单条查看采用更严格门槛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临时例外应设置期限并自动回收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835D7-42C5-4464-B18C-92A6839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FD23F-B6CE-45E0-967D-5FDC858C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375548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EAD1F-77B1-4BE4-8992-562050B0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3271-86AD-4C86-B86C-26ED4FE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原值保护与旁路风险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49BA0-7F30-49EE-9461-17BE0197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脱敏界面之外的接口、日志、缓存、报表和调试工具都可能成为原值旁路。保护设计必须追踪原值从数据库到客户端的全部路径，并验证无权主体无法通过替代入口取得。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A67CA-CD74-4A55-8F57-D2385F1E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接口响应中不携带被遮住的完整值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禁止将敏感原值写入普通应用日志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缓存和搜索索引应用相同访问边界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对备用接口和错误信息执行越权测试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96DCE-7318-43F0-AAF1-9A634354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A8CD2-DF0D-4010-A3DE-87F4B200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9550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0B60A-F1EF-4F87-B0CE-60DA2D1E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BA42C-7417-409A-A6B6-66CC4B0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ADF60-34FC-49B3-AE52-516C928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开发测试使用不可逆的静态脱敏副本，生产客服查询则按角色动态遮掩手机号；管理员访问原值需单独审批并留审计记录。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38B80-80B3-4C51-96B7-5D6A8D0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A3585-B742-4424-8408-9AC133ED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D0E05-8277-4B6F-AB82-1B41CD6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03EF2-2C2D-49A5-A8F0-DEED2272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12953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11F5D-D143-4933-974E-6F1536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5E9C3-2034-4B0E-AB4F-4C206E68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动态脱敏为什么不能只在前端遮挡？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EECD9-69FB-42D7-8D4D-94F20984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787AE-B486-4DD3-B6C7-0EFB9522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接口若仍返回原值就可能被浏览器工具或脚本读取，策略必须在可信服务端执行。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606A5-BF3A-4D50-9012-1C07F34E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4.4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C758F-4EE6-493F-B132-C6F12F74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52042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2026-09-21T18:10:50.1000000Z</dcterms:created>
  <dcterms:modified xsi:type="dcterms:W3CDTF">2026-09-21T18:10:50.1000000Z</dcterms:modified>
</coreProperties>
</file>