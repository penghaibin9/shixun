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e65276519e4b7b" /><Relationship Type="http://schemas.openxmlformats.org/officeDocument/2006/relationships/extended-properties" Target="/docProps/app.xml" Id="R3f20da6ceb7b43f0" /><Relationship Type="http://schemas.openxmlformats.org/officeDocument/2006/relationships/officeDocument" Target="/ppt/presentation.xml" Id="R1134c126e9c94e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232c9e4a0d4c4c"/>
  </p:sldMasterIdLst>
  <p:notesMasterIdLst>
    <p:notesMasterId xmlns:r="http://schemas.openxmlformats.org/officeDocument/2006/relationships" r:id="R26ed1c9a49414356"/>
  </p:notesMasterIdLst>
  <p:sldIdLst>
    <p:sldId xmlns:r="http://schemas.openxmlformats.org/officeDocument/2006/relationships" id="256" r:id="Re5829be2b77e4f8a"/>
    <p:sldId xmlns:r="http://schemas.openxmlformats.org/officeDocument/2006/relationships" id="257" r:id="R5a355c39085c469c"/>
    <p:sldId xmlns:r="http://schemas.openxmlformats.org/officeDocument/2006/relationships" id="258" r:id="R10cc0a69d20d4176"/>
    <p:sldId xmlns:r="http://schemas.openxmlformats.org/officeDocument/2006/relationships" id="259" r:id="R39072cfd51ec445b"/>
    <p:sldId xmlns:r="http://schemas.openxmlformats.org/officeDocument/2006/relationships" id="260" r:id="R7388571ab7f44152"/>
    <p:sldId xmlns:r="http://schemas.openxmlformats.org/officeDocument/2006/relationships" id="261" r:id="R2f6e10207aad4a6b"/>
    <p:sldId xmlns:r="http://schemas.openxmlformats.org/officeDocument/2006/relationships" id="262" r:id="R488ebfed08e14f61"/>
    <p:sldId xmlns:r="http://schemas.openxmlformats.org/officeDocument/2006/relationships" id="263" r:id="Rd5f54694be2c40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5abc6f271149ae" /><Relationship Type="http://schemas.openxmlformats.org/officeDocument/2006/relationships/slideMaster" Target="/ppt/slideMasters/slideMaster1.xml" Id="R7d232c9e4a0d4c4c" /><Relationship Type="http://schemas.openxmlformats.org/officeDocument/2006/relationships/notesMaster" Target="/ppt/notesMasters/notesMaster1.xml" Id="R26ed1c9a49414356" /><Relationship Type="http://schemas.openxmlformats.org/officeDocument/2006/relationships/presProps" Target="/ppt/presProps.xml" Id="R10b8f661438d413c" /><Relationship Type="http://schemas.openxmlformats.org/officeDocument/2006/relationships/tableStyles" Target="/ppt/tableStyles.xml" Id="R153eb69650554e6c" /><Relationship Type="http://schemas.openxmlformats.org/officeDocument/2006/relationships/slide" Target="/ppt/slides/slide1.xml" Id="Re5829be2b77e4f8a" /><Relationship Type="http://schemas.openxmlformats.org/officeDocument/2006/relationships/slide" Target="/ppt/slides/slide2.xml" Id="R5a355c39085c469c" /><Relationship Type="http://schemas.openxmlformats.org/officeDocument/2006/relationships/slide" Target="/ppt/slides/slide3.xml" Id="R10cc0a69d20d4176" /><Relationship Type="http://schemas.openxmlformats.org/officeDocument/2006/relationships/slide" Target="/ppt/slides/slide4.xml" Id="R39072cfd51ec445b" /><Relationship Type="http://schemas.openxmlformats.org/officeDocument/2006/relationships/slide" Target="/ppt/slides/slide5.xml" Id="R7388571ab7f44152" /><Relationship Type="http://schemas.openxmlformats.org/officeDocument/2006/relationships/slide" Target="/ppt/slides/slide6.xml" Id="R2f6e10207aad4a6b" /><Relationship Type="http://schemas.openxmlformats.org/officeDocument/2006/relationships/slide" Target="/ppt/slides/slide7.xml" Id="R488ebfed08e14f61" /><Relationship Type="http://schemas.openxmlformats.org/officeDocument/2006/relationships/slide" Target="/ppt/slides/slide8.xml" Id="Rd5f54694be2c40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c00e01635141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fa95701aa94a03" /><Relationship Type="http://schemas.openxmlformats.org/officeDocument/2006/relationships/notesMaster" Target="/ppt/notesMasters/notesMaster1.xml" Id="R33723bdee87449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5d79c7360144b0" /><Relationship Type="http://schemas.openxmlformats.org/officeDocument/2006/relationships/notesMaster" Target="/ppt/notesMasters/notesMaster1.xml" Id="Rae63c3ec262445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469debb07141c0" /><Relationship Type="http://schemas.openxmlformats.org/officeDocument/2006/relationships/notesMaster" Target="/ppt/notesMasters/notesMaster1.xml" Id="Rb696704c81a14f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a566f4b631499d" /><Relationship Type="http://schemas.openxmlformats.org/officeDocument/2006/relationships/notesMaster" Target="/ppt/notesMasters/notesMaster1.xml" Id="R0b12831b3c714c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e2ebc6407f401c" /><Relationship Type="http://schemas.openxmlformats.org/officeDocument/2006/relationships/notesMaster" Target="/ppt/notesMasters/notesMaster1.xml" Id="R6bcec0573cde43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e1a1e7745b44b0" /><Relationship Type="http://schemas.openxmlformats.org/officeDocument/2006/relationships/notesMaster" Target="/ppt/notesMasters/notesMaster1.xml" Id="Ra091cc1d826040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2a9d9902be4fd7" /><Relationship Type="http://schemas.openxmlformats.org/officeDocument/2006/relationships/notesMaster" Target="/ppt/notesMasters/notesMaster1.xml" Id="R4205a4f1903647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d796ef67a84aeb" /><Relationship Type="http://schemas.openxmlformats.org/officeDocument/2006/relationships/notesMaster" Target="/ppt/notesMasters/notesMaster1.xml" Id="R03bc3bdfb6ef46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封面。说明本课在课程蓝图中的位置，并用一个真实业务问题导入主题。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4.3 课时内容</a:t>
            </a:r>
          </a:p>
          <a:p xmlns:a="http://schemas.openxmlformats.org/drawingml/2006/main">
            <a:r>
              <a:t>backend/app/resources/content/question-bank-v1.json#lesson_theory_4_3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学习目标与知识结构。先说明目标，再解释各知识点之间的依赖关系。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4.3 课时内容</a:t>
            </a:r>
          </a:p>
          <a:p xmlns:a="http://schemas.openxmlformats.org/drawingml/2006/main">
            <a:r>
              <a:t>backend/app/resources/content/question-bank-v1.json#lesson_theory_4_3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核心概念：直接标识符与准标识符。结合要点解释定义、适用边界和验证方式。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4.3 课时内容</a:t>
            </a:r>
          </a:p>
          <a:p xmlns:a="http://schemas.openxmlformats.org/drawingml/2006/main">
            <a:r>
              <a:t>backend/app/resources/content/question-bank-v1.json#lesson_theory_4_3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核心概念：K 匿名等价类。结合要点解释定义、适用边界和验证方式。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4.3 课时内容</a:t>
            </a:r>
          </a:p>
          <a:p xmlns:a="http://schemas.openxmlformats.org/drawingml/2006/main">
            <a:r>
              <a:t>backend/app/resources/content/question-bank-v1.json#lesson_theory_4_3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核心概念：泛化与抑制。结合要点解释定义、适用边界和验证方式。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4.3 课时内容</a:t>
            </a:r>
          </a:p>
          <a:p xmlns:a="http://schemas.openxmlformats.org/drawingml/2006/main">
            <a:r>
              <a:t>backend/app/resources/content/question-bank-v1.json#lesson_theory_4_3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核心概念：T 相近与属性泄露。结合要点解释定义、适用边界和验证方式。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4.3 课时内容</a:t>
            </a:r>
          </a:p>
          <a:p xmlns:a="http://schemas.openxmlformats.org/drawingml/2006/main">
            <a:r>
              <a:t>backend/app/resources/content/question-bank-v1.json#lesson_theory_4_3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业务案例。引导学生先识别事实，再提出控制方案和可验证证据。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4.3 课时内容</a:t>
            </a:r>
          </a:p>
          <a:p xmlns:a="http://schemas.openxmlformats.org/drawingml/2006/main">
            <a:r>
              <a:t>backend/app/resources/content/question-bank-v1.json#lesson_theory_4_3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知识检查。先让学生独立回答，再展示参考答案并回到本课学习目标。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4.3 课时内容</a:t>
            </a:r>
          </a:p>
          <a:p xmlns:a="http://schemas.openxmlformats.org/drawingml/2006/main">
            <a:r>
              <a:t>backend/app/resources/content/question-bank-v1.json#lesson_theory_4_3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17250d7d004b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ad79b1764c44c0" /><Relationship Type="http://schemas.openxmlformats.org/officeDocument/2006/relationships/slideLayout" Target="/ppt/slideLayouts/slideLayout1.xml" Id="R7f15fd79813743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15fd79813743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8649710f545d9" /><Relationship Type="http://schemas.openxmlformats.org/officeDocument/2006/relationships/image" Target="/ppt/media/image.png" Id="R3af88b13214d4cfe" /><Relationship Type="http://schemas.openxmlformats.org/officeDocument/2006/relationships/notesSlide" Target="/ppt/notesSlides/notesSlide1.xml" Id="R9955cb00319c4e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b9776107648bc" /><Relationship Type="http://schemas.openxmlformats.org/officeDocument/2006/relationships/notesSlide" Target="/ppt/notesSlides/notesSlide2.xml" Id="R5d1e61c6868c49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7a4f842b64cc7" /><Relationship Type="http://schemas.openxmlformats.org/officeDocument/2006/relationships/notesSlide" Target="/ppt/notesSlides/notesSlide3.xml" Id="Re08466cc739d4f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933b8c7074397" /><Relationship Type="http://schemas.openxmlformats.org/officeDocument/2006/relationships/notesSlide" Target="/ppt/notesSlides/notesSlide4.xml" Id="R275d0fd2718e46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75f44cc794226" /><Relationship Type="http://schemas.openxmlformats.org/officeDocument/2006/relationships/notesSlide" Target="/ppt/notesSlides/notesSlide5.xml" Id="R46f1eeb73a4c40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0c39f92134d00" /><Relationship Type="http://schemas.openxmlformats.org/officeDocument/2006/relationships/notesSlide" Target="/ppt/notesSlides/notesSlide6.xml" Id="R24a522cd147c4c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798236a5a4daf" /><Relationship Type="http://schemas.openxmlformats.org/officeDocument/2006/relationships/notesSlide" Target="/ppt/notesSlides/notesSlide7.xml" Id="Rf31b9c20f73143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84bea04c244c8" /><Relationship Type="http://schemas.openxmlformats.org/officeDocument/2006/relationships/notesSlide" Target="/ppt/notesSlides/notesSlide8.xml" Id="R1c99746de9334a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88b13214d4cf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5D55A-9994-42FE-B81A-F09D3C9D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第 4 章  ·  4.3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AC60F-9F18-44DE-957B-233B46E2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数据匿名化算法：K 匿名、T 相近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A8D64-37FB-4972-91D8-2C8AA5E9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数据安全技术基础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AB9327-D370-49C7-8958-ACBEB05E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跃科网络空间安全实训平台</a:t>
            </a:r>
          </a:p>
        </p:txBody>
      </p:sp>
    </p:spTree>
    <p:extLst>
      <p:ext uri="{BB962C8B-B14F-4D97-AF65-F5344CB8AC3E}">
        <p14:creationId xmlns:p14="http://schemas.microsoft.com/office/powerpoint/2010/main" val="294438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17EDCA-9158-44EB-8C04-E586DA5C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本课目标与知识结构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21489-5263-4F67-A941-A6C4074A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4.3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F04DB-10B2-431B-A8A8-CE68DCA3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5251B-BCD6-4C7D-AD97-36D4608A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能够解释 K 匿名中等价类和准标识符的含义。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能够说明 T 相近如何限制等价类与总体的敏感属性分布差异。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C5AFF-D424-46B4-9BE1-8F7A0D92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知识结构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CA565-E6BB-4A95-BAE7-A5358BCC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143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直接标识符与准标识符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K 匿名等价类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03  泛化与抑制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04  T 相近与属性泄露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8FE5A-2B42-4778-BEC4-BA0C1D56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4.3  数据安全技术基础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8A2181-0B8A-4EA5-AADF-5128BF5B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644017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EBE3F-F973-4E0F-85E8-FE3E182E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01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5EB5B-EB75-487A-876B-074A0D59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直接标识符与准标识符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CE0E5-85F6-4B97-9EB7-A08E386B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直接标识符可单独指向个人，如身份证号码；准标识符通常需组合后才能识别，如年龄、邮编和职业。删除直接标识符只是起点，准标识符组合仍可能形成唯一记录。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07D3E-5FED-49C1-9DC0-CB8C7ACB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先移除或令牌化直接标识符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统计准标识符组合的稀有程度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敏感属性与身份线索分开评估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外部可得数据会改变准标识风险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8D3703-A7CB-4B7B-B96C-90A5ED57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4.3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48074-54C3-4931-942B-DDB3784C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2628384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2217CD-45BA-4449-9CE6-751DDEE2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02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8B954-6D54-419A-9797-027F9821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K 匿名等价类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5E15D-11B4-4225-BB10-4E31A64C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K 匿名要求每个准标识符组合至少对应 K 条记录，使目标个体隐藏在同一等价类中。它约束身份可区分度，却不保证组内敏感属性足够多样。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E991C-5F2C-465E-A200-2EDA859C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K 值越大通常隐私增强但信息损失增加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等价类大小必须逐组检查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新增或删除记录可能破坏既有匿名性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K 匿名不抵抗所有背景知识攻击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013B8F-BF31-4C5B-A90C-BB8020F8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4.3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79CE6A-BD31-4EB0-A09E-A448B3A4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2596564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FF2C4-EFB4-4CEB-AE91-82E056D5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03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D3A30-870C-4679-A88A-EE4CA289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泛化与抑制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D0A61-A3BE-4158-8491-C0CEA596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泛化把精确值替换为区间或层级上位值，抑制则删除高风险值或整条记录。两种操作用于扩大等价类，但过度处理会降低分析准确性和数据可用性。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3BD57-EE91-448A-8D54-16CE89D2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年龄可从具体岁数泛化为年龄段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地址可逐级泛化到区县或城市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少数异常记录可采用局部抑制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用信息损失指标比较处理方案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D59B6-98DF-44C0-A600-32ABE26C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4.3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9E783-CD0B-487C-BF08-60633D95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5768332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63711-8E11-4CAF-A56C-4B9B9E3B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04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98D19-9086-4863-96FA-64D86546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 相近与属性泄露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84603-3806-4A8D-A50A-29AD10A6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 相近限制每个等价类的敏感属性分布与总体分布之间的距离。它缓解组内敏感值过于集中造成的推断，但参数选择和距离度量需要结合数据类型。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DC5A4D-8F30-44D9-8F72-E6B40B84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分类属性与连续属性可采用不同距离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先满足身份匿名再检查属性分布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总体分布变化后需重新计算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较小的 T 通常意味着更严格约束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990DA-9C5F-4E2E-B98C-BF4073E3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4.3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C6E3D-7A56-4879-A626-7E9F6327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4281475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C384E-0F48-494F-A784-2A56C7E7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业务案例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7EDA7-D9D7-4538-A554-CCF791C3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把概念放回真实决策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06F2DD-D32E-426F-9B17-863156B4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发布就诊统计时把精确年龄泛化为年龄段、邮编缩短，并检查每组至少包含 K 名患者且疾病分布不过度偏离总体。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0139A-3BC0-404D-9D07-D65A3438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课堂讨论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BD29D-8C68-4494-82A5-37F0CB0A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案例中的核心数据资产、威胁和责任主体分别是什么？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优先控制措施是什么，如何用日志、测试或指标验证效果？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哪些边界条件变化后，需要重新评估方案？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5FFCB-32CB-4648-A500-DE016686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4.3  数据安全技术基础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A2AFB5-ED6E-4DE5-8AA6-E39DF5A0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2604995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C22CC-73A0-4435-9C53-3CEED193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知识检查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88585-27C6-425F-B440-8F153E9B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76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 匿名为何不能完全防止属性泄露？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DC75A-7C0D-4EFA-98BE-C8C4B99E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rPr>
              <a:t>参考答案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F6DC27-3516-4D9F-B67E-375D3486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即使每个等价类人数达到 K，如果组内敏感属性高度集中，仍可推断个体的敏感属性；T 相近可进一步约束这种分布差异。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68A0B-775B-4A99-8688-89E1303D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4.3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2FE96-0E9D-4BA7-BA85-1B0110BA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08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2474402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2026-09-21T18:10:46.7650000Z</dcterms:created>
  <dcterms:modified xsi:type="dcterms:W3CDTF">2026-09-21T18:10:46.7650000Z</dcterms:modified>
</coreProperties>
</file>