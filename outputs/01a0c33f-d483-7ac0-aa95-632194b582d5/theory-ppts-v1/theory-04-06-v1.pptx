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f73acec31d4421" /><Relationship Type="http://schemas.openxmlformats.org/officeDocument/2006/relationships/extended-properties" Target="/docProps/app.xml" Id="R32f5ea6ca6724bbd" /><Relationship Type="http://schemas.openxmlformats.org/officeDocument/2006/relationships/officeDocument" Target="/ppt/presentation.xml" Id="Rdaf95b17c4f649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7bb462b0d74ea9"/>
  </p:sldMasterIdLst>
  <p:notesMasterIdLst>
    <p:notesMasterId xmlns:r="http://schemas.openxmlformats.org/officeDocument/2006/relationships" r:id="R442599565697490e"/>
  </p:notesMasterIdLst>
  <p:sldIdLst>
    <p:sldId xmlns:r="http://schemas.openxmlformats.org/officeDocument/2006/relationships" id="256" r:id="R7b8cd28855a74845"/>
    <p:sldId xmlns:r="http://schemas.openxmlformats.org/officeDocument/2006/relationships" id="257" r:id="R5a3b6f4ec8384160"/>
    <p:sldId xmlns:r="http://schemas.openxmlformats.org/officeDocument/2006/relationships" id="258" r:id="R25d183c4535c4410"/>
    <p:sldId xmlns:r="http://schemas.openxmlformats.org/officeDocument/2006/relationships" id="259" r:id="R512e85ff8db247dd"/>
    <p:sldId xmlns:r="http://schemas.openxmlformats.org/officeDocument/2006/relationships" id="260" r:id="R529f3eb31b264019"/>
    <p:sldId xmlns:r="http://schemas.openxmlformats.org/officeDocument/2006/relationships" id="261" r:id="Rb6e48dcacde14e38"/>
    <p:sldId xmlns:r="http://schemas.openxmlformats.org/officeDocument/2006/relationships" id="262" r:id="Re377dae17c894820"/>
    <p:sldId xmlns:r="http://schemas.openxmlformats.org/officeDocument/2006/relationships" id="263" r:id="Rcd262b0402b440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61f277de0946e1" /><Relationship Type="http://schemas.openxmlformats.org/officeDocument/2006/relationships/slideMaster" Target="/ppt/slideMasters/slideMaster1.xml" Id="R617bb462b0d74ea9" /><Relationship Type="http://schemas.openxmlformats.org/officeDocument/2006/relationships/notesMaster" Target="/ppt/notesMasters/notesMaster1.xml" Id="R442599565697490e" /><Relationship Type="http://schemas.openxmlformats.org/officeDocument/2006/relationships/presProps" Target="/ppt/presProps.xml" Id="R39a95ab07c144486" /><Relationship Type="http://schemas.openxmlformats.org/officeDocument/2006/relationships/tableStyles" Target="/ppt/tableStyles.xml" Id="Rf23b1b2520e548d1" /><Relationship Type="http://schemas.openxmlformats.org/officeDocument/2006/relationships/slide" Target="/ppt/slides/slide1.xml" Id="R7b8cd28855a74845" /><Relationship Type="http://schemas.openxmlformats.org/officeDocument/2006/relationships/slide" Target="/ppt/slides/slide2.xml" Id="R5a3b6f4ec8384160" /><Relationship Type="http://schemas.openxmlformats.org/officeDocument/2006/relationships/slide" Target="/ppt/slides/slide3.xml" Id="R25d183c4535c4410" /><Relationship Type="http://schemas.openxmlformats.org/officeDocument/2006/relationships/slide" Target="/ppt/slides/slide4.xml" Id="R512e85ff8db247dd" /><Relationship Type="http://schemas.openxmlformats.org/officeDocument/2006/relationships/slide" Target="/ppt/slides/slide5.xml" Id="R529f3eb31b264019" /><Relationship Type="http://schemas.openxmlformats.org/officeDocument/2006/relationships/slide" Target="/ppt/slides/slide6.xml" Id="Rb6e48dcacde14e38" /><Relationship Type="http://schemas.openxmlformats.org/officeDocument/2006/relationships/slide" Target="/ppt/slides/slide7.xml" Id="Re377dae17c894820" /><Relationship Type="http://schemas.openxmlformats.org/officeDocument/2006/relationships/slide" Target="/ppt/slides/slide8.xml" Id="Rcd262b0402b440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3d5a765cf046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a50f4d6ca04be7" /><Relationship Type="http://schemas.openxmlformats.org/officeDocument/2006/relationships/notesMaster" Target="/ppt/notesMasters/notesMaster1.xml" Id="Rac72354f73f64d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34db2b7428485e" /><Relationship Type="http://schemas.openxmlformats.org/officeDocument/2006/relationships/notesMaster" Target="/ppt/notesMasters/notesMaster1.xml" Id="R550326b657604f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6e755ec2a34025" /><Relationship Type="http://schemas.openxmlformats.org/officeDocument/2006/relationships/notesMaster" Target="/ppt/notesMasters/notesMaster1.xml" Id="R7610db5e3d9348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22573e62db4ac2" /><Relationship Type="http://schemas.openxmlformats.org/officeDocument/2006/relationships/notesMaster" Target="/ppt/notesMasters/notesMaster1.xml" Id="R79dc463480204e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e296c881594f27" /><Relationship Type="http://schemas.openxmlformats.org/officeDocument/2006/relationships/notesMaster" Target="/ppt/notesMasters/notesMaster1.xml" Id="Radcc59bf2c0840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e9c0b5b4214b56" /><Relationship Type="http://schemas.openxmlformats.org/officeDocument/2006/relationships/notesMaster" Target="/ppt/notesMasters/notesMaster1.xml" Id="R76949accea124c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6df6da50334f24" /><Relationship Type="http://schemas.openxmlformats.org/officeDocument/2006/relationships/notesMaster" Target="/ppt/notesMasters/notesMaster1.xml" Id="R36c85e9fc5de48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57b20f5dac44a6" /><Relationship Type="http://schemas.openxmlformats.org/officeDocument/2006/relationships/notesMaster" Target="/ppt/notesMasters/notesMaster1.xml" Id="R8dc97e7fecd24e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4.6 课时内容</a:t>
            </a:r>
          </a:p>
          <a:p xmlns:a="http://schemas.openxmlformats.org/drawingml/2006/main">
            <a:r>
              <a:t>backend/app/resources/content/question-bank-v1.json#lesson_theory_4_6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4.6 课时内容</a:t>
            </a:r>
          </a:p>
          <a:p xmlns:a="http://schemas.openxmlformats.org/drawingml/2006/main">
            <a:r>
              <a:t>backend/app/resources/content/question-bank-v1.json#lesson_theory_4_6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核心概念：RBAC（基于角色的访问控制）。结合要点解释定义、适用边界和验证方式。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4.6 课时内容</a:t>
            </a:r>
          </a:p>
          <a:p xmlns:a="http://schemas.openxmlformats.org/drawingml/2006/main">
            <a:r>
              <a:t>backend/app/resources/content/question-bank-v1.json#lesson_theory_4_6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核心概念：最小权限。结合要点解释定义、适用边界和验证方式。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4.6 课时内容</a:t>
            </a:r>
          </a:p>
          <a:p xmlns:a="http://schemas.openxmlformats.org/drawingml/2006/main">
            <a:r>
              <a:t>backend/app/resources/content/question-bank-v1.json#lesson_theory_4_6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核心概念：职责分离。结合要点解释定义、适用边界和验证方式。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4.6 课时内容</a:t>
            </a:r>
          </a:p>
          <a:p xmlns:a="http://schemas.openxmlformats.org/drawingml/2006/main">
            <a:r>
              <a:t>backend/app/resources/content/question-bank-v1.json#lesson_theory_4_6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核心概念：授权复核与回收。结合要点解释定义、适用边界和验证方式。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4.6 课时内容</a:t>
            </a:r>
          </a:p>
          <a:p xmlns:a="http://schemas.openxmlformats.org/drawingml/2006/main">
            <a:r>
              <a:t>backend/app/resources/content/question-bank-v1.json#lesson_theory_4_6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4.6 课时内容</a:t>
            </a:r>
          </a:p>
          <a:p xmlns:a="http://schemas.openxmlformats.org/drawingml/2006/main">
            <a:r>
              <a:t>backend/app/resources/content/question-bank-v1.json#lesson_theory_4_6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4.6 课时内容</a:t>
            </a:r>
          </a:p>
          <a:p xmlns:a="http://schemas.openxmlformats.org/drawingml/2006/main">
            <a:r>
              <a:t>backend/app/resources/content/question-bank-v1.json#lesson_theory_4_6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6820b911a140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d53e90eecf447e" /><Relationship Type="http://schemas.openxmlformats.org/officeDocument/2006/relationships/slideLayout" Target="/ppt/slideLayouts/slideLayout1.xml" Id="R6b6c9c1b2aef4f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6c9c1b2aef4f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a90f8e66a4cf1" /><Relationship Type="http://schemas.openxmlformats.org/officeDocument/2006/relationships/image" Target="/ppt/media/image.png" Id="Ra65e5993abd44069" /><Relationship Type="http://schemas.openxmlformats.org/officeDocument/2006/relationships/notesSlide" Target="/ppt/notesSlides/notesSlide1.xml" Id="Rd3924f94e5ea49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5dbd5da294581" /><Relationship Type="http://schemas.openxmlformats.org/officeDocument/2006/relationships/notesSlide" Target="/ppt/notesSlides/notesSlide2.xml" Id="R9f9e757754ea4d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bb12cbb324b71" /><Relationship Type="http://schemas.openxmlformats.org/officeDocument/2006/relationships/notesSlide" Target="/ppt/notesSlides/notesSlide3.xml" Id="Rcf77c9c78bbb4b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a64e4ca2a4597" /><Relationship Type="http://schemas.openxmlformats.org/officeDocument/2006/relationships/notesSlide" Target="/ppt/notesSlides/notesSlide4.xml" Id="Rf0df32536c944c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f3dc2fd5d4338" /><Relationship Type="http://schemas.openxmlformats.org/officeDocument/2006/relationships/notesSlide" Target="/ppt/notesSlides/notesSlide5.xml" Id="R62d03bc4479c43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a073ef7334996" /><Relationship Type="http://schemas.openxmlformats.org/officeDocument/2006/relationships/notesSlide" Target="/ppt/notesSlides/notesSlide6.xml" Id="R152d1dea81a948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0334fa7114357" /><Relationship Type="http://schemas.openxmlformats.org/officeDocument/2006/relationships/notesSlide" Target="/ppt/notesSlides/notesSlide7.xml" Id="R9b64d5e95dff48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2a58e5e264f83" /><Relationship Type="http://schemas.openxmlformats.org/officeDocument/2006/relationships/notesSlide" Target="/ppt/notesSlides/notesSlide8.xml" Id="R987e26126aef45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e5993abd4406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A892F-4E18-496F-81D8-DAFA5B53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4 章  ·  4.6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DCBD4-3D0B-43FA-997D-46705489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权限管理方法与 RBAC（基于角色的访问控制） 访问控制模型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9D3FB-E71F-4D50-BCD0-5B9E9C3B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94303-8FEA-4C13-83D2-48CB8178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11776361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52FEF-340A-40E1-98AC-1958985D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4A377-EA50-4046-8E1F-706487CD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4.6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80571-5E52-4424-A39C-AE3EAADB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5F82D-B623-4906-9E95-6B76B211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能够解释 RBAC（基于角色的访问控制）的用户、角色、权限和会话关系。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能够按最小权限和职责分离原则设计角色，并治理角色膨胀。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0A408-7F07-4194-B749-358C992C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1C591-E10D-4C99-A0AD-853CAB96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RBAC（基于角色的访问控制）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最小权限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职责分离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授权复核与回收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28624-8BE0-49E1-A286-BB72BBC8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4.6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0B730-558E-483D-BA93-70FE5F25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563612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4EFD5-3624-4F7F-85FD-5362C70F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EB1F7-E3D3-4693-9186-5A7FDA85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RBAC（基于角色的访问控制）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434D2-84EB-4A4D-B1C7-860F07A0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RBAC（基于角色的访问控制）把权限授予角色，再把用户分配到角色，从而按岗位集中管理授权。角色应表达稳定职责，而不是为每个个人或临时例外创建一个新角色。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D1C53-5256-441A-A474-9B0A6F73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用户、角色和权限分别管理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支持角色层级时防止隐含权限过宽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会话只激活当前任务所需角色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定期分析重复和僵尸角色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0AFED-ADC6-40DE-AD57-C843E5D1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4.6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11F9E-38B1-440B-9DDF-5068FE9E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519781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BCE56-25B2-4800-A72A-68096AB0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F577D-0675-4AB7-9016-F5C9499D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最小权限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05E5A-BD35-4A47-98E4-2FA4FD0D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最小权限要求主体只获得完成当前职责所需的操作、数据范围和持续时间。它既限制永久权限，也约束临时提权、服务账号和自动化令牌。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C8F2F-2FC9-4041-9BEE-7BE9C920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从只读和最小数据范围开始授权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高风险权限采用按需临时激活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禁止共享管理员账号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用实际使用记录发现长期闲置权限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A20B1-5ECE-45FF-B32C-FDE6691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4.6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0D7AE-C1DC-4012-A55F-B7F7D73B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0973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2CD42-AC22-4493-B3BB-E4EB2945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55990-D59B-4CC1-A941-B6CCC548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职责分离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65C03-EF70-4FC1-925D-1514880B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职责分离把申请、审批、执行和复核等相冲突能力分配给不同主体。它降低单人滥用或错误无法被发现的风险，可同时采用静态角色冲突和动态操作冲突。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3D475-E522-4D15-BA4F-0D4A4437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内容作者不能审核自己的版本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付款创建与付款批准相互分离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紧急破例必须双人确认并事后复核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系统应阻止冲突角色同时激活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4F83A-FBF0-47F2-8C2D-405C2DD4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4.6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3C2B7-7A4D-4696-8F33-569CA613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633040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1FA8A-33BA-47E9-B4B4-9646EFB2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C641A-460D-4209-B44B-6E4E4273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授权复核与回收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C373F-A315-4956-BAC8-7E7D74EF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授权复核确认人员、岗位、数据范围和权限仍然匹配，回收则在离职、转岗、项目结束或例外到期时及时执行。仅由账号持有人自查容易遗漏，应由业务负责人和系统责任人共同确认。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D571C-1B80-46ED-8BCB-D30AFF7A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高风险权限采用更短复核周期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临时权限设置明确到期时间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转岗时先撤旧权限再授新权限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保留复核决定和实际回收证据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AD99B-C028-4CE0-9587-F28DEC81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4.6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B6A6A-1F05-4094-B9D1-F6C3EED8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8681299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2B3D1-B648-4BFB-9E0E-A4698C26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99AD2-8D65-4524-A3DF-4D6F528D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4A2C9-831F-4648-A3B1-4EA9BE27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教学平台把资源编辑、独立审核和发布权限分配给不同角色，作者不能审核自己的内容，人员转岗后及时回收旧角色。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78AAA-3BF4-427C-9F86-0582A46B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968B1-E8A1-4FA4-899C-CC3FC82B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E699F-521E-4E67-B7CA-EABCC0AF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4.6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19708-3D92-40A8-B7E8-BF9A2BE5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16637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3D3C7-594B-4129-BE0A-B56F41F6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3ACE9-0CB8-4999-81CD-1E02B87D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为什么不应直接给每位用户逐项授权？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92BCD-FFDF-4B1E-9414-18A99A1B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10925-E9EB-4B71-9EFE-B4D6556B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逐项授权难以保持一致、复核和回收；通过角色聚合岗位权限更便于治理，但仍要防止角色过多和权限累积。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4EFED-F9E8-4923-9550-FE558846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4.6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E3538-4F99-40FB-82D1-B1C68A5F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95184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2026-09-21T18:10:56.7810000Z</dcterms:created>
  <dcterms:modified xsi:type="dcterms:W3CDTF">2026-09-21T18:10:56.7810000Z</dcterms:modified>
</coreProperties>
</file>