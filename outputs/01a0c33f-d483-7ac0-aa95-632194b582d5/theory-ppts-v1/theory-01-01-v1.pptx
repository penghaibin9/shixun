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bb4d66b714bc8" /><Relationship Type="http://schemas.openxmlformats.org/officeDocument/2006/relationships/extended-properties" Target="/docProps/app.xml" Id="Rf98f2af23f3b491a" /><Relationship Type="http://schemas.openxmlformats.org/officeDocument/2006/relationships/officeDocument" Target="/ppt/presentation.xml" Id="R04cb0f0bac45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e794303ac41f3"/>
  </p:sldMasterIdLst>
  <p:notesMasterIdLst>
    <p:notesMasterId xmlns:r="http://schemas.openxmlformats.org/officeDocument/2006/relationships" r:id="Rabdff9c2c69c4e6a"/>
  </p:notesMasterIdLst>
  <p:sldIdLst>
    <p:sldId xmlns:r="http://schemas.openxmlformats.org/officeDocument/2006/relationships" id="256" r:id="R5648599100f54c94"/>
    <p:sldId xmlns:r="http://schemas.openxmlformats.org/officeDocument/2006/relationships" id="257" r:id="R14a695427381414e"/>
    <p:sldId xmlns:r="http://schemas.openxmlformats.org/officeDocument/2006/relationships" id="258" r:id="R4c15cef667004de9"/>
    <p:sldId xmlns:r="http://schemas.openxmlformats.org/officeDocument/2006/relationships" id="259" r:id="R3d1e4a4b5ea5403d"/>
    <p:sldId xmlns:r="http://schemas.openxmlformats.org/officeDocument/2006/relationships" id="260" r:id="R40646f00fada4ef4"/>
    <p:sldId xmlns:r="http://schemas.openxmlformats.org/officeDocument/2006/relationships" id="261" r:id="R904a000e7413445b"/>
    <p:sldId xmlns:r="http://schemas.openxmlformats.org/officeDocument/2006/relationships" id="262" r:id="R0550c4540aad4dfe"/>
    <p:sldId xmlns:r="http://schemas.openxmlformats.org/officeDocument/2006/relationships" id="263" r:id="R40c56be86b4c4d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d9f8b32e39498c" /><Relationship Type="http://schemas.openxmlformats.org/officeDocument/2006/relationships/slideMaster" Target="/ppt/slideMasters/slideMaster1.xml" Id="R003e794303ac41f3" /><Relationship Type="http://schemas.openxmlformats.org/officeDocument/2006/relationships/notesMaster" Target="/ppt/notesMasters/notesMaster1.xml" Id="Rabdff9c2c69c4e6a" /><Relationship Type="http://schemas.openxmlformats.org/officeDocument/2006/relationships/presProps" Target="/ppt/presProps.xml" Id="Rb71d1728ee284aa3" /><Relationship Type="http://schemas.openxmlformats.org/officeDocument/2006/relationships/tableStyles" Target="/ppt/tableStyles.xml" Id="Rb1d5a5d1b5bb4b4b" /><Relationship Type="http://schemas.openxmlformats.org/officeDocument/2006/relationships/slide" Target="/ppt/slides/slide1.xml" Id="R5648599100f54c94" /><Relationship Type="http://schemas.openxmlformats.org/officeDocument/2006/relationships/slide" Target="/ppt/slides/slide2.xml" Id="R14a695427381414e" /><Relationship Type="http://schemas.openxmlformats.org/officeDocument/2006/relationships/slide" Target="/ppt/slides/slide3.xml" Id="R4c15cef667004de9" /><Relationship Type="http://schemas.openxmlformats.org/officeDocument/2006/relationships/slide" Target="/ppt/slides/slide4.xml" Id="R3d1e4a4b5ea5403d" /><Relationship Type="http://schemas.openxmlformats.org/officeDocument/2006/relationships/slide" Target="/ppt/slides/slide5.xml" Id="R40646f00fada4ef4" /><Relationship Type="http://schemas.openxmlformats.org/officeDocument/2006/relationships/slide" Target="/ppt/slides/slide6.xml" Id="R904a000e7413445b" /><Relationship Type="http://schemas.openxmlformats.org/officeDocument/2006/relationships/slide" Target="/ppt/slides/slide7.xml" Id="R0550c4540aad4dfe" /><Relationship Type="http://schemas.openxmlformats.org/officeDocument/2006/relationships/slide" Target="/ppt/slides/slide8.xml" Id="R40c56be86b4c4d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fee5e34d040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6dc6ec7ea4acd" /><Relationship Type="http://schemas.openxmlformats.org/officeDocument/2006/relationships/notesMaster" Target="/ppt/notesMasters/notesMaster1.xml" Id="R45120ac9377e40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17bbb00f0143f0" /><Relationship Type="http://schemas.openxmlformats.org/officeDocument/2006/relationships/notesMaster" Target="/ppt/notesMasters/notesMaster1.xml" Id="R572033c3312747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da7a8b163c4cd3" /><Relationship Type="http://schemas.openxmlformats.org/officeDocument/2006/relationships/notesMaster" Target="/ppt/notesMasters/notesMaster1.xml" Id="Ra83ecbe3e90a45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223f8893df4d8d" /><Relationship Type="http://schemas.openxmlformats.org/officeDocument/2006/relationships/notesMaster" Target="/ppt/notesMasters/notesMaster1.xml" Id="R2f4e52ff2b1149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e988afc4d9446f" /><Relationship Type="http://schemas.openxmlformats.org/officeDocument/2006/relationships/notesMaster" Target="/ppt/notesMasters/notesMaster1.xml" Id="Re3ad315e589247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91ad31f9ae485a" /><Relationship Type="http://schemas.openxmlformats.org/officeDocument/2006/relationships/notesMaster" Target="/ppt/notesMasters/notesMaster1.xml" Id="Rc6029110a2b747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7c5f1d8194085" /><Relationship Type="http://schemas.openxmlformats.org/officeDocument/2006/relationships/notesMaster" Target="/ppt/notesMasters/notesMaster1.xml" Id="Rb298f24e6e064e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38871b7a34a28" /><Relationship Type="http://schemas.openxmlformats.org/officeDocument/2006/relationships/notesMaster" Target="/ppt/notesMasters/notesMaster1.xml" Id="R1516a6da69c24f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核心概念：数据形态与业务语义。结合要点解释定义、适用边界和验证方式。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核心概念：数据资产及责任主体。结合要点解释定义、适用边界和验证方式。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核心概念：全生命周期安全控制。结合要点解释定义、适用边界和验证方式。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核心概念：机密性、完整性与可用性。结合要点解释定义、适用边界和验证方式。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1.1 课时内容</a:t>
            </a:r>
          </a:p>
          <a:p xmlns:a="http://schemas.openxmlformats.org/drawingml/2006/main">
            <a:r>
              <a:t>backend/app/resources/content/question-bank-v1.json#lesson_theory_1_1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f2d0a49c74b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e749d9d3c4ac1" /><Relationship Type="http://schemas.openxmlformats.org/officeDocument/2006/relationships/slideLayout" Target="/ppt/slideLayouts/slideLayout1.xml" Id="Rf4977b4e2c424c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977b4e2c424c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78ae9ce824273" /><Relationship Type="http://schemas.openxmlformats.org/officeDocument/2006/relationships/image" Target="/ppt/media/image.png" Id="Rce44663714de4df9" /><Relationship Type="http://schemas.openxmlformats.org/officeDocument/2006/relationships/notesSlide" Target="/ppt/notesSlides/notesSlide1.xml" Id="R39038c5db387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540f394744f00" /><Relationship Type="http://schemas.openxmlformats.org/officeDocument/2006/relationships/notesSlide" Target="/ppt/notesSlides/notesSlide2.xml" Id="R8b24c8dad839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d93f841194f65" /><Relationship Type="http://schemas.openxmlformats.org/officeDocument/2006/relationships/notesSlide" Target="/ppt/notesSlides/notesSlide3.xml" Id="R546761357a7e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7e5e4a3ff4bfc" /><Relationship Type="http://schemas.openxmlformats.org/officeDocument/2006/relationships/notesSlide" Target="/ppt/notesSlides/notesSlide4.xml" Id="R8f41c5cdb05a48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20ed84731482b" /><Relationship Type="http://schemas.openxmlformats.org/officeDocument/2006/relationships/notesSlide" Target="/ppt/notesSlides/notesSlide5.xml" Id="R7bebb8ddd8f8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b41c566d94f83" /><Relationship Type="http://schemas.openxmlformats.org/officeDocument/2006/relationships/notesSlide" Target="/ppt/notesSlides/notesSlide6.xml" Id="Rb241f4895e7e42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68c8a6e6242af" /><Relationship Type="http://schemas.openxmlformats.org/officeDocument/2006/relationships/notesSlide" Target="/ppt/notesSlides/notesSlide7.xml" Id="R6661e02b26ef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b6982079449f5" /><Relationship Type="http://schemas.openxmlformats.org/officeDocument/2006/relationships/notesSlide" Target="/ppt/notesSlides/notesSlide8.xml" Id="R530b8b6a788f40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4663714de4df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4758-435C-4916-8AFF-0E3A7943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1 章  ·  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C6D0A-C3B8-4AA3-9C96-DF5FF35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数据基础：定义、特征、分类与全生命周期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C23CF-4E31-4CD1-9348-0CA3B76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6CC8-E19D-4275-BA36-1160F2E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854673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05E24-0FD7-424B-B89E-E4D65A84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36403-7F0C-41D1-BE66-92E45BBA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FF321-6DF1-4FF3-8D19-4E8B090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39358-3F9F-4879-AE60-1B3B2151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能够区分结构化、半结构化和非结构化数据，并说明数据的业务价值与安全属性。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能够按产生、采集、存储、使用、共享、归档和销毁识别全生命周期风险。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A6504-2E66-4850-8395-BF53EA06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48943-A3BB-4F8B-83CE-F355B33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数据形态与业务语义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数据资产及责任主体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全生命周期安全控制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机密性、完整性与可用性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B9967-023D-4F55-9089-7A2C56D6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913E5-CFB6-4999-9E80-693F8BC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40814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A8237-2873-470A-ACFB-A0502174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E7F5C-D640-4B54-A730-98417627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数据形态与业务语义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98FE1-0BC2-453F-A00C-83A0B22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结构化数据遵循预定义字段和关系，半结构化数据带有标签或键值，非结构化数据则依赖内容解析。形态只决定处理方式，业务语义才决定数据的敏感程度和使用边界。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757CD-55AD-4E99-8958-0BA7EC2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结构化程度不能代替敏感性判断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同一字段在不同业务中可能具有不同含义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分类前应同时采集格式、来源、用途和责任人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文件扩展名不是可靠的数据类型判据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C8D6E-ABE7-4E7A-95C4-C30E80C0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9DC44-D0D4-44A3-A296-057D088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47760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C2F3B-7A8E-4077-A6B2-A62A5D7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E659F-C533-410F-A6E2-82D741D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数据资产及责任主体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FC6DF-B724-41AA-A9C3-03838C05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数据只有被识别、登记并明确责任后，才能进入持续治理。数据所有者决定用途与风险承受，数据管理员执行质量和权限控制，使用者承担合规使用责任。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83860-F559-4EDF-AC4F-F768366F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资产目录应记录位置、类别、级别和生命周期状态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责任主体需有明确的审批与复核权限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共享或系统迁移时要同步更新责任关系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无人负责的数据资产应列为治理缺口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EB6E3-5B00-48F4-AC34-476E9B62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42991-9AA9-4926-A33F-C626169F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15921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3ECE8-FF59-477A-B179-FE33EC91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5CAF0-4DB4-4A19-9261-420E917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全生命周期安全控制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EE09A-0761-41BF-B058-BDFBBE4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数据风险会随产生、采集、存储、使用、共享、归档和销毁阶段变化。每个阶段都需要入口条件、授权规则、留痕证据和退出处置，不能用单一存储控制覆盖全程。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60E4F-33AC-4D94-AA6B-7FBFF1FB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采集阶段核验目的、来源与最小范围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使用和共享阶段实施授权、脱敏与审计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归档阶段执行保留期和访问复核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销毁阶段验证不可恢复并保存记录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5F9AF-D896-4E97-9BE0-A1925680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4951C-68FC-451E-B95C-73A7324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82516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94523-67D4-4A80-BDA9-23DADB7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B5FEF-0F83-4C34-9C56-84B51F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机密性、完整性与可用性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455A7-49A8-4BD3-BE30-85D0670A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机密性防止未授权获知，完整性防止未授权或意外修改，可用性保证授权主体在需要时能够访问。三者可能相互制约，控制设计应按业务影响确定平衡点。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303D2-E103-4F03-B06D-AEA70C0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加密和访问控制主要保护机密性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哈希、签名和变更控制主要保护完整性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冗余、备份和故障恢复主要保护可用性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安全评估应分别检查三类目标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5BE59-6E1B-4922-97BA-51FF7856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9B812-4807-4CB1-AFA5-1E9D7A90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39590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A7E41-8BBD-4550-AFBD-9FD5EEEF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507DC-6A10-4668-BDE6-F68DE70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9BDA6-1460-4759-A1DB-7E2531D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某高校把教务库、科研文件和门禁日志统一登记为数据资产，并为采集、共享和到期销毁分别设置责任人，避免只保护数据库而遗漏导出文件。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C3A29-79EE-4E75-A3B8-0BEF766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A18D1-A19E-4380-92CA-28E173C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04EA7-CFBE-4AC8-8A18-0931D350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6CE44-44CA-41A2-9A63-DD14C1B3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31616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1F586-182D-4E4D-80D1-F0D44A38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BE5F0-BAA6-4CD5-9A20-EBB7F543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为什么归档数据仍需访问控制和保留期管理？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281A0-DE5F-4DB1-B004-922B43A0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DD4E9-8F51-4928-980A-68FA973C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归档只表示使用频率下降，不代表敏感性消失；未授权读取、篡改和超期留存风险仍然存在。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C480D-A4B6-4B9C-ACDE-5CCEB80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1.1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D2FC7-2D87-435A-BACB-D10BDDAA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00964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2026-09-21T18:09:51.8730000Z</dcterms:created>
  <dcterms:modified xsi:type="dcterms:W3CDTF">2026-09-21T18:09:51.8730000Z</dcterms:modified>
</coreProperties>
</file>