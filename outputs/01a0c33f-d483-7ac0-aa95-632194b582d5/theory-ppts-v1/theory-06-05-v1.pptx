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ec9756281a4142" /><Relationship Type="http://schemas.openxmlformats.org/officeDocument/2006/relationships/extended-properties" Target="/docProps/app.xml" Id="R53666de04bb94eef" /><Relationship Type="http://schemas.openxmlformats.org/officeDocument/2006/relationships/officeDocument" Target="/ppt/presentation.xml" Id="Rc3166804412248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4165e072964f92"/>
  </p:sldMasterIdLst>
  <p:notesMasterIdLst>
    <p:notesMasterId xmlns:r="http://schemas.openxmlformats.org/officeDocument/2006/relationships" r:id="Ra51888cb261e47d3"/>
  </p:notesMasterIdLst>
  <p:sldIdLst>
    <p:sldId xmlns:r="http://schemas.openxmlformats.org/officeDocument/2006/relationships" id="256" r:id="Rbae5f3e20ebc4bf6"/>
    <p:sldId xmlns:r="http://schemas.openxmlformats.org/officeDocument/2006/relationships" id="257" r:id="Ra0b4e4df5bc843b3"/>
    <p:sldId xmlns:r="http://schemas.openxmlformats.org/officeDocument/2006/relationships" id="258" r:id="R55e412a323284c77"/>
    <p:sldId xmlns:r="http://schemas.openxmlformats.org/officeDocument/2006/relationships" id="259" r:id="R80543e14d91d467e"/>
    <p:sldId xmlns:r="http://schemas.openxmlformats.org/officeDocument/2006/relationships" id="260" r:id="Rdf325ce319254ff9"/>
    <p:sldId xmlns:r="http://schemas.openxmlformats.org/officeDocument/2006/relationships" id="261" r:id="R19e7ab9acf8047e9"/>
    <p:sldId xmlns:r="http://schemas.openxmlformats.org/officeDocument/2006/relationships" id="262" r:id="Ra86007035f66447b"/>
    <p:sldId xmlns:r="http://schemas.openxmlformats.org/officeDocument/2006/relationships" id="263" r:id="R822f751e2fb94e4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2dcaea464c4db0" /><Relationship Type="http://schemas.openxmlformats.org/officeDocument/2006/relationships/slideMaster" Target="/ppt/slideMasters/slideMaster1.xml" Id="R0b4165e072964f92" /><Relationship Type="http://schemas.openxmlformats.org/officeDocument/2006/relationships/notesMaster" Target="/ppt/notesMasters/notesMaster1.xml" Id="Ra51888cb261e47d3" /><Relationship Type="http://schemas.openxmlformats.org/officeDocument/2006/relationships/presProps" Target="/ppt/presProps.xml" Id="R96673909de574e7a" /><Relationship Type="http://schemas.openxmlformats.org/officeDocument/2006/relationships/tableStyles" Target="/ppt/tableStyles.xml" Id="Rfaa3b35e71074998" /><Relationship Type="http://schemas.openxmlformats.org/officeDocument/2006/relationships/slide" Target="/ppt/slides/slide1.xml" Id="Rbae5f3e20ebc4bf6" /><Relationship Type="http://schemas.openxmlformats.org/officeDocument/2006/relationships/slide" Target="/ppt/slides/slide2.xml" Id="Ra0b4e4df5bc843b3" /><Relationship Type="http://schemas.openxmlformats.org/officeDocument/2006/relationships/slide" Target="/ppt/slides/slide3.xml" Id="R55e412a323284c77" /><Relationship Type="http://schemas.openxmlformats.org/officeDocument/2006/relationships/slide" Target="/ppt/slides/slide4.xml" Id="R80543e14d91d467e" /><Relationship Type="http://schemas.openxmlformats.org/officeDocument/2006/relationships/slide" Target="/ppt/slides/slide5.xml" Id="Rdf325ce319254ff9" /><Relationship Type="http://schemas.openxmlformats.org/officeDocument/2006/relationships/slide" Target="/ppt/slides/slide6.xml" Id="R19e7ab9acf8047e9" /><Relationship Type="http://schemas.openxmlformats.org/officeDocument/2006/relationships/slide" Target="/ppt/slides/slide7.xml" Id="Ra86007035f66447b" /><Relationship Type="http://schemas.openxmlformats.org/officeDocument/2006/relationships/slide" Target="/ppt/slides/slide8.xml" Id="R822f751e2fb94e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d980ede64a4b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2cad2e643242b9" /><Relationship Type="http://schemas.openxmlformats.org/officeDocument/2006/relationships/notesMaster" Target="/ppt/notesMasters/notesMaster1.xml" Id="R5a984697228d40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e8ca69c14f4af4" /><Relationship Type="http://schemas.openxmlformats.org/officeDocument/2006/relationships/notesMaster" Target="/ppt/notesMasters/notesMaster1.xml" Id="R4df91b8871634b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e796c9eb6d4757" /><Relationship Type="http://schemas.openxmlformats.org/officeDocument/2006/relationships/notesMaster" Target="/ppt/notesMasters/notesMaster1.xml" Id="Rb60eb5258fff41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f5d0f14c244ab7" /><Relationship Type="http://schemas.openxmlformats.org/officeDocument/2006/relationships/notesMaster" Target="/ppt/notesMasters/notesMaster1.xml" Id="Ra4a365b6474642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5301219a7d4505" /><Relationship Type="http://schemas.openxmlformats.org/officeDocument/2006/relationships/notesMaster" Target="/ppt/notesMasters/notesMaster1.xml" Id="Rfa0185d9bf6545d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8f27523979423f" /><Relationship Type="http://schemas.openxmlformats.org/officeDocument/2006/relationships/notesMaster" Target="/ppt/notesMasters/notesMaster1.xml" Id="R11b17ecdadba4a2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ed91e1913564346" /><Relationship Type="http://schemas.openxmlformats.org/officeDocument/2006/relationships/notesMaster" Target="/ppt/notesMasters/notesMaster1.xml" Id="Rb275d1f475054fc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71bee45a364526" /><Relationship Type="http://schemas.openxmlformats.org/officeDocument/2006/relationships/notesMaster" Target="/ppt/notesMasters/notesMaster1.xml" Id="Rb3c0b5b3a15540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封面。说明本课在课程蓝图中的位置，并用一个真实业务问题导入主题。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NIST（美国国家标准与技术研究院）SP（特别出版物） 800-34 应急与恢复规划指南</a:t>
            </a:r>
          </a:p>
          <a:p xmlns:a="http://schemas.openxmlformats.org/drawingml/2006/main">
            <a:r>
              <a:t>https://csrc.nist.gov/pubs/sp/800/34/r1/upd1/final</a:t>
            </a:r>
          </a:p>
          <a:p xmlns:a="http://schemas.openxmlformats.org/drawingml/2006/main">
            <a:r>
              <a:t>2. 正式题库 6.5 课时内容</a:t>
            </a:r>
          </a:p>
          <a:p xmlns:a="http://schemas.openxmlformats.org/drawingml/2006/main">
            <a:r>
              <a:t>backend/app/resources/content/question-bank-v1.json#lesson_theory_6_5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学习目标与知识结构。先说明目标，再解释各知识点之间的依赖关系。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NIST（美国国家标准与技术研究院）SP（特别出版物） 800-34 应急与恢复规划指南</a:t>
            </a:r>
          </a:p>
          <a:p xmlns:a="http://schemas.openxmlformats.org/drawingml/2006/main">
            <a:r>
              <a:t>https://csrc.nist.gov/pubs/sp/800/34/r1/upd1/final</a:t>
            </a:r>
          </a:p>
          <a:p xmlns:a="http://schemas.openxmlformats.org/drawingml/2006/main">
            <a:r>
              <a:t>2. 正式题库 6.5 课时内容</a:t>
            </a:r>
          </a:p>
          <a:p xmlns:a="http://schemas.openxmlformats.org/drawingml/2006/main">
            <a:r>
              <a:t>backend/app/resources/content/question-bank-v1.json#lesson_theory_6_5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核心概念：全量与增量备份。结合要点解释定义、适用边界和验证方式。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NIST（美国国家标准与技术研究院）SP（特别出版物） 800-34 应急与恢复规划指南</a:t>
            </a:r>
          </a:p>
          <a:p xmlns:a="http://schemas.openxmlformats.org/drawingml/2006/main">
            <a:r>
              <a:t>https://csrc.nist.gov/pubs/sp/800/34/r1/upd1/final</a:t>
            </a:r>
          </a:p>
          <a:p xmlns:a="http://schemas.openxmlformats.org/drawingml/2006/main">
            <a:r>
              <a:t>2. 正式题库 6.5 课时内容</a:t>
            </a:r>
          </a:p>
          <a:p xmlns:a="http://schemas.openxmlformats.org/drawingml/2006/main">
            <a:r>
              <a:t>backend/app/resources/content/question-bank-v1.json#lesson_theory_6_5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核心概念：恢复链。结合要点解释定义、适用边界和验证方式。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NIST（美国国家标准与技术研究院）SP（特别出版物） 800-34 应急与恢复规划指南</a:t>
            </a:r>
          </a:p>
          <a:p xmlns:a="http://schemas.openxmlformats.org/drawingml/2006/main">
            <a:r>
              <a:t>https://csrc.nist.gov/pubs/sp/800/34/r1/upd1/final</a:t>
            </a:r>
          </a:p>
          <a:p xmlns:a="http://schemas.openxmlformats.org/drawingml/2006/main">
            <a:r>
              <a:t>2. 正式题库 6.5 课时内容</a:t>
            </a:r>
          </a:p>
          <a:p xmlns:a="http://schemas.openxmlformats.org/drawingml/2006/main">
            <a:r>
              <a:t>backend/app/resources/content/question-bank-v1.json#lesson_theory_6_5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核心概念：隔离与异地副本。结合要点解释定义、适用边界和验证方式。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NIST（美国国家标准与技术研究院）SP（特别出版物） 800-34 应急与恢复规划指南</a:t>
            </a:r>
          </a:p>
          <a:p xmlns:a="http://schemas.openxmlformats.org/drawingml/2006/main">
            <a:r>
              <a:t>https://csrc.nist.gov/pubs/sp/800/34/r1/upd1/final</a:t>
            </a:r>
          </a:p>
          <a:p xmlns:a="http://schemas.openxmlformats.org/drawingml/2006/main">
            <a:r>
              <a:t>2. 正式题库 6.5 课时内容</a:t>
            </a:r>
          </a:p>
          <a:p xmlns:a="http://schemas.openxmlformats.org/drawingml/2006/main">
            <a:r>
              <a:t>backend/app/resources/content/question-bank-v1.json#lesson_theory_6_5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核心概念：恢复验证。结合要点解释定义、适用边界和验证方式。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NIST（美国国家标准与技术研究院）SP（特别出版物） 800-34 应急与恢复规划指南</a:t>
            </a:r>
          </a:p>
          <a:p xmlns:a="http://schemas.openxmlformats.org/drawingml/2006/main">
            <a:r>
              <a:t>https://csrc.nist.gov/pubs/sp/800/34/r1/upd1/final</a:t>
            </a:r>
          </a:p>
          <a:p xmlns:a="http://schemas.openxmlformats.org/drawingml/2006/main">
            <a:r>
              <a:t>2. 正式题库 6.5 课时内容</a:t>
            </a:r>
          </a:p>
          <a:p xmlns:a="http://schemas.openxmlformats.org/drawingml/2006/main">
            <a:r>
              <a:t>backend/app/resources/content/question-bank-v1.json#lesson_theory_6_5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业务案例。引导学生先识别事实，再提出控制方案和可验证证据。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NIST（美国国家标准与技术研究院）SP（特别出版物） 800-34 应急与恢复规划指南</a:t>
            </a:r>
          </a:p>
          <a:p xmlns:a="http://schemas.openxmlformats.org/drawingml/2006/main">
            <a:r>
              <a:t>https://csrc.nist.gov/pubs/sp/800/34/r1/upd1/final</a:t>
            </a:r>
          </a:p>
          <a:p xmlns:a="http://schemas.openxmlformats.org/drawingml/2006/main">
            <a:r>
              <a:t>2. 正式题库 6.5 课时内容</a:t>
            </a:r>
          </a:p>
          <a:p xmlns:a="http://schemas.openxmlformats.org/drawingml/2006/main">
            <a:r>
              <a:t>backend/app/resources/content/question-bank-v1.json#lesson_theory_6_5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知识检查。先让学生独立回答，再展示参考答案并回到本课学习目标。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NIST（美国国家标准与技术研究院）SP（特别出版物） 800-34 应急与恢复规划指南</a:t>
            </a:r>
          </a:p>
          <a:p xmlns:a="http://schemas.openxmlformats.org/drawingml/2006/main">
            <a:r>
              <a:t>https://csrc.nist.gov/pubs/sp/800/34/r1/upd1/final</a:t>
            </a:r>
          </a:p>
          <a:p xmlns:a="http://schemas.openxmlformats.org/drawingml/2006/main">
            <a:r>
              <a:t>2. 正式题库 6.5 课时内容</a:t>
            </a:r>
          </a:p>
          <a:p xmlns:a="http://schemas.openxmlformats.org/drawingml/2006/main">
            <a:r>
              <a:t>backend/app/resources/content/question-bank-v1.json#lesson_theory_6_5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7636f8aa3e49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bde023c16e4505" /><Relationship Type="http://schemas.openxmlformats.org/officeDocument/2006/relationships/slideLayout" Target="/ppt/slideLayouts/slideLayout1.xml" Id="Rb21bf2dad47f40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1bf2dad47f40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7f669be13c4369" /><Relationship Type="http://schemas.openxmlformats.org/officeDocument/2006/relationships/image" Target="/ppt/media/image.png" Id="Ra2a5e6ef8f5e49c9" /><Relationship Type="http://schemas.openxmlformats.org/officeDocument/2006/relationships/notesSlide" Target="/ppt/notesSlides/notesSlide1.xml" Id="R0c3e6f50d62443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7156403cdb4437" /><Relationship Type="http://schemas.openxmlformats.org/officeDocument/2006/relationships/notesSlide" Target="/ppt/notesSlides/notesSlide2.xml" Id="Re15c468e1ab747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9fb5efc51c4950" /><Relationship Type="http://schemas.openxmlformats.org/officeDocument/2006/relationships/notesSlide" Target="/ppt/notesSlides/notesSlide3.xml" Id="R34cb0867b65e48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123a743ba54dd3" /><Relationship Type="http://schemas.openxmlformats.org/officeDocument/2006/relationships/notesSlide" Target="/ppt/notesSlides/notesSlide4.xml" Id="R1fa53859d9d348a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8ed36023ae4bf2" /><Relationship Type="http://schemas.openxmlformats.org/officeDocument/2006/relationships/notesSlide" Target="/ppt/notesSlides/notesSlide5.xml" Id="R8359b451092f47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bdb44b22b242c9" /><Relationship Type="http://schemas.openxmlformats.org/officeDocument/2006/relationships/notesSlide" Target="/ppt/notesSlides/notesSlide6.xml" Id="R23555cf6193440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a16fea17b44fc2" /><Relationship Type="http://schemas.openxmlformats.org/officeDocument/2006/relationships/notesSlide" Target="/ppt/notesSlides/notesSlide7.xml" Id="Rfd246e500b36428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6937b5c73b488f" /><Relationship Type="http://schemas.openxmlformats.org/officeDocument/2006/relationships/notesSlide" Target="/ppt/notesSlides/notesSlide8.xml" Id="Re3f4a555f40440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a5e6ef8f5e49c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D97D64-0A90-4B89-91BE-B0647757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第 6 章  ·  6.5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6ABD88-94C0-461C-BDE6-8B401101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5715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全量备份与增量备份策略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693DAF-7D94-47D8-896A-41D4099A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数据安全技术基础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9CAF5D-430E-493F-975A-5A7C1BC9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跃科网络空间安全实训平台</a:t>
            </a:r>
          </a:p>
        </p:txBody>
      </p:sp>
    </p:spTree>
    <p:extLst>
      <p:ext uri="{BB962C8B-B14F-4D97-AF65-F5344CB8AC3E}">
        <p14:creationId xmlns:p14="http://schemas.microsoft.com/office/powerpoint/2010/main" val="8106256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258B47-D9A5-4076-99A5-245EEF8D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本课目标与知识结构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9A5A51-BA11-40C2-BAB3-6F7D0E9C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676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6.5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650B6A-FF47-47B9-AE58-7EAC8B1F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学习目标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F80C75-18D6-47F5-B8C4-1154A1DF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01  能够比较全量、增量和差异备份的窗口、空间与恢复链。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02  能够设计含隔离副本、完整性校验、保留期和恢复演练的备份策略。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5DB97A-C81F-427D-8010-ED1E5C18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知识结构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0C79AD-AF3B-4655-BEE9-B36AA7BE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143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01  全量与增量备份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02  恢复链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03  隔离与异地副本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04  恢复验证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606154-864C-46EA-BCBB-82362718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6.5  数据安全技术基础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58ADFA-19FC-4370-82DB-53AF5A9D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8132139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795A7D-98DD-468F-99EB-A4923CA8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01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A5A4C3-6112-4A67-84CC-8A434073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全量与增量备份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29F9FC-4EA8-4E2B-9DB9-57CC1BB9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全量备份保存完整数据集，恢复链短但窗口和空间需求高；增量备份只保存上次备份后的变化，效率高但恢复依赖完整链。策略常将周期性全量与更频繁增量组合使用。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7871BC-F93C-4C2F-8B70-A2C147CF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按变化量和恢复目标选择周期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每个备份集保存时间点和依赖信息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压缩节省空间但不能替代校验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备份成功状态不等于内容可恢复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AD3C85-55BC-428B-B7DD-345AB812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6.5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EE8B29-8BAB-43AA-909E-9C36BC4B2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4388237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40363D-5972-4D88-BB04-77EED017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02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8578B5-6F23-4D2E-A19F-F1789F10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恢复链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61C6FD-C5CD-4951-A11C-03DB1797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恢复链由基准全量和按顺序应用的增量组成，任何缺失、损坏或顺序错误都可能导致目标时间点不可恢复。链越长，恢复时间和失败概率通常越高。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C14034-AFFD-4790-BA53-3F5FA99E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为每个增量记录父备份标识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定期合成新全量缩短恢复链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校验所有链文件摘要与可读性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删除旧备份前检查依赖关系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01C3C1-797C-410D-9F9C-809660DD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6.5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502950-522C-4B1F-AA40-605B133D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4817963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2F840A-6ACA-4DAF-BBE7-9C2E071F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03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7FDB40-4154-4A45-8040-DB77AA34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隔离与异地副本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31AFB8-AB14-4214-A17A-32D251DD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隔离副本防止生产账号、勒索软件或误操作同时破坏备份，异地副本防范站点级灾害。逻辑隔离、凭据隔离和物理地域分离需要按威胁分别设计。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C537A7-BD2B-4F0C-9FE1-49D434C6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至少一份副本不接受生产环境直接写入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备份管理账号独立且启用多因素认证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异地位置避开相同洪水或供电风险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定期确认隔离副本仍可读取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62B844-9609-4B10-8042-B5080523C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6.5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0DCC41-73C3-48DB-91DE-AA8B8A90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05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3031933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ADA859-34E7-476B-9C73-1677212C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04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577E51-641E-4319-873E-2984ED51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恢复验证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01CD98-2689-42C5-AA76-EADA7480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恢复验证把备份还原到隔离环境并检查数据完整性、应用启动和关键业务结果。只验证压缩包能打开或备份任务显示成功，无法证明恢复目标已经达到。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2DE23A-55F2-4A4C-81C9-E4875A5B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选择代表性全量与增量组合演练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核对表数量、关键记录和文件摘要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记录恢复耗时并对比目标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失败原因整改后重新演练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13D46A-D377-46EF-BE6A-48117F17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6.5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507FA1-CE16-4167-B57F-1CF10835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06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877514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F17AB3-0B36-41AF-B935-E4164314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业务案例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B8173C-7F8E-4886-BB5C-28E20F23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把概念放回真实决策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07F145-265D-47FB-9F3E-BA450EA0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10858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系统每周全量、每日增量，并保留离线副本；月度演练从最近全量按顺序应用增量，最后核对关键业务记录和摘要。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B28AF3-AFA3-4E4F-96E1-E6AE3F75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课堂讨论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E27305-1682-41D5-95CF-5D2B59F5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24400"/>
            <a:ext cx="1076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案例中的核心数据资产、威胁和责任主体分别是什么？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优先控制措施是什么，如何用日志、测试或指标验证效果？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哪些边界条件变化后，需要重新评估方案？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B44458-6594-4DFF-8789-2927C067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6.5  数据安全技术基础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19865F-EA9E-4ED0-B39B-6DC83383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07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3903254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942226-49B4-4F05-9CAE-19A9456E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知识检查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CFE23D-CAC3-4926-AD51-ABEA3531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763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增量备份节省空间的代价是什么？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B6925C-50B9-4F1B-9AB0-ABDC286E3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9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9968"/>
                </a:solidFill>
                <a:latin typeface="Microsoft YaHei"/>
                <a:ea typeface="Microsoft YaHei"/>
                <a:cs typeface="Microsoft YaHei"/>
              </a:rPr>
              <a:t>参考答案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C7D549-F53C-4E03-8F7F-DE400832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1076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恢复依赖最近全量和后续有序增量链，任一关键增量损坏都可能影响恢复。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0B9A78-6142-4B40-9873-FF7B8D27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6.5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9E4FEE-E603-40A1-8134-10C1D09C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08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9693443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2026-09-21T18:11:40.4960000Z</dcterms:created>
  <dcterms:modified xsi:type="dcterms:W3CDTF">2026-09-21T18:11:40.4960000Z</dcterms:modified>
</coreProperties>
</file>