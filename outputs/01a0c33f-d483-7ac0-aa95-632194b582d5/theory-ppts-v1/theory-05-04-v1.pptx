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31041567ce4006" /><Relationship Type="http://schemas.openxmlformats.org/officeDocument/2006/relationships/extended-properties" Target="/docProps/app.xml" Id="R7c7f96eacb934d63" /><Relationship Type="http://schemas.openxmlformats.org/officeDocument/2006/relationships/officeDocument" Target="/ppt/presentation.xml" Id="R914194381e4e4a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5d7cd6d9a84e93"/>
  </p:sldMasterIdLst>
  <p:notesMasterIdLst>
    <p:notesMasterId xmlns:r="http://schemas.openxmlformats.org/officeDocument/2006/relationships" r:id="R55fd4c7bfbfb4cbd"/>
  </p:notesMasterIdLst>
  <p:sldIdLst>
    <p:sldId xmlns:r="http://schemas.openxmlformats.org/officeDocument/2006/relationships" id="256" r:id="R607c9aa0c5c24d19"/>
    <p:sldId xmlns:r="http://schemas.openxmlformats.org/officeDocument/2006/relationships" id="257" r:id="Rdbb7d50c81ed4f56"/>
    <p:sldId xmlns:r="http://schemas.openxmlformats.org/officeDocument/2006/relationships" id="258" r:id="Rb56712073b964208"/>
    <p:sldId xmlns:r="http://schemas.openxmlformats.org/officeDocument/2006/relationships" id="259" r:id="R660c3b573eb14ee3"/>
    <p:sldId xmlns:r="http://schemas.openxmlformats.org/officeDocument/2006/relationships" id="260" r:id="Rfc8cf06440f74067"/>
    <p:sldId xmlns:r="http://schemas.openxmlformats.org/officeDocument/2006/relationships" id="261" r:id="R13ee2d6c511d4e4c"/>
    <p:sldId xmlns:r="http://schemas.openxmlformats.org/officeDocument/2006/relationships" id="262" r:id="R9c1d34882fcc455c"/>
    <p:sldId xmlns:r="http://schemas.openxmlformats.org/officeDocument/2006/relationships" id="263" r:id="R9cf97357727b4a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38ef36b70044b4" /><Relationship Type="http://schemas.openxmlformats.org/officeDocument/2006/relationships/slideMaster" Target="/ppt/slideMasters/slideMaster1.xml" Id="Rd85d7cd6d9a84e93" /><Relationship Type="http://schemas.openxmlformats.org/officeDocument/2006/relationships/notesMaster" Target="/ppt/notesMasters/notesMaster1.xml" Id="R55fd4c7bfbfb4cbd" /><Relationship Type="http://schemas.openxmlformats.org/officeDocument/2006/relationships/presProps" Target="/ppt/presProps.xml" Id="R9b87cd3584634008" /><Relationship Type="http://schemas.openxmlformats.org/officeDocument/2006/relationships/tableStyles" Target="/ppt/tableStyles.xml" Id="R16d6d8ff8b7f4178" /><Relationship Type="http://schemas.openxmlformats.org/officeDocument/2006/relationships/slide" Target="/ppt/slides/slide1.xml" Id="R607c9aa0c5c24d19" /><Relationship Type="http://schemas.openxmlformats.org/officeDocument/2006/relationships/slide" Target="/ppt/slides/slide2.xml" Id="Rdbb7d50c81ed4f56" /><Relationship Type="http://schemas.openxmlformats.org/officeDocument/2006/relationships/slide" Target="/ppt/slides/slide3.xml" Id="Rb56712073b964208" /><Relationship Type="http://schemas.openxmlformats.org/officeDocument/2006/relationships/slide" Target="/ppt/slides/slide4.xml" Id="R660c3b573eb14ee3" /><Relationship Type="http://schemas.openxmlformats.org/officeDocument/2006/relationships/slide" Target="/ppt/slides/slide5.xml" Id="Rfc8cf06440f74067" /><Relationship Type="http://schemas.openxmlformats.org/officeDocument/2006/relationships/slide" Target="/ppt/slides/slide6.xml" Id="R13ee2d6c511d4e4c" /><Relationship Type="http://schemas.openxmlformats.org/officeDocument/2006/relationships/slide" Target="/ppt/slides/slide7.xml" Id="R9c1d34882fcc455c" /><Relationship Type="http://schemas.openxmlformats.org/officeDocument/2006/relationships/slide" Target="/ppt/slides/slide8.xml" Id="R9cf97357727b4a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9fd0cad37141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ce5a233e264480" /><Relationship Type="http://schemas.openxmlformats.org/officeDocument/2006/relationships/notesMaster" Target="/ppt/notesMasters/notesMaster1.xml" Id="R8b49ddd1e3a74b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ec1e1db529478d" /><Relationship Type="http://schemas.openxmlformats.org/officeDocument/2006/relationships/notesMaster" Target="/ppt/notesMasters/notesMaster1.xml" Id="R79026cea5f794d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11f91fe10a432f" /><Relationship Type="http://schemas.openxmlformats.org/officeDocument/2006/relationships/notesMaster" Target="/ppt/notesMasters/notesMaster1.xml" Id="Rac69cdcc35814d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c809fa55024f15" /><Relationship Type="http://schemas.openxmlformats.org/officeDocument/2006/relationships/notesMaster" Target="/ppt/notesMasters/notesMaster1.xml" Id="R639e515894cd42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b355f40962475d" /><Relationship Type="http://schemas.openxmlformats.org/officeDocument/2006/relationships/notesMaster" Target="/ppt/notesMasters/notesMaster1.xml" Id="R82bc7f28a2d149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a43cae3dc746c9" /><Relationship Type="http://schemas.openxmlformats.org/officeDocument/2006/relationships/notesMaster" Target="/ppt/notesMasters/notesMaster1.xml" Id="R6aff7587028f4f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99b9d3f8d74b53" /><Relationship Type="http://schemas.openxmlformats.org/officeDocument/2006/relationships/notesMaster" Target="/ppt/notesMasters/notesMaster1.xml" Id="Rf776a804e31140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c15bdea9f54c1a" /><Relationship Type="http://schemas.openxmlformats.org/officeDocument/2006/relationships/notesMaster" Target="/ppt/notesMasters/notesMaster1.xml" Id="R97f0d41ac08145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NIST（美国国家标准与技术研究院）隐私框架</a:t>
            </a:r>
          </a:p>
          <a:p xmlns:a="http://schemas.openxmlformats.org/drawingml/2006/main">
            <a:r>
              <a:t>https://www.nist.gov/privacy-framework</a:t>
            </a:r>
          </a:p>
          <a:p xmlns:a="http://schemas.openxmlformats.org/drawingml/2006/main">
            <a:r>
              <a:t>2. 正式题库 5.4 课时内容</a:t>
            </a:r>
          </a:p>
          <a:p xmlns:a="http://schemas.openxmlformats.org/drawingml/2006/main">
            <a:r>
              <a:t>backend/app/resources/content/question-bank-v1.json#lesson_theory_5_4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NIST（美国国家标准与技术研究院）隐私框架</a:t>
            </a:r>
          </a:p>
          <a:p xmlns:a="http://schemas.openxmlformats.org/drawingml/2006/main">
            <a:r>
              <a:t>https://www.nist.gov/privacy-framework</a:t>
            </a:r>
          </a:p>
          <a:p xmlns:a="http://schemas.openxmlformats.org/drawingml/2006/main">
            <a:r>
              <a:t>2. 正式题库 5.4 课时内容</a:t>
            </a:r>
          </a:p>
          <a:p xmlns:a="http://schemas.openxmlformats.org/drawingml/2006/main">
            <a:r>
              <a:t>backend/app/resources/content/question-bank-v1.json#lesson_theory_5_4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核心概念：差分隐私预算。结合要点解释定义、适用边界和验证方式。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NIST（美国国家标准与技术研究院）隐私框架</a:t>
            </a:r>
          </a:p>
          <a:p xmlns:a="http://schemas.openxmlformats.org/drawingml/2006/main">
            <a:r>
              <a:t>https://www.nist.gov/privacy-framework</a:t>
            </a:r>
          </a:p>
          <a:p xmlns:a="http://schemas.openxmlformats.org/drawingml/2006/main">
            <a:r>
              <a:t>2. 正式题库 5.4 课时内容</a:t>
            </a:r>
          </a:p>
          <a:p xmlns:a="http://schemas.openxmlformats.org/drawingml/2006/main">
            <a:r>
              <a:t>backend/app/resources/content/question-bank-v1.json#lesson_theory_5_4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核心概念：噪声与效用权衡。结合要点解释定义、适用边界和验证方式。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NIST（美国国家标准与技术研究院）隐私框架</a:t>
            </a:r>
          </a:p>
          <a:p xmlns:a="http://schemas.openxmlformats.org/drawingml/2006/main">
            <a:r>
              <a:t>https://www.nist.gov/privacy-framework</a:t>
            </a:r>
          </a:p>
          <a:p xmlns:a="http://schemas.openxmlformats.org/drawingml/2006/main">
            <a:r>
              <a:t>2. 正式题库 5.4 课时内容</a:t>
            </a:r>
          </a:p>
          <a:p xmlns:a="http://schemas.openxmlformats.org/drawingml/2006/main">
            <a:r>
              <a:t>backend/app/resources/content/question-bank-v1.json#lesson_theory_5_4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核心概念：MPC（安全多方计算）。结合要点解释定义、适用边界和验证方式。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NIST（美国国家标准与技术研究院）隐私框架</a:t>
            </a:r>
          </a:p>
          <a:p xmlns:a="http://schemas.openxmlformats.org/drawingml/2006/main">
            <a:r>
              <a:t>https://www.nist.gov/privacy-framework</a:t>
            </a:r>
          </a:p>
          <a:p xmlns:a="http://schemas.openxmlformats.org/drawingml/2006/main">
            <a:r>
              <a:t>2. 正式题库 5.4 课时内容</a:t>
            </a:r>
          </a:p>
          <a:p xmlns:a="http://schemas.openxmlformats.org/drawingml/2006/main">
            <a:r>
              <a:t>backend/app/resources/content/question-bank-v1.json#lesson_theory_5_4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核心概念：威胁模型与输入输出边界。结合要点解释定义、适用边界和验证方式。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NIST（美国国家标准与技术研究院）隐私框架</a:t>
            </a:r>
          </a:p>
          <a:p xmlns:a="http://schemas.openxmlformats.org/drawingml/2006/main">
            <a:r>
              <a:t>https://www.nist.gov/privacy-framework</a:t>
            </a:r>
          </a:p>
          <a:p xmlns:a="http://schemas.openxmlformats.org/drawingml/2006/main">
            <a:r>
              <a:t>2. 正式题库 5.4 课时内容</a:t>
            </a:r>
          </a:p>
          <a:p xmlns:a="http://schemas.openxmlformats.org/drawingml/2006/main">
            <a:r>
              <a:t>backend/app/resources/content/question-bank-v1.json#lesson_theory_5_4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NIST（美国国家标准与技术研究院）隐私框架</a:t>
            </a:r>
          </a:p>
          <a:p xmlns:a="http://schemas.openxmlformats.org/drawingml/2006/main">
            <a:r>
              <a:t>https://www.nist.gov/privacy-framework</a:t>
            </a:r>
          </a:p>
          <a:p xmlns:a="http://schemas.openxmlformats.org/drawingml/2006/main">
            <a:r>
              <a:t>2. 正式题库 5.4 课时内容</a:t>
            </a:r>
          </a:p>
          <a:p xmlns:a="http://schemas.openxmlformats.org/drawingml/2006/main">
            <a:r>
              <a:t>backend/app/resources/content/question-bank-v1.json#lesson_theory_5_4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NIST（美国国家标准与技术研究院）隐私框架</a:t>
            </a:r>
          </a:p>
          <a:p xmlns:a="http://schemas.openxmlformats.org/drawingml/2006/main">
            <a:r>
              <a:t>https://www.nist.gov/privacy-framework</a:t>
            </a:r>
          </a:p>
          <a:p xmlns:a="http://schemas.openxmlformats.org/drawingml/2006/main">
            <a:r>
              <a:t>2. 正式题库 5.4 课时内容</a:t>
            </a:r>
          </a:p>
          <a:p xmlns:a="http://schemas.openxmlformats.org/drawingml/2006/main">
            <a:r>
              <a:t>backend/app/resources/content/question-bank-v1.json#lesson_theory_5_4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188086f5414c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f49d28888e46aa" /><Relationship Type="http://schemas.openxmlformats.org/officeDocument/2006/relationships/slideLayout" Target="/ppt/slideLayouts/slideLayout1.xml" Id="R694dce10058d48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4dce10058d48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c0842f5974f09" /><Relationship Type="http://schemas.openxmlformats.org/officeDocument/2006/relationships/image" Target="/ppt/media/image.png" Id="R0b0a9436b7a84371" /><Relationship Type="http://schemas.openxmlformats.org/officeDocument/2006/relationships/notesSlide" Target="/ppt/notesSlides/notesSlide1.xml" Id="Rf2593fcba33c42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bded274904dd3" /><Relationship Type="http://schemas.openxmlformats.org/officeDocument/2006/relationships/notesSlide" Target="/ppt/notesSlides/notesSlide2.xml" Id="R5dea592dcbc243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344541012493b" /><Relationship Type="http://schemas.openxmlformats.org/officeDocument/2006/relationships/notesSlide" Target="/ppt/notesSlides/notesSlide3.xml" Id="R5e2a1685a3d145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66b884de14e32" /><Relationship Type="http://schemas.openxmlformats.org/officeDocument/2006/relationships/notesSlide" Target="/ppt/notesSlides/notesSlide4.xml" Id="Ra62d558bf6b340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6ad22e75243d9" /><Relationship Type="http://schemas.openxmlformats.org/officeDocument/2006/relationships/notesSlide" Target="/ppt/notesSlides/notesSlide5.xml" Id="Rba006c7117f541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ea7e51eb740a7" /><Relationship Type="http://schemas.openxmlformats.org/officeDocument/2006/relationships/notesSlide" Target="/ppt/notesSlides/notesSlide6.xml" Id="R4025026633ba4c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b4d8811624064" /><Relationship Type="http://schemas.openxmlformats.org/officeDocument/2006/relationships/notesSlide" Target="/ppt/notesSlides/notesSlide7.xml" Id="R18fd7ac1623f46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02314c4924f51" /><Relationship Type="http://schemas.openxmlformats.org/officeDocument/2006/relationships/notesSlide" Target="/ppt/notesSlides/notesSlide8.xml" Id="R74ba5f88356a44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a9436b7a8437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361DE-14A7-4C99-AEBC-A3010CE0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5 章  ·  5.4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5A421-9062-46A6-875A-02DDB0CA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隐私计算导论：差分隐私、安全多方计算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AB299-F8D9-4E54-B86F-304A2FF8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B39A6-DFFE-4A47-8B6D-6AFC16A5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13931268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08791-23F7-4A6F-A509-A0DACBB2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89157-1632-46C4-8CCB-4E1D34CF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5.4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5FF97-5BF2-4BA6-A2CF-C448BC10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45E72-E02B-4809-815D-6522B6BE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能够说明差分隐私通过受控噪声限制单个个体对查询结果的影响。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能够说明 MPC（安全多方计算）在不直接公开各方原始输入时完成联合计算的目标。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877EF-A999-4C4E-92A5-05BBBF03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A72D7-082F-4791-B9DB-BDF65841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差分隐私预算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噪声与效用权衡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MPC（安全多方计算）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威胁模型与输入输出边界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F94B9-B84C-422D-B45C-31FAE525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5.4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C15E9-7491-4562-87FD-0B959B8E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7535169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B0312-A079-48DB-A2D1-D2681C53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A0666-36E3-4F2F-B288-91EF9CAF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差分隐私预算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17F5B-2CA5-4071-8AF8-A9B32073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差分隐私预算量化单个个体对输出可辨识程度的上限，常用参数越小表示保护越强。多次查询会消耗并组合预算，因此必须在发布前规划、运行中计量。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E766B-F4DF-436B-BC68-389EC831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按人员、数据集和查询设置预算账户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相似查询也可能累积隐私损失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预算耗尽后拒绝或降低精度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记录参数、采样方式和组合规则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01138-737A-4E34-957F-F70AD68A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0A233-62FB-4BB7-A730-3035BE82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436060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274E7-FC65-4046-8D99-3D9A3229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F7F20-EB60-47C2-99B5-AAD68D1A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噪声与效用权衡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15EFF-B6B2-4049-8F80-173EEF62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差分隐私通过随机化降低从结果推断个体是否参与的能力，噪声规模受敏感度和隐私参数影响。噪声过少保护不足，过多则使统计失去决策价值。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576EC-B898-4268-B0AC-DDFD34FA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先限制单条记录对查询结果的最大影响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计数、均值等查询采用匹配的噪声机制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用误差区间说明统计不确定性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在真实业务阈值下评估结果可用性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05329-0511-4B54-A56D-4265B859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E5BCAD-5B3A-4CA3-860C-A384A2AF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884496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09732-B3D9-465F-974D-379205F9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44820-582B-41D5-BD15-9EB132A1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MPC（安全多方计算）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4436B-5F7C-494F-A606-FB82785E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MPC（安全多方计算）让多个参与方在不直接公开各自输入的条件下共同得到函数结果。安全保证取决于参与方是否串通、计算协议和网络假设，并不阻止结果本身泄露信息。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29550-652D-4B93-B87B-D9C56962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先明确半诚实或恶意参与方模型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只输出业务需要的聚合结果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验证参与方身份和输入格式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评估通信轮次与大规模数据性能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E0990-13F4-48B2-98D6-141CCCE9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B6DF5-3A4A-47D5-BFFB-E8363594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1032388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1E855-F96B-416A-B4A5-F96340B0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A1584-711B-4507-908C-BACEEA16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威胁模型与输入输出边界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E275F-934C-4ABE-BB56-7C2B583F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隐私计算方案必须说明攻击者掌握什么、可以控制哪些参与方以及希望保护哪些秘密。输入保护、计算过程保护和输出披露是不同边界，任何一处缺少约束都可能破坏整体目标。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CF6CE-1FCD-44FB-8E7A-D09EDC47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列出可信组件与可能失陷组件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限制异常输入和重复查询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输出执行最小化与再识别评估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不要把数据不出域等同于零泄露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8EB5D-3283-407C-9618-84630A04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9CFEB-F311-4970-B0B9-455F35E4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6621419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FD82A-8CE9-44DC-B4C1-EEE28D72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B9A3A-B6EA-4308-9082-88DFD06E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34237-1843-402E-9482-2EB52051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多所学校联合统计就业率时，各方不交换明细，只参与安全聚合；发布结果时再加入受控噪声降低对少数个体的推断风险。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40DF1-E896-4EB7-A546-2F0B8C6B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D355D-735E-4922-98AF-AB734CC8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AC739-6670-4962-9B48-F7D143DE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5.4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3D605-9C06-4780-91AD-2AB0F523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2345417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5C8B5-25D5-4F1E-940F-FAEE5F53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19D6D-CF3C-4A8D-9CD5-F4D128F0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差分隐私中的隐私预算为什么不能无限累积使用？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6E23E-C8E3-4548-A6B8-23421875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A42B9-03D9-4BB8-A65C-A4406761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重复查询会叠加信息泄露，预算用于量化和限制总体隐私损失，耗尽后应停止或调整发布策略。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E84C0-98BC-4635-98A3-C129AA06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5.4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4526F-D6B9-4718-AC45-E8A1F672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9859506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2026-09-21T18:11:12.6450000Z</dcterms:created>
  <dcterms:modified xsi:type="dcterms:W3CDTF">2026-09-21T18:11:12.6450000Z</dcterms:modified>
</coreProperties>
</file>