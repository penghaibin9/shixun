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3c69a24c5a4db5" /><Relationship Type="http://schemas.openxmlformats.org/officeDocument/2006/relationships/extended-properties" Target="/docProps/app.xml" Id="Rb43cb9fe5a0844f2" /><Relationship Type="http://schemas.openxmlformats.org/officeDocument/2006/relationships/officeDocument" Target="/ppt/presentation.xml" Id="Re3706f90771443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a2e2a95d154c79"/>
  </p:sldMasterIdLst>
  <p:notesMasterIdLst>
    <p:notesMasterId xmlns:r="http://schemas.openxmlformats.org/officeDocument/2006/relationships" r:id="R90fb23f45b63423b"/>
  </p:notesMasterIdLst>
  <p:sldIdLst>
    <p:sldId xmlns:r="http://schemas.openxmlformats.org/officeDocument/2006/relationships" id="256" r:id="R94671c22cacf4ee1"/>
    <p:sldId xmlns:r="http://schemas.openxmlformats.org/officeDocument/2006/relationships" id="257" r:id="R7ce671c0e89349bc"/>
    <p:sldId xmlns:r="http://schemas.openxmlformats.org/officeDocument/2006/relationships" id="258" r:id="R11739b3eb32a4ec3"/>
    <p:sldId xmlns:r="http://schemas.openxmlformats.org/officeDocument/2006/relationships" id="259" r:id="R2fed4149d3264c1e"/>
    <p:sldId xmlns:r="http://schemas.openxmlformats.org/officeDocument/2006/relationships" id="260" r:id="Rbb4f88276b3d4934"/>
    <p:sldId xmlns:r="http://schemas.openxmlformats.org/officeDocument/2006/relationships" id="261" r:id="R584db2417a424e50"/>
    <p:sldId xmlns:r="http://schemas.openxmlformats.org/officeDocument/2006/relationships" id="262" r:id="R98d51e1aa7294da0"/>
    <p:sldId xmlns:r="http://schemas.openxmlformats.org/officeDocument/2006/relationships" id="263" r:id="R4dfc7fdd31e244d8"/>
    <p:sldId xmlns:r="http://schemas.openxmlformats.org/officeDocument/2006/relationships" id="264" r:id="R4f4f129b0a624a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ee4ed37c6644fb" /><Relationship Type="http://schemas.openxmlformats.org/officeDocument/2006/relationships/slideMaster" Target="/ppt/slideMasters/slideMaster1.xml" Id="R4aa2e2a95d154c79" /><Relationship Type="http://schemas.openxmlformats.org/officeDocument/2006/relationships/notesMaster" Target="/ppt/notesMasters/notesMaster1.xml" Id="R90fb23f45b63423b" /><Relationship Type="http://schemas.openxmlformats.org/officeDocument/2006/relationships/presProps" Target="/ppt/presProps.xml" Id="R044a8023164044f5" /><Relationship Type="http://schemas.openxmlformats.org/officeDocument/2006/relationships/tableStyles" Target="/ppt/tableStyles.xml" Id="R69d40a9c66b94f62" /><Relationship Type="http://schemas.openxmlformats.org/officeDocument/2006/relationships/slide" Target="/ppt/slides/slide1.xml" Id="R94671c22cacf4ee1" /><Relationship Type="http://schemas.openxmlformats.org/officeDocument/2006/relationships/slide" Target="/ppt/slides/slide2.xml" Id="R7ce671c0e89349bc" /><Relationship Type="http://schemas.openxmlformats.org/officeDocument/2006/relationships/slide" Target="/ppt/slides/slide3.xml" Id="R11739b3eb32a4ec3" /><Relationship Type="http://schemas.openxmlformats.org/officeDocument/2006/relationships/slide" Target="/ppt/slides/slide4.xml" Id="R2fed4149d3264c1e" /><Relationship Type="http://schemas.openxmlformats.org/officeDocument/2006/relationships/slide" Target="/ppt/slides/slide5.xml" Id="Rbb4f88276b3d4934" /><Relationship Type="http://schemas.openxmlformats.org/officeDocument/2006/relationships/slide" Target="/ppt/slides/slide6.xml" Id="R584db2417a424e50" /><Relationship Type="http://schemas.openxmlformats.org/officeDocument/2006/relationships/slide" Target="/ppt/slides/slide7.xml" Id="R98d51e1aa7294da0" /><Relationship Type="http://schemas.openxmlformats.org/officeDocument/2006/relationships/slide" Target="/ppt/slides/slide8.xml" Id="R4dfc7fdd31e244d8" /><Relationship Type="http://schemas.openxmlformats.org/officeDocument/2006/relationships/slide" Target="/ppt/slides/slide9.xml" Id="R4f4f129b0a624a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ebb9010ef645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c461d8ba34416e" /><Relationship Type="http://schemas.openxmlformats.org/officeDocument/2006/relationships/notesMaster" Target="/ppt/notesMasters/notesMaster1.xml" Id="R8aeaf5b09b7745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80e16474fa45cb" /><Relationship Type="http://schemas.openxmlformats.org/officeDocument/2006/relationships/notesMaster" Target="/ppt/notesMasters/notesMaster1.xml" Id="R7d00f15e21714b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a73f001cf443e3" /><Relationship Type="http://schemas.openxmlformats.org/officeDocument/2006/relationships/notesMaster" Target="/ppt/notesMasters/notesMaster1.xml" Id="Rc534e47055c44f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ea917a97414d81" /><Relationship Type="http://schemas.openxmlformats.org/officeDocument/2006/relationships/notesMaster" Target="/ppt/notesMasters/notesMaster1.xml" Id="Rda82dd9fd79341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10a2ff4e054d12" /><Relationship Type="http://schemas.openxmlformats.org/officeDocument/2006/relationships/notesMaster" Target="/ppt/notesMasters/notesMaster1.xml" Id="R3914842ba85a4a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3b0faf08884fec" /><Relationship Type="http://schemas.openxmlformats.org/officeDocument/2006/relationships/notesMaster" Target="/ppt/notesMasters/notesMaster1.xml" Id="R38e0b41cbf5742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3a12cf6b9047d5" /><Relationship Type="http://schemas.openxmlformats.org/officeDocument/2006/relationships/notesMaster" Target="/ppt/notesMasters/notesMaster1.xml" Id="R2ef1b7bf140b46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11194bfe3f4f2f" /><Relationship Type="http://schemas.openxmlformats.org/officeDocument/2006/relationships/notesMaster" Target="/ppt/notesMasters/notesMaster1.xml" Id="R2ed4df9f9e0e4f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6171ed36d44bb6" /><Relationship Type="http://schemas.openxmlformats.org/officeDocument/2006/relationships/notesMaster" Target="/ppt/notesMasters/notesMaster1.xml" Id="R4bdd8e2921754a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6.2 课时内容</a:t>
            </a:r>
          </a:p>
          <a:p xmlns:a="http://schemas.openxmlformats.org/drawingml/2006/main">
            <a:r>
              <a:t>backend/app/resources/content/question-bank-v1.json#lesson_theory_6_2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6.2 课时内容</a:t>
            </a:r>
          </a:p>
          <a:p xmlns:a="http://schemas.openxmlformats.org/drawingml/2006/main">
            <a:r>
              <a:t>backend/app/resources/content/question-bank-v1.json#lesson_theory_6_2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核心概念：故障域隔离。结合要点解释定义、适用边界和验证方式。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6.2 课时内容</a:t>
            </a:r>
          </a:p>
          <a:p xmlns:a="http://schemas.openxmlformats.org/drawingml/2006/main">
            <a:r>
              <a:t>backend/app/resources/content/question-bank-v1.json#lesson_theory_6_2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核心概念：同步与异步复制。结合要点解释定义、适用边界和验证方式。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6.2 课时内容</a:t>
            </a:r>
          </a:p>
          <a:p xmlns:a="http://schemas.openxmlformats.org/drawingml/2006/main">
            <a:r>
              <a:t>backend/app/resources/content/question-bank-v1.json#lesson_theory_6_2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核心概念：双活切换。结合要点解释定义、适用边界和验证方式。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6.2 课时内容</a:t>
            </a:r>
          </a:p>
          <a:p xmlns:a="http://schemas.openxmlformats.org/drawingml/2006/main">
            <a:r>
              <a:t>backend/app/resources/content/question-bank-v1.json#lesson_theory_6_2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核心概念：两地三中心。结合要点解释定义、适用边界和验证方式。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6.2 课时内容</a:t>
            </a:r>
          </a:p>
          <a:p xmlns:a="http://schemas.openxmlformats.org/drawingml/2006/main">
            <a:r>
              <a:t>backend/app/resources/content/question-bank-v1.json#lesson_theory_6_2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核心概念：灾备演练。结合要点解释定义、适用边界和验证方式。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6.2 课时内容</a:t>
            </a:r>
          </a:p>
          <a:p xmlns:a="http://schemas.openxmlformats.org/drawingml/2006/main">
            <a:r>
              <a:t>backend/app/resources/content/question-bank-v1.json#lesson_theory_6_2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6.2 课时内容</a:t>
            </a:r>
          </a:p>
          <a:p xmlns:a="http://schemas.openxmlformats.org/drawingml/2006/main">
            <a:r>
              <a:t>backend/app/resources/content/question-bank-v1.json#lesson_theory_6_2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6.2 课时内容</a:t>
            </a:r>
          </a:p>
          <a:p xmlns:a="http://schemas.openxmlformats.org/drawingml/2006/main">
            <a:r>
              <a:t>backend/app/resources/content/question-bank-v1.json#lesson_theory_6_2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41800040b4d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04e4d836bb46f1" /><Relationship Type="http://schemas.openxmlformats.org/officeDocument/2006/relationships/slideLayout" Target="/ppt/slideLayouts/slideLayout1.xml" Id="R16239f93d0fc42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239f93d0fc42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9679998534e6a" /><Relationship Type="http://schemas.openxmlformats.org/officeDocument/2006/relationships/image" Target="/ppt/media/image.png" Id="R3a36c3a6a5fb42ab" /><Relationship Type="http://schemas.openxmlformats.org/officeDocument/2006/relationships/notesSlide" Target="/ppt/notesSlides/notesSlide1.xml" Id="R2d4807c23f4245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5f78bbc514d5f" /><Relationship Type="http://schemas.openxmlformats.org/officeDocument/2006/relationships/notesSlide" Target="/ppt/notesSlides/notesSlide2.xml" Id="R1b657da06726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a12b6a6344f2e" /><Relationship Type="http://schemas.openxmlformats.org/officeDocument/2006/relationships/notesSlide" Target="/ppt/notesSlides/notesSlide3.xml" Id="R0bc8711e40c446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2d2c3fd7a4068" /><Relationship Type="http://schemas.openxmlformats.org/officeDocument/2006/relationships/notesSlide" Target="/ppt/notesSlides/notesSlide4.xml" Id="Rb2868f34353a42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9d6b91a164992" /><Relationship Type="http://schemas.openxmlformats.org/officeDocument/2006/relationships/notesSlide" Target="/ppt/notesSlides/notesSlide5.xml" Id="Rd611c4f10c334f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a145556734323" /><Relationship Type="http://schemas.openxmlformats.org/officeDocument/2006/relationships/notesSlide" Target="/ppt/notesSlides/notesSlide6.xml" Id="R38a56ee7aee047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df261cdee4510" /><Relationship Type="http://schemas.openxmlformats.org/officeDocument/2006/relationships/notesSlide" Target="/ppt/notesSlides/notesSlide7.xml" Id="R5874d16df38c48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6175a06cd4fb9" /><Relationship Type="http://schemas.openxmlformats.org/officeDocument/2006/relationships/notesSlide" Target="/ppt/notesSlides/notesSlide8.xml" Id="R86246e5cfc5d46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3c12834864ef8" /><Relationship Type="http://schemas.openxmlformats.org/officeDocument/2006/relationships/notesSlide" Target="/ppt/notesSlides/notesSlide9.xml" Id="R180fa01e595245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6c3a6a5fb42a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9A982-1046-418E-858C-8D09B768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6 章  ·  6.2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4A4B2-3EFC-4D18-A6D5-E73D876A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灾备级别与灾备方案设计：双活、灾备、两地三中心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A7A7E-835E-44FE-A941-F8D5C300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BDE24-A1CA-484D-83CC-0B9BA3E1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365261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7D88A-4689-4D99-94C3-430EC65B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FC580-4BCB-4E34-A3CA-1EB7B1CA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6.2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7EABE-B651-4BC3-973C-9C7D134E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0E51B-7175-4B74-8081-E1F2201B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能够比较冷备、热备、主备、双活和两地三中心的恢复能力与成本。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能够基于故障域、数据一致性、切换方式和演练要求设计灾备方案。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024E1-F18F-474E-BA6F-48E1373B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CA0D4-F90F-4218-92D8-50A0751B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故障域隔离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同步与异步复制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双活切换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两地三中心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05  灾备演练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D3264-64AA-4450-8FC9-6811632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6.2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02A0C-AA8A-4A92-8C1D-4E93A426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63423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D9CA5-94CA-4E4E-9A48-9BD5148C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CE783-F155-4057-8CBB-234B673E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故障域隔离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CB450-0655-4085-962C-E1F4933F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故障域是一组可能被同一事件同时影响的组件，如同一机房、电力区或云区域。灾备副本若与生产共享故障域，逻辑上虽有冗余，区域故障时仍可能同时失效。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0F9C7-EF5A-4978-B58F-4B20EE76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识别电力、网络、账号和供应商共同依赖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副本跨越与目标灾害匹配的物理边界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管理平面和备份凭据也需隔离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定期验证实际部署而非只看架构图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E989F-FF31-431E-9BAE-EB7A524A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117B5-50DF-41ED-9F15-40A22C23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31351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72D19-54FE-4512-877A-6ED3053E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64B26-FCCF-4007-91C0-AF82E33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同步与异步复制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FF52C-21D4-4EDF-8AB6-43C4A7AD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同步复制在确认写入前要求多个副本完成，数据差距小但受网络时延影响；异步复制先确认本地再传输，性能较好但故障时可能丢失未复制数据。选择应由距离、延迟和 RPO（恢复点目标）共同决定。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E8EE6-833E-45B0-9038-378F5B8D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同步不等同于数据不会逻辑损坏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异步复制监测积压和延迟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误删可能被快速复制到所有副本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为历史回退保留独立备份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AD5E9-8D08-4DA1-8EEE-C1D6C439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1176E-02CD-427A-8B73-350203CD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009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8321F-F2DC-4303-82AD-2D7C507F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7BB10-5672-4AA2-8E9A-4D2F6527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双活切换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2B92C-F515-4602-8F42-29A95625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双活架构让两个站点同时提供服务，需要处理流量调度、数据一致性和冲突。切换设计必须防止两个站点在失联时各自写入导致脑裂。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A1D1C-0E62-48C2-87FE-11E567FA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明确健康判断和仲裁机制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配置幂等写入与冲突处理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切换前后校验会话和数据一致性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恢复原站点时执行受控回切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24FF6-B0BD-4C9A-8869-AFDFD696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A882C-DB21-4DC4-A837-33800F8A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41589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E33BD-7047-489A-BBD5-941DF2D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EBFFF-0BDF-472F-A297-75617639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两地三中心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A0A2E-C8D4-45E2-AAFF-C34C64A6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两地三中心通常在同城设置生产与灾备中心，并在异地保留另一个灾备中心，以兼顾快速切换和区域级灾害。实际保护能力取决于三中心的数据策略、故障独立性和可操作流程。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6FF42-77EE-447C-AF10-E13670B3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同城链路支持低延迟复制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异地中心应脱离同一灾害影响范围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清楚标明每个中心的运行角色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分别演练同城故障与区域故障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A7F8D-6519-4BAB-8700-55D9F35F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AF22B-7699-4F9E-8F0C-530CFC2B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473824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61324-FB6A-4C47-8E2F-CBA4324C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05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A41C1-EB95-463E-BFD4-550601D8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灾备演练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1DF7E-8255-4603-BE97-ABBBA13C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灾备演练用受控故障验证人员、流程、技术和数据是否能达到恢复目标。桌面推演适合检查职责，技术切换和业务验证才能证明系统真正可用。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F3067-33A3-45CE-836E-B4CA3548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演练前设定范围、成功标准和回退方案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注入真实但可控的故障条件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记录时间点、决策和阻断问题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整改后复测并更新预案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11E24-E499-4B12-A322-3BECD369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FE96A-222A-4AFC-AB95-5FBFDEEA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4903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24C84-F71F-4C71-B826-9022F643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2D644-8ED1-4EA6-A187-DCC799CE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6FBDA-B95E-45CA-B835-697B876F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核心平台在同城两个中心双活并向异地灾备中心复制，演练同时验证同城故障切换和区域级灾害下的异地恢复。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60651-C69C-409E-9A05-6C991C65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D960E-EDA4-4B7D-ABBF-1B73F732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87784-D463-474F-B3A7-F18B59F4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6.2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AA51C-CE98-446F-B9FE-96580C54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54895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49862-C398-4F7C-9648-C06AE990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39DA0-637F-48EC-8078-5D4FEE08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建设了灾备中心是否就等于能够恢复？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820CD-68B9-439E-93DB-BDDFC1DF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2F3D1-250E-4C24-AD72-C5EAABA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不等于；必须持续验证复制完整性、依赖关系、切换流程、人员协作和恢复后的业务可用性。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0B8D2-9060-4179-B581-B27A2A51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6.2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9663F-2C2E-432A-A58C-3E88EA8D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09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7874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2026-09-21T18:11:30.3800000Z</dcterms:created>
  <dcterms:modified xsi:type="dcterms:W3CDTF">2026-09-21T18:11:30.3800000Z</dcterms:modified>
</coreProperties>
</file>