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b9c55c17a94a7e" /><Relationship Type="http://schemas.openxmlformats.org/officeDocument/2006/relationships/extended-properties" Target="/docProps/app.xml" Id="Rf99701f9029a4c76" /><Relationship Type="http://schemas.openxmlformats.org/officeDocument/2006/relationships/officeDocument" Target="/ppt/presentation.xml" Id="Rdd60b159403f42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b7d2c2e14e42a0"/>
  </p:sldMasterIdLst>
  <p:notesMasterIdLst>
    <p:notesMasterId xmlns:r="http://schemas.openxmlformats.org/officeDocument/2006/relationships" r:id="Rd56c7db1ebbb4809"/>
  </p:notesMasterIdLst>
  <p:sldIdLst>
    <p:sldId xmlns:r="http://schemas.openxmlformats.org/officeDocument/2006/relationships" id="256" r:id="R306b2375d9164b54"/>
    <p:sldId xmlns:r="http://schemas.openxmlformats.org/officeDocument/2006/relationships" id="257" r:id="R8690113c4d4e4dd3"/>
    <p:sldId xmlns:r="http://schemas.openxmlformats.org/officeDocument/2006/relationships" id="258" r:id="Ra2d41e1eb4a94629"/>
    <p:sldId xmlns:r="http://schemas.openxmlformats.org/officeDocument/2006/relationships" id="259" r:id="R863b291820e8484f"/>
    <p:sldId xmlns:r="http://schemas.openxmlformats.org/officeDocument/2006/relationships" id="260" r:id="R59cf7b38a1c44d0d"/>
    <p:sldId xmlns:r="http://schemas.openxmlformats.org/officeDocument/2006/relationships" id="261" r:id="R36ec70bf6601411e"/>
    <p:sldId xmlns:r="http://schemas.openxmlformats.org/officeDocument/2006/relationships" id="262" r:id="Rec6e70c1bfe9412d"/>
    <p:sldId xmlns:r="http://schemas.openxmlformats.org/officeDocument/2006/relationships" id="263" r:id="Re8b69b027a1e4f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fc75636fe74109" /><Relationship Type="http://schemas.openxmlformats.org/officeDocument/2006/relationships/slideMaster" Target="/ppt/slideMasters/slideMaster1.xml" Id="R9cb7d2c2e14e42a0" /><Relationship Type="http://schemas.openxmlformats.org/officeDocument/2006/relationships/notesMaster" Target="/ppt/notesMasters/notesMaster1.xml" Id="Rd56c7db1ebbb4809" /><Relationship Type="http://schemas.openxmlformats.org/officeDocument/2006/relationships/presProps" Target="/ppt/presProps.xml" Id="R32cbcf757b6e41e8" /><Relationship Type="http://schemas.openxmlformats.org/officeDocument/2006/relationships/tableStyles" Target="/ppt/tableStyles.xml" Id="Rc8a7392f7a2741df" /><Relationship Type="http://schemas.openxmlformats.org/officeDocument/2006/relationships/slide" Target="/ppt/slides/slide1.xml" Id="R306b2375d9164b54" /><Relationship Type="http://schemas.openxmlformats.org/officeDocument/2006/relationships/slide" Target="/ppt/slides/slide2.xml" Id="R8690113c4d4e4dd3" /><Relationship Type="http://schemas.openxmlformats.org/officeDocument/2006/relationships/slide" Target="/ppt/slides/slide3.xml" Id="Ra2d41e1eb4a94629" /><Relationship Type="http://schemas.openxmlformats.org/officeDocument/2006/relationships/slide" Target="/ppt/slides/slide4.xml" Id="R863b291820e8484f" /><Relationship Type="http://schemas.openxmlformats.org/officeDocument/2006/relationships/slide" Target="/ppt/slides/slide5.xml" Id="R59cf7b38a1c44d0d" /><Relationship Type="http://schemas.openxmlformats.org/officeDocument/2006/relationships/slide" Target="/ppt/slides/slide6.xml" Id="R36ec70bf6601411e" /><Relationship Type="http://schemas.openxmlformats.org/officeDocument/2006/relationships/slide" Target="/ppt/slides/slide7.xml" Id="Rec6e70c1bfe9412d" /><Relationship Type="http://schemas.openxmlformats.org/officeDocument/2006/relationships/slide" Target="/ppt/slides/slide8.xml" Id="Re8b69b027a1e4f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035bd97dc44a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6579c259094917" /><Relationship Type="http://schemas.openxmlformats.org/officeDocument/2006/relationships/notesMaster" Target="/ppt/notesMasters/notesMaster1.xml" Id="R0f6a705e521a4d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6956ede0d7484b" /><Relationship Type="http://schemas.openxmlformats.org/officeDocument/2006/relationships/notesMaster" Target="/ppt/notesMasters/notesMaster1.xml" Id="R8bc0061d177641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1b40d6d6984f29" /><Relationship Type="http://schemas.openxmlformats.org/officeDocument/2006/relationships/notesMaster" Target="/ppt/notesMasters/notesMaster1.xml" Id="R2038537d3f524d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11b96e44714567" /><Relationship Type="http://schemas.openxmlformats.org/officeDocument/2006/relationships/notesMaster" Target="/ppt/notesMasters/notesMaster1.xml" Id="Rbc1ca95d1dec4d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5a14080f66402e" /><Relationship Type="http://schemas.openxmlformats.org/officeDocument/2006/relationships/notesMaster" Target="/ppt/notesMasters/notesMaster1.xml" Id="R395961119ec64c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aa3f3700714f3a" /><Relationship Type="http://schemas.openxmlformats.org/officeDocument/2006/relationships/notesMaster" Target="/ppt/notesMasters/notesMaster1.xml" Id="Rdc172d8f048848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8eb96b083345f6" /><Relationship Type="http://schemas.openxmlformats.org/officeDocument/2006/relationships/notesMaster" Target="/ppt/notesMasters/notesMaster1.xml" Id="R4ffc62a15c6b4c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f0a0aa044a4a51" /><Relationship Type="http://schemas.openxmlformats.org/officeDocument/2006/relationships/notesMaster" Target="/ppt/notesMasters/notesMaster1.xml" Id="R832fa944235249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封面。说明本课在课程蓝图中的位置，并用一个真实业务问题导入主题。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800-57 密钥管理指南</a:t>
            </a:r>
          </a:p>
          <a:p xmlns:a="http://schemas.openxmlformats.org/drawingml/2006/main">
            <a:r>
              <a:t>https://csrc.nist.gov/pubs/sp/800/57/pt1/r5/final</a:t>
            </a:r>
          </a:p>
          <a:p xmlns:a="http://schemas.openxmlformats.org/drawingml/2006/main">
            <a:r>
              <a:t>2. 正式题库 3.6 课时内容</a:t>
            </a:r>
          </a:p>
          <a:p xmlns:a="http://schemas.openxmlformats.org/drawingml/2006/main">
            <a:r>
              <a:t>backend/app/resources/content/question-bank-v1.json#lesson_theory_3_6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学习目标与知识结构。先说明目标，再解释各知识点之间的依赖关系。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800-57 密钥管理指南</a:t>
            </a:r>
          </a:p>
          <a:p xmlns:a="http://schemas.openxmlformats.org/drawingml/2006/main">
            <a:r>
              <a:t>https://csrc.nist.gov/pubs/sp/800/57/pt1/r5/final</a:t>
            </a:r>
          </a:p>
          <a:p xmlns:a="http://schemas.openxmlformats.org/drawingml/2006/main">
            <a:r>
              <a:t>2. 正式题库 3.6 课时内容</a:t>
            </a:r>
          </a:p>
          <a:p xmlns:a="http://schemas.openxmlformats.org/drawingml/2006/main">
            <a:r>
              <a:t>backend/app/resources/content/question-bank-v1.json#lesson_theory_3_6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核心概念：静态数据加密。结合要点解释定义、适用边界和验证方式。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800-57 密钥管理指南</a:t>
            </a:r>
          </a:p>
          <a:p xmlns:a="http://schemas.openxmlformats.org/drawingml/2006/main">
            <a:r>
              <a:t>https://csrc.nist.gov/pubs/sp/800/57/pt1/r5/final</a:t>
            </a:r>
          </a:p>
          <a:p xmlns:a="http://schemas.openxmlformats.org/drawingml/2006/main">
            <a:r>
              <a:t>2. 正式题库 3.6 课时内容</a:t>
            </a:r>
          </a:p>
          <a:p xmlns:a="http://schemas.openxmlformats.org/drawingml/2006/main">
            <a:r>
              <a:t>backend/app/resources/content/question-bank-v1.json#lesson_theory_3_6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核心概念：TLS（传输层安全协议）通道保护。结合要点解释定义、适用边界和验证方式。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800-57 密钥管理指南</a:t>
            </a:r>
          </a:p>
          <a:p xmlns:a="http://schemas.openxmlformats.org/drawingml/2006/main">
            <a:r>
              <a:t>https://csrc.nist.gov/pubs/sp/800/57/pt1/r5/final</a:t>
            </a:r>
          </a:p>
          <a:p xmlns:a="http://schemas.openxmlformats.org/drawingml/2006/main">
            <a:r>
              <a:t>2. 正式题库 3.6 课时内容</a:t>
            </a:r>
          </a:p>
          <a:p xmlns:a="http://schemas.openxmlformats.org/drawingml/2006/main">
            <a:r>
              <a:t>backend/app/resources/content/question-bank-v1.json#lesson_theory_3_6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核心概念：端到端信源保护。结合要点解释定义、适用边界和验证方式。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800-57 密钥管理指南</a:t>
            </a:r>
          </a:p>
          <a:p xmlns:a="http://schemas.openxmlformats.org/drawingml/2006/main">
            <a:r>
              <a:t>https://csrc.nist.gov/pubs/sp/800/57/pt1/r5/final</a:t>
            </a:r>
          </a:p>
          <a:p xmlns:a="http://schemas.openxmlformats.org/drawingml/2006/main">
            <a:r>
              <a:t>2. 正式题库 3.6 课时内容</a:t>
            </a:r>
          </a:p>
          <a:p xmlns:a="http://schemas.openxmlformats.org/drawingml/2006/main">
            <a:r>
              <a:t>backend/app/resources/content/question-bank-v1.json#lesson_theory_3_6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核心概念：密钥生命周期。结合要点解释定义、适用边界和验证方式。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800-57 密钥管理指南</a:t>
            </a:r>
          </a:p>
          <a:p xmlns:a="http://schemas.openxmlformats.org/drawingml/2006/main">
            <a:r>
              <a:t>https://csrc.nist.gov/pubs/sp/800/57/pt1/r5/final</a:t>
            </a:r>
          </a:p>
          <a:p xmlns:a="http://schemas.openxmlformats.org/drawingml/2006/main">
            <a:r>
              <a:t>2. 正式题库 3.6 课时内容</a:t>
            </a:r>
          </a:p>
          <a:p xmlns:a="http://schemas.openxmlformats.org/drawingml/2006/main">
            <a:r>
              <a:t>backend/app/resources/content/question-bank-v1.json#lesson_theory_3_6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业务案例。引导学生先识别事实，再提出控制方案和可验证证据。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800-57 密钥管理指南</a:t>
            </a:r>
          </a:p>
          <a:p xmlns:a="http://schemas.openxmlformats.org/drawingml/2006/main">
            <a:r>
              <a:t>https://csrc.nist.gov/pubs/sp/800/57/pt1/r5/final</a:t>
            </a:r>
          </a:p>
          <a:p xmlns:a="http://schemas.openxmlformats.org/drawingml/2006/main">
            <a:r>
              <a:t>2. 正式题库 3.6 课时内容</a:t>
            </a:r>
          </a:p>
          <a:p xmlns:a="http://schemas.openxmlformats.org/drawingml/2006/main">
            <a:r>
              <a:t>backend/app/resources/content/question-bank-v1.json#lesson_theory_3_6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知识检查。先让学生独立回答，再展示参考答案并回到本课学习目标。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800-57 密钥管理指南</a:t>
            </a:r>
          </a:p>
          <a:p xmlns:a="http://schemas.openxmlformats.org/drawingml/2006/main">
            <a:r>
              <a:t>https://csrc.nist.gov/pubs/sp/800/57/pt1/r5/final</a:t>
            </a:r>
          </a:p>
          <a:p xmlns:a="http://schemas.openxmlformats.org/drawingml/2006/main">
            <a:r>
              <a:t>2. 正式题库 3.6 课时内容</a:t>
            </a:r>
          </a:p>
          <a:p xmlns:a="http://schemas.openxmlformats.org/drawingml/2006/main">
            <a:r>
              <a:t>backend/app/resources/content/question-bank-v1.json#lesson_theory_3_6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62408ddab845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16ea9cb13240f8" /><Relationship Type="http://schemas.openxmlformats.org/officeDocument/2006/relationships/slideLayout" Target="/ppt/slideLayouts/slideLayout1.xml" Id="R75483e228ad848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483e228ad848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f19a48ec84da2" /><Relationship Type="http://schemas.openxmlformats.org/officeDocument/2006/relationships/image" Target="/ppt/media/image.png" Id="R2a81a2c7f6bf4756" /><Relationship Type="http://schemas.openxmlformats.org/officeDocument/2006/relationships/notesSlide" Target="/ppt/notesSlides/notesSlide1.xml" Id="Rb8fec5af15774b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b37df9b6e4305" /><Relationship Type="http://schemas.openxmlformats.org/officeDocument/2006/relationships/notesSlide" Target="/ppt/notesSlides/notesSlide2.xml" Id="Re9d1bea98c4e48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926be1c7645e8" /><Relationship Type="http://schemas.openxmlformats.org/officeDocument/2006/relationships/notesSlide" Target="/ppt/notesSlides/notesSlide3.xml" Id="Rb3cf3e16c89f44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f681220ef42bd" /><Relationship Type="http://schemas.openxmlformats.org/officeDocument/2006/relationships/notesSlide" Target="/ppt/notesSlides/notesSlide4.xml" Id="R08164e6257544a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81bf93d704e91" /><Relationship Type="http://schemas.openxmlformats.org/officeDocument/2006/relationships/notesSlide" Target="/ppt/notesSlides/notesSlide5.xml" Id="Rcac0465080ac4c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f686c5b044c24" /><Relationship Type="http://schemas.openxmlformats.org/officeDocument/2006/relationships/notesSlide" Target="/ppt/notesSlides/notesSlide6.xml" Id="R020166a90caf4e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9a842ebbb4667" /><Relationship Type="http://schemas.openxmlformats.org/officeDocument/2006/relationships/notesSlide" Target="/ppt/notesSlides/notesSlide7.xml" Id="Re064909951a142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3f5fb9b064870" /><Relationship Type="http://schemas.openxmlformats.org/officeDocument/2006/relationships/notesSlide" Target="/ppt/notesSlides/notesSlide8.xml" Id="Rc3b90041fa4a40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1a2c7f6bf475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12FEA-A4C9-4B47-91DF-AE306CC5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第 3 章  ·  3.6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27672-3ABD-412C-876C-0264208E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数据存储加密（内容加密/磁盘加密）与传输加密（信源加密/通道加密）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316E0-EE8F-4DA0-8960-CCCE5963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数据安全技术基础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FFBCC-8690-4613-8463-D7D53B6C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跃科网络空间安全实训平台</a:t>
            </a:r>
          </a:p>
        </p:txBody>
      </p:sp>
    </p:spTree>
    <p:extLst>
      <p:ext uri="{BB962C8B-B14F-4D97-AF65-F5344CB8AC3E}">
        <p14:creationId xmlns:p14="http://schemas.microsoft.com/office/powerpoint/2010/main" val="13901623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F10392-20D3-48BF-8198-1503A8AF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本课目标与知识结构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AC717-2489-4ACF-B237-079D3352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3.6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04AF9-0521-455B-B9B7-29D1A0F7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DC81BD-8AA1-4215-B299-5BC7E219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能够比较内容加密、磁盘加密、信源加密和通道加密的保护边界。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能够设计同时覆盖静态数据、传输链路、密钥生命周期和解密后访问的组合方案。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8AA5D-530A-42B6-921B-928D5220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知识结构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EC1E53-3E80-4BF1-9348-C369E52D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143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静态数据加密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TLS（传输层安全协议）通道保护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03  端到端信源保护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04  密钥生命周期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CFDCB-B9A5-4137-B159-77927663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3.6  数据安全技术基础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B4D7D-DDF2-4213-B7DF-5388EFDF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7385414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59939B-B4B9-41E5-9DD9-16CFA4D6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01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B1D8D-75AC-4EA4-BA81-A7D09EDB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静态数据加密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E0781-7208-471F-A7CF-0A31A23D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静态数据加密保护存储介质、文件、数据库或字段中的数据，重点应对设备丢失、介质泄露和存储副本暴露。系统解锁或应用取得密钥后仍可能读取明文，因此不能替代身份和权限控制。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80FA3-2340-40DB-9617-3D350DD1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磁盘加密主要保护离线介质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字段加密可缩小数据库泄露影响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备份和快照也要纳入加密范围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密钥不得与密文共置且无额外保护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E018D-5A1B-47A2-9201-6EA99E7E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3.6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B47E6-57D4-44B6-87CB-8E98259A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2653641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AAD322-8280-4F38-BB7D-97260742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02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F4673-C47C-4FD1-B8DA-1A80BC94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TLS（传输层安全协议）通道保护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CB51F-EE99-4CEB-BC47-E4F7E092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TLS（传输层安全协议）在通信端点之间协商密钥并保护传输的机密性和完整性。它依赖证书校验和安全配置，不能防止合法端点读取或滥用解密后的数据。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44670-9524-405A-B519-E1D31393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客户端必须校验证书名称和信任链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禁用过时协议与弱密码套件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转发代理会形成新的解密边界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HTTPS（超文本传输安全协议） 不能替代服务端访问控制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782B59-9639-4B00-84DF-A818C010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3.6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C300D5-1784-4BC0-836C-6DAD32E1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4184159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AE5F9-C702-4432-8E0C-79B85AC6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03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E5352-DC93-4422-A604-43840A36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端到端信源保护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0E47B-343F-4F11-B218-752E49F1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端到端信源保护在数据产生端加密，仅由预期接收者解密，中间节点只处理密文。它能缩小对传输和存储基础设施的信任，但会增加密钥分发、检索和审计难度。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C9369-DB6A-4033-8D91-3F27B743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明确真正的加密端点和解密端点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中间服务不应持有明文密钥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元数据可能仍暴露通信关系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密钥丢失可能导致数据永久不可恢复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62165-9240-4BB2-A8EA-230CD351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3.6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C4257-0480-474D-8C15-52713D27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2602696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5BA3F-9C3E-4924-8D43-7CAAA6E6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04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EE8D4-BC1F-46A4-B16B-F75D98E2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密钥生命周期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FB1DF-A64F-47E0-A9E4-933235BE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密钥生命周期涵盖生成、分发、激活、使用、轮换、归档、吊销和销毁。每个阶段都应限制权限并留存状态证据，否则强算法也可能因密钥管理失败而失效。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16745-44D1-44C2-9662-4FD3175B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使用合格随机源生成足够强度的密钥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按用途和环境分离密钥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到期或泄露时及时轮换与吊销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销毁需覆盖缓存、备份和硬件副本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29EAF-2850-4706-B72B-1F389E20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3.6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0D6AA-1AD8-4F11-9523-D78B60F4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3335328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8238CC-97BA-4923-B274-2544BFA9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业务案例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155BA-BA9E-4339-98CD-C0062573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把概念放回真实决策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8C1FF6-FD28-47EC-850C-FB5D1D46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笔记本用磁盘加密防范设备丢失，数据库敏感字段再做内容加密，接口通过 TLS（传输层安全协议）传输，同时保留应用层授权。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2ED5A-6FCD-4106-B9FD-B13E86CE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课堂讨论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E13FE-F70A-4D0E-971A-5F14F107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案例中的核心数据资产、威胁和责任主体分别是什么？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优先控制措施是什么，如何用日志、测试或指标验证效果？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哪些边界条件变化后，需要重新评估方案？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46269-54AF-4C10-9F3A-6115F9E1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3.6  数据安全技术基础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944AD-8E63-44B2-BB4E-BE7E0B7A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6597910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78063A-14A9-4782-B5EB-58ED782F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知识检查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23790-2ED6-46BD-A7D6-89E85054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76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启用 HTTPS（超文本传输安全协议）后为什么仍需数据库访问控制？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4F9CD-1620-4D38-ADF8-0720F6B2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rPr>
              <a:t>参考答案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F807F-9BC2-410B-82AB-3CBD9DCC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HTTPS（超文本传输安全协议）只保护传输通道，数据到达端点并解密后仍可能被越权读取。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7C262-05EB-4740-BF5D-55220A96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3.6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85EB7E-ECB9-4DE8-A028-BB2EBECC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08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774166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2026-09-21T18:10:36.7870000Z</dcterms:created>
  <dcterms:modified xsi:type="dcterms:W3CDTF">2026-09-21T18:10:36.7870000Z</dcterms:modified>
</coreProperties>
</file>