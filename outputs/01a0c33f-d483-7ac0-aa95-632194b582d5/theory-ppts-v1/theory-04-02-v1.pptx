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28825773ca4081" /><Relationship Type="http://schemas.openxmlformats.org/officeDocument/2006/relationships/extended-properties" Target="/docProps/app.xml" Id="R76e497fdf7ff4e70" /><Relationship Type="http://schemas.openxmlformats.org/officeDocument/2006/relationships/officeDocument" Target="/ppt/presentation.xml" Id="R39f9f63cfe654015" /></Relationships>
</file>

<file path=ppt/presentation.xml><?xml version="1.0" encoding="utf-8"?>
<p:presentation xmlns:p="http://schemas.openxmlformats.org/presentationml/2006/main">
  <p:sldMasterIdLst>
    <p:sldMasterId xmlns:r="http://schemas.openxmlformats.org/officeDocument/2006/relationships" id="2147483648" r:id="Rb7f48808b0f24a0a"/>
  </p:sldMasterIdLst>
  <p:notesMasterIdLst>
    <p:notesMasterId xmlns:r="http://schemas.openxmlformats.org/officeDocument/2006/relationships" r:id="Rc28b3ca413b04fe5"/>
  </p:notesMasterIdLst>
  <p:sldIdLst>
    <p:sldId xmlns:r="http://schemas.openxmlformats.org/officeDocument/2006/relationships" id="256" r:id="Rec103e042aea416d"/>
    <p:sldId xmlns:r="http://schemas.openxmlformats.org/officeDocument/2006/relationships" id="257" r:id="Re9943d16894242bb"/>
    <p:sldId xmlns:r="http://schemas.openxmlformats.org/officeDocument/2006/relationships" id="258" r:id="R6a3148e9e7e64716"/>
    <p:sldId xmlns:r="http://schemas.openxmlformats.org/officeDocument/2006/relationships" id="259" r:id="Ra3750cf6ecd849b7"/>
    <p:sldId xmlns:r="http://schemas.openxmlformats.org/officeDocument/2006/relationships" id="260" r:id="Rf5c60eb009184083"/>
    <p:sldId xmlns:r="http://schemas.openxmlformats.org/officeDocument/2006/relationships" id="261" r:id="R9ac536d586fe4025"/>
    <p:sldId xmlns:r="http://schemas.openxmlformats.org/officeDocument/2006/relationships" id="262" r:id="Rb9c4e05a3ff34bb5"/>
    <p:sldId xmlns:r="http://schemas.openxmlformats.org/officeDocument/2006/relationships" id="263" r:id="Rc8997b3d8d954edb"/>
    <p:sldId xmlns:r="http://schemas.openxmlformats.org/officeDocument/2006/relationships" id="264" r:id="R8af25ac483f040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c58b3471514e9a" /><Relationship Type="http://schemas.openxmlformats.org/officeDocument/2006/relationships/slideMaster" Target="/ppt/slideMasters/slideMaster1.xml" Id="Rb7f48808b0f24a0a" /><Relationship Type="http://schemas.openxmlformats.org/officeDocument/2006/relationships/notesMaster" Target="/ppt/notesMasters/notesMaster1.xml" Id="Rc28b3ca413b04fe5" /><Relationship Type="http://schemas.openxmlformats.org/officeDocument/2006/relationships/presProps" Target="/ppt/presProps.xml" Id="Rb0782d19a800463b" /><Relationship Type="http://schemas.openxmlformats.org/officeDocument/2006/relationships/tableStyles" Target="/ppt/tableStyles.xml" Id="R43765513cbcc4b40" /><Relationship Type="http://schemas.openxmlformats.org/officeDocument/2006/relationships/slide" Target="/ppt/slides/slide1.xml" Id="Rec103e042aea416d" /><Relationship Type="http://schemas.openxmlformats.org/officeDocument/2006/relationships/slide" Target="/ppt/slides/slide2.xml" Id="Re9943d16894242bb" /><Relationship Type="http://schemas.openxmlformats.org/officeDocument/2006/relationships/slide" Target="/ppt/slides/slide3.xml" Id="R6a3148e9e7e64716" /><Relationship Type="http://schemas.openxmlformats.org/officeDocument/2006/relationships/slide" Target="/ppt/slides/slide4.xml" Id="Ra3750cf6ecd849b7" /><Relationship Type="http://schemas.openxmlformats.org/officeDocument/2006/relationships/slide" Target="/ppt/slides/slide5.xml" Id="Rf5c60eb009184083" /><Relationship Type="http://schemas.openxmlformats.org/officeDocument/2006/relationships/slide" Target="/ppt/slides/slide6.xml" Id="R9ac536d586fe4025" /><Relationship Type="http://schemas.openxmlformats.org/officeDocument/2006/relationships/slide" Target="/ppt/slides/slide7.xml" Id="Rb9c4e05a3ff34bb5" /><Relationship Type="http://schemas.openxmlformats.org/officeDocument/2006/relationships/slide" Target="/ppt/slides/slide8.xml" Id="Rc8997b3d8d954edb" /><Relationship Type="http://schemas.openxmlformats.org/officeDocument/2006/relationships/slide" Target="/ppt/slides/slide9.xml" Id="R8af25ac483f040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408b4f36f749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f247e56ed84a3d" /><Relationship Type="http://schemas.openxmlformats.org/officeDocument/2006/relationships/notesMaster" Target="/ppt/notesMasters/notesMaster1.xml" Id="R9f393a7d3fa143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2131443c7f483e" /><Relationship Type="http://schemas.openxmlformats.org/officeDocument/2006/relationships/notesMaster" Target="/ppt/notesMasters/notesMaster1.xml" Id="Rc6d77bec5e7e4f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8daff1e0db4cd2" /><Relationship Type="http://schemas.openxmlformats.org/officeDocument/2006/relationships/notesMaster" Target="/ppt/notesMasters/notesMaster1.xml" Id="Ra71ddff3e24848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0e5ab05a8d4979" /><Relationship Type="http://schemas.openxmlformats.org/officeDocument/2006/relationships/notesMaster" Target="/ppt/notesMasters/notesMaster1.xml" Id="Ra9181c94a16749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c8873c2a1b49a1" /><Relationship Type="http://schemas.openxmlformats.org/officeDocument/2006/relationships/notesMaster" Target="/ppt/notesMasters/notesMaster1.xml" Id="R55399f32f5364d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883c7328fc4520" /><Relationship Type="http://schemas.openxmlformats.org/officeDocument/2006/relationships/notesMaster" Target="/ppt/notesMasters/notesMaster1.xml" Id="R848336ca012240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afc578d0dd4108" /><Relationship Type="http://schemas.openxmlformats.org/officeDocument/2006/relationships/notesMaster" Target="/ppt/notesMasters/notesMaster1.xml" Id="Raf43128b39b545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3775f48ed44961" /><Relationship Type="http://schemas.openxmlformats.org/officeDocument/2006/relationships/notesMaster" Target="/ppt/notesMasters/notesMaster1.xml" Id="R9ac0559df99842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2026c6e2bd4027" /><Relationship Type="http://schemas.openxmlformats.org/officeDocument/2006/relationships/notesMaster" Target="/ppt/notesMasters/notesMaster1.xml" Id="Rd76de0d5bce94b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封面。说明本课在课程蓝图中的位置，并用一个真实业务问题导入主题。</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学习目标与知识结构。先说明目标，再解释各知识点之间的依赖关系。</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核心概念：替换与仿真。结合要点解释定义、适用边界和验证方式。</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核心概念：加密与令牌化。结合要点解释定义、适用边界和验证方式。</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核心概念：遮掩与混淆。结合要点解释定义、适用边界和验证方式。</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核心概念：偏移与取整。结合要点解释定义、适用边界和验证方式。</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核心概念：重识别风险。结合要点解释定义、适用边界和验证方式。</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业务案例。引导学生先识别事实，再提出控制方案和可验证证据。</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知识检查。先让学生独立回答，再展示参考答案并回到本课学习目标。</a:t>
            </a:r>
          </a:p>
          <a:p xmlns:a="http://schemas.openxmlformats.org/drawingml/2006/main">
            <a:r>
              <a:t/>
            </a:r>
          </a:p>
          <a:p xmlns:a="http://schemas.openxmlformats.org/drawingml/2006/main">
            <a:r>
              <a:t>资料来源：</a:t>
            </a:r>
          </a:p>
          <a:p xmlns:a="http://schemas.openxmlformats.org/drawingml/2006/main">
            <a:r>
              <a:t>1. 《中华人民共和国个人信息保护法》</a:t>
            </a:r>
          </a:p>
          <a:p xmlns:a="http://schemas.openxmlformats.org/drawingml/2006/main">
            <a:r>
              <a:t>https://www.npc.gov.cn/npc/c2/c30834/202108/t20210820_313088.html</a:t>
            </a:r>
          </a:p>
          <a:p xmlns:a="http://schemas.openxmlformats.org/drawingml/2006/main">
            <a:r>
              <a:t>2. 正式题库 4.2 课时内容</a:t>
            </a:r>
          </a:p>
          <a:p xmlns:a="http://schemas.openxmlformats.org/drawingml/2006/main">
            <a:r>
              <a:t>backend/app/resources/content/question-bank-v1.json#lesson_theory_4_2</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cc4ee0c1e84a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6ad80285204c71" /><Relationship Type="http://schemas.openxmlformats.org/officeDocument/2006/relationships/slideLayout" Target="/ppt/slideLayouts/slideLayout1.xml" Id="Rdea735d29f9f4c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a735d29f9f4c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3ac900ddb34198" /><Relationship Type="http://schemas.openxmlformats.org/officeDocument/2006/relationships/image" Target="/ppt/media/image.png" Id="R98fcb42c80e643a1" /><Relationship Type="http://schemas.openxmlformats.org/officeDocument/2006/relationships/notesSlide" Target="/ppt/notesSlides/notesSlide1.xml" Id="R28964824aba74d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df5a22040440eb" /><Relationship Type="http://schemas.openxmlformats.org/officeDocument/2006/relationships/notesSlide" Target="/ppt/notesSlides/notesSlide2.xml" Id="R29fc305fbe6a4d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ba5dc051644f4d" /><Relationship Type="http://schemas.openxmlformats.org/officeDocument/2006/relationships/notesSlide" Target="/ppt/notesSlides/notesSlide3.xml" Id="R50b4bfbbf1e94d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bcc184ba6f400d" /><Relationship Type="http://schemas.openxmlformats.org/officeDocument/2006/relationships/notesSlide" Target="/ppt/notesSlides/notesSlide4.xml" Id="R1b7d93bec5a145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4fd812725e4559" /><Relationship Type="http://schemas.openxmlformats.org/officeDocument/2006/relationships/notesSlide" Target="/ppt/notesSlides/notesSlide5.xml" Id="Rf1eb8aa0d19740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63780e384d4b15" /><Relationship Type="http://schemas.openxmlformats.org/officeDocument/2006/relationships/notesSlide" Target="/ppt/notesSlides/notesSlide6.xml" Id="R1609c3564a234f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d88fe313bc4ffe" /><Relationship Type="http://schemas.openxmlformats.org/officeDocument/2006/relationships/notesSlide" Target="/ppt/notesSlides/notesSlide7.xml" Id="Re3378744530f43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935f8e45e04fae" /><Relationship Type="http://schemas.openxmlformats.org/officeDocument/2006/relationships/notesSlide" Target="/ppt/notesSlides/notesSlide8.xml" Id="R71ec0903ee924b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c311a4953d432b" /><Relationship Type="http://schemas.openxmlformats.org/officeDocument/2006/relationships/notesSlide" Target="/ppt/notesSlides/notesSlide9.xml" Id="Rddd3160de3854cb3" /></Relationships>
</file>

<file path=ppt/slides/slide1.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8fcb42c80e643a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512A87-971F-41FD-A013-215FE3448DCF}"/>
              </a:ext>
            </a:extLst>
          </p:cNvPr>
          <p:cNvSpPr>
            <a:spLocks xmlns:a="http://schemas.openxmlformats.org/drawingml/2006/main" noGrp="1"/>
          </p:cNvSpPr>
          <p:nvPr/>
        </p:nvSpPr>
        <p:spPr>
          <a:xfrm xmlns:a="http://schemas.openxmlformats.org/drawingml/2006/main">
            <a:off x="666750" y="8572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CE7FF"/>
                </a:solidFill>
                <a:latin typeface="Microsoft YaHei"/>
                <a:ea typeface="Microsoft YaHei"/>
                <a:cs typeface="Microsoft YaHei"/>
              </a:defRPr>
            </a:pPr>
            <a:r>
              <a:rPr sz="1350" b="1">
                <a:solidFill>
                  <a:srgbClr val="DCE7FF"/>
                </a:solidFill>
                <a:latin typeface="Microsoft YaHei"/>
                <a:ea typeface="Microsoft YaHei"/>
                <a:cs typeface="Microsoft YaHei"/>
              </a:rPr>
              <a:t>第 4 章  ·  4.2</a:t>
            </a:r>
          </a:p>
        </p:txBody>
      </p:sp>
      <p:sp>
        <p:nvSpPr>
          <p:cNvPr id="3" name="">
            <a:extLst xmlns:a="http://schemas.openxmlformats.org/drawingml/2006/main">
              <a:ext uri="{FF2B5EF4-FFF2-40B4-BE49-F238E27FC236}">
                <a16:creationId xmlns:a16="http://schemas.microsoft.com/office/drawing/2014/main" id="{EF339FA1-6643-437E-8DCD-24860E19AD86}"/>
              </a:ext>
            </a:extLst>
          </p:cNvPr>
          <p:cNvSpPr>
            <a:spLocks xmlns:a="http://schemas.openxmlformats.org/drawingml/2006/main" noGrp="1"/>
          </p:cNvSpPr>
          <p:nvPr/>
        </p:nvSpPr>
        <p:spPr>
          <a:xfrm xmlns:a="http://schemas.openxmlformats.org/drawingml/2006/main">
            <a:off x="666750" y="1619250"/>
            <a:ext cx="571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Microsoft YaHei"/>
                <a:ea typeface="Microsoft YaHei"/>
                <a:cs typeface="Microsoft YaHei"/>
              </a:defRPr>
            </a:pPr>
            <a:r>
              <a:rPr sz="3150" b="1">
                <a:solidFill>
                  <a:srgbClr val="FFFFFF"/>
                </a:solidFill>
                <a:latin typeface="Microsoft YaHei"/>
                <a:ea typeface="Microsoft YaHei"/>
                <a:cs typeface="Microsoft YaHei"/>
              </a:rPr>
              <a:t>经典脱敏算法（替换/仿真/加密/遮掩/混淆/偏移/取整）</a:t>
            </a:r>
          </a:p>
        </p:txBody>
      </p:sp>
      <p:sp>
        <p:nvSpPr>
          <p:cNvPr id="4" name="">
            <a:extLst xmlns:a="http://schemas.openxmlformats.org/drawingml/2006/main">
              <a:ext uri="{FF2B5EF4-FFF2-40B4-BE49-F238E27FC236}">
                <a16:creationId xmlns:a16="http://schemas.microsoft.com/office/drawing/2014/main" id="{BC7CB4C5-9F79-4FD5-BD0B-665B401960D5}"/>
              </a:ext>
            </a:extLst>
          </p:cNvPr>
          <p:cNvSpPr>
            <a:spLocks xmlns:a="http://schemas.openxmlformats.org/drawingml/2006/main" noGrp="1"/>
          </p:cNvSpPr>
          <p:nvPr/>
        </p:nvSpPr>
        <p:spPr>
          <a:xfrm xmlns:a="http://schemas.openxmlformats.org/drawingml/2006/main">
            <a:off x="666750" y="4914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数据安全技术基础</a:t>
            </a:r>
          </a:p>
        </p:txBody>
      </p:sp>
      <p:sp>
        <p:nvSpPr>
          <p:cNvPr id="5" name="">
            <a:extLst xmlns:a="http://schemas.openxmlformats.org/drawingml/2006/main">
              <a:ext uri="{FF2B5EF4-FFF2-40B4-BE49-F238E27FC236}">
                <a16:creationId xmlns:a16="http://schemas.microsoft.com/office/drawing/2014/main" id="{6A5FABD1-C22B-48AF-A4CC-07CE0D95C5CE}"/>
              </a:ext>
            </a:extLst>
          </p:cNvPr>
          <p:cNvSpPr>
            <a:spLocks xmlns:a="http://schemas.openxmlformats.org/drawingml/2006/main" noGrp="1"/>
          </p:cNvSpPr>
          <p:nvPr/>
        </p:nvSpPr>
        <p:spPr>
          <a:xfrm xmlns:a="http://schemas.openxmlformats.org/drawingml/2006/main">
            <a:off x="666750" y="55816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CE7FF"/>
                </a:solidFill>
                <a:latin typeface="Microsoft YaHei"/>
                <a:ea typeface="Microsoft YaHei"/>
                <a:cs typeface="Microsoft YaHei"/>
              </a:defRPr>
            </a:pPr>
            <a:r>
              <a:rPr sz="1200" b="0">
                <a:solidFill>
                  <a:srgbClr val="DCE7FF"/>
                </a:solidFill>
                <a:latin typeface="Microsoft YaHei"/>
                <a:ea typeface="Microsoft YaHei"/>
                <a:cs typeface="Microsoft YaHei"/>
              </a:rPr>
              <a:t>跃科网络空间安全实训平台</a:t>
            </a:r>
          </a:p>
        </p:txBody>
      </p:sp>
    </p:spTree>
    <p:extLst>
      <p:ext uri="{BB962C8B-B14F-4D97-AF65-F5344CB8AC3E}">
        <p14:creationId xmlns:p14="http://schemas.microsoft.com/office/powerpoint/2010/main" val="472784149"/>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E5FCFE-B329-4651-A9D0-C4A4A0A513DE}"/>
              </a:ext>
            </a:extLst>
          </p:cNvPr>
          <p:cNvSpPr>
            <a:spLocks xmlns:a="http://schemas.openxmlformats.org/drawingml/2006/main" noGrp="1"/>
          </p:cNvSpPr>
          <p:nvPr/>
        </p:nvSpPr>
        <p:spPr>
          <a:xfrm xmlns:a="http://schemas.openxmlformats.org/drawingml/2006/main">
            <a:off x="609600" y="43815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033"/>
                </a:solidFill>
                <a:latin typeface="Microsoft YaHei"/>
                <a:ea typeface="Microsoft YaHei"/>
                <a:cs typeface="Microsoft YaHei"/>
              </a:defRPr>
            </a:pPr>
            <a:r>
              <a:rPr sz="2550" b="1">
                <a:solidFill>
                  <a:srgbClr val="172033"/>
                </a:solidFill>
                <a:latin typeface="Microsoft YaHei"/>
                <a:ea typeface="Microsoft YaHei"/>
                <a:cs typeface="Microsoft YaHei"/>
              </a:rPr>
              <a:t>本课目标与知识结构</a:t>
            </a:r>
          </a:p>
        </p:txBody>
      </p:sp>
      <p:sp>
        <p:nvSpPr>
          <p:cNvPr id="2" name="">
            <a:extLst xmlns:a="http://schemas.openxmlformats.org/drawingml/2006/main">
              <a:ext uri="{FF2B5EF4-FFF2-40B4-BE49-F238E27FC236}">
                <a16:creationId xmlns:a16="http://schemas.microsoft.com/office/drawing/2014/main" id="{549B877E-CC5B-468E-95D0-2E500CC14D29}"/>
              </a:ext>
            </a:extLst>
          </p:cNvPr>
          <p:cNvSpPr>
            <a:spLocks xmlns:a="http://schemas.openxmlformats.org/drawingml/2006/main" noGrp="1"/>
          </p:cNvSpPr>
          <p:nvPr/>
        </p:nvSpPr>
        <p:spPr>
          <a:xfrm xmlns:a="http://schemas.openxmlformats.org/drawingml/2006/main">
            <a:off x="9906000" y="361950"/>
            <a:ext cx="167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57F5"/>
                </a:solidFill>
                <a:latin typeface="Microsoft YaHei"/>
                <a:ea typeface="Microsoft YaHei"/>
                <a:cs typeface="Microsoft YaHei"/>
              </a:defRPr>
            </a:pPr>
            <a:r>
              <a:rPr sz="3150" b="1">
                <a:solidFill>
                  <a:srgbClr val="2457F5"/>
                </a:solidFill>
                <a:latin typeface="Microsoft YaHei"/>
                <a:ea typeface="Microsoft YaHei"/>
                <a:cs typeface="Microsoft YaHei"/>
              </a:rPr>
              <a:t>4.2</a:t>
            </a:r>
          </a:p>
        </p:txBody>
      </p:sp>
      <p:sp>
        <p:nvSpPr>
          <p:cNvPr id="3" name="">
            <a:extLst xmlns:a="http://schemas.openxmlformats.org/drawingml/2006/main">
              <a:ext uri="{FF2B5EF4-FFF2-40B4-BE49-F238E27FC236}">
                <a16:creationId xmlns:a16="http://schemas.microsoft.com/office/drawing/2014/main" id="{F211EE15-D79E-421F-AA83-D50719A64974}"/>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学习目标</a:t>
            </a:r>
          </a:p>
        </p:txBody>
      </p:sp>
      <p:sp>
        <p:nvSpPr>
          <p:cNvPr id="4" name="">
            <a:extLst xmlns:a="http://schemas.openxmlformats.org/drawingml/2006/main">
              <a:ext uri="{FF2B5EF4-FFF2-40B4-BE49-F238E27FC236}">
                <a16:creationId xmlns:a16="http://schemas.microsoft.com/office/drawing/2014/main" id="{3FF4D758-27AB-4D7B-97FB-40EA56F136E0}"/>
              </a:ext>
            </a:extLst>
          </p:cNvPr>
          <p:cNvSpPr>
            <a:spLocks xmlns:a="http://schemas.openxmlformats.org/drawingml/2006/main" noGrp="1"/>
          </p:cNvSpPr>
          <p:nvPr/>
        </p:nvSpPr>
        <p:spPr>
          <a:xfrm xmlns:a="http://schemas.openxmlformats.org/drawingml/2006/main">
            <a:off x="685800" y="2000250"/>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01  能够说明替换、仿真、加密、遮掩、混淆、偏移和取整的处理特点。</a:t>
            </a:r>
          </a:p>
          <a:p xmlns:a="http://schemas.openxmlformats.org/drawingml/2006/main">
            <a:r>
              <a:t/>
            </a:r>
          </a:p>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02  能够依据可逆性、格式保真、统计可用性和重识别风险选择脱敏方法。</a:t>
            </a:r>
          </a:p>
        </p:txBody>
      </p:sp>
      <p:sp>
        <p:nvSpPr>
          <p:cNvPr id="5" name="">
            <a:extLst xmlns:a="http://schemas.openxmlformats.org/drawingml/2006/main">
              <a:ext uri="{FF2B5EF4-FFF2-40B4-BE49-F238E27FC236}">
                <a16:creationId xmlns:a16="http://schemas.microsoft.com/office/drawing/2014/main" id="{FCC205B4-DBE1-4309-9DCD-BC001D52DD61}"/>
              </a:ext>
            </a:extLst>
          </p:cNvPr>
          <p:cNvSpPr>
            <a:spLocks xmlns:a="http://schemas.openxmlformats.org/drawingml/2006/main" noGrp="1"/>
          </p:cNvSpPr>
          <p:nvPr/>
        </p:nvSpPr>
        <p:spPr>
          <a:xfrm xmlns:a="http://schemas.openxmlformats.org/drawingml/2006/main">
            <a:off x="619125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知识结构</a:t>
            </a:r>
          </a:p>
        </p:txBody>
      </p:sp>
      <p:sp>
        <p:nvSpPr>
          <p:cNvPr id="6" name="">
            <a:extLst xmlns:a="http://schemas.openxmlformats.org/drawingml/2006/main">
              <a:ext uri="{FF2B5EF4-FFF2-40B4-BE49-F238E27FC236}">
                <a16:creationId xmlns:a16="http://schemas.microsoft.com/office/drawing/2014/main" id="{D0EB4867-AA97-443B-8399-308878F9EE0C}"/>
              </a:ext>
            </a:extLst>
          </p:cNvPr>
          <p:cNvSpPr>
            <a:spLocks xmlns:a="http://schemas.openxmlformats.org/drawingml/2006/main" noGrp="1"/>
          </p:cNvSpPr>
          <p:nvPr/>
        </p:nvSpPr>
        <p:spPr>
          <a:xfrm xmlns:a="http://schemas.openxmlformats.org/drawingml/2006/main">
            <a:off x="6191250" y="2000250"/>
            <a:ext cx="5143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01  替换与仿真</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02  加密与令牌化</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03  遮掩与混淆</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04  偏移与取整</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05  重识别风险</a:t>
            </a:r>
          </a:p>
        </p:txBody>
      </p:sp>
      <p:sp>
        <p:nvSpPr>
          <p:cNvPr id="7" name="">
            <a:extLst xmlns:a="http://schemas.openxmlformats.org/drawingml/2006/main">
              <a:ext uri="{FF2B5EF4-FFF2-40B4-BE49-F238E27FC236}">
                <a16:creationId xmlns:a16="http://schemas.microsoft.com/office/drawing/2014/main" id="{DAF26F26-F7CF-464C-965B-08EDA45144BE}"/>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8" name="">
            <a:extLst xmlns:a="http://schemas.openxmlformats.org/drawingml/2006/main">
              <a:ext uri="{FF2B5EF4-FFF2-40B4-BE49-F238E27FC236}">
                <a16:creationId xmlns:a16="http://schemas.microsoft.com/office/drawing/2014/main" id="{2701D1AF-710F-4BA0-B747-925FD8A34160}"/>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02  来源与版权信息见演讲者备注</a:t>
            </a:r>
          </a:p>
        </p:txBody>
      </p:sp>
    </p:spTree>
    <p:extLst>
      <p:ext uri="{BB962C8B-B14F-4D97-AF65-F5344CB8AC3E}">
        <p14:creationId xmlns:p14="http://schemas.microsoft.com/office/powerpoint/2010/main" val="20186089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60E15A-D853-4CCD-BDCF-6059488D2E55}"/>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01  核心概念</a:t>
            </a:r>
          </a:p>
        </p:txBody>
      </p:sp>
      <p:sp>
        <p:nvSpPr>
          <p:cNvPr id="2" name="">
            <a:extLst xmlns:a="http://schemas.openxmlformats.org/drawingml/2006/main">
              <a:ext uri="{FF2B5EF4-FFF2-40B4-BE49-F238E27FC236}">
                <a16:creationId xmlns:a16="http://schemas.microsoft.com/office/drawing/2014/main" id="{9E2D8B26-AAD3-4012-A791-9BF007D0C945}"/>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替换与仿真</a:t>
            </a:r>
          </a:p>
        </p:txBody>
      </p:sp>
      <p:sp>
        <p:nvSpPr>
          <p:cNvPr id="3" name="">
            <a:extLst xmlns:a="http://schemas.openxmlformats.org/drawingml/2006/main">
              <a:ext uri="{FF2B5EF4-FFF2-40B4-BE49-F238E27FC236}">
                <a16:creationId xmlns:a16="http://schemas.microsoft.com/office/drawing/2014/main" id="{3DA0E713-724D-4F17-8E6D-B005296C18DA}"/>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替换用预设值或映射值代替原数据，仿真则生成格式和分布相似但不指向真实主体的数据。稳定映射可保持关联分析，却也可能增加跨表重识别风险。</a:t>
            </a:r>
          </a:p>
        </p:txBody>
      </p:sp>
      <p:sp>
        <p:nvSpPr>
          <p:cNvPr id="4" name="">
            <a:extLst xmlns:a="http://schemas.openxmlformats.org/drawingml/2006/main">
              <a:ext uri="{FF2B5EF4-FFF2-40B4-BE49-F238E27FC236}">
                <a16:creationId xmlns:a16="http://schemas.microsoft.com/office/drawing/2014/main" id="{23987878-ADB0-4DBE-8373-E89C68D3B222}"/>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测试数据优先使用无真实身份的仿真值</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需要跨表关联时采用受控一致映射</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替换字典和映射表本身属于敏感资产</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验证格式约束与唯一性是否仍满足</a:t>
            </a:r>
          </a:p>
        </p:txBody>
      </p:sp>
      <p:sp>
        <p:nvSpPr>
          <p:cNvPr id="5" name="">
            <a:extLst xmlns:a="http://schemas.openxmlformats.org/drawingml/2006/main">
              <a:ext uri="{FF2B5EF4-FFF2-40B4-BE49-F238E27FC236}">
                <a16:creationId xmlns:a16="http://schemas.microsoft.com/office/drawing/2014/main" id="{43579E06-2AF5-447A-854E-6B0469989EC1}"/>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B3DE4A39-8845-4C2A-97DB-0E3126686418}"/>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03  来源与版权信息见演讲者备注</a:t>
            </a:r>
          </a:p>
        </p:txBody>
      </p:sp>
    </p:spTree>
    <p:extLst>
      <p:ext uri="{BB962C8B-B14F-4D97-AF65-F5344CB8AC3E}">
        <p14:creationId xmlns:p14="http://schemas.microsoft.com/office/powerpoint/2010/main" val="1974770978"/>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EF3366-ABA6-4E3C-80F9-EF4599EE7280}"/>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02  核心概念</a:t>
            </a:r>
          </a:p>
        </p:txBody>
      </p:sp>
      <p:sp>
        <p:nvSpPr>
          <p:cNvPr id="2" name="">
            <a:extLst xmlns:a="http://schemas.openxmlformats.org/drawingml/2006/main">
              <a:ext uri="{FF2B5EF4-FFF2-40B4-BE49-F238E27FC236}">
                <a16:creationId xmlns:a16="http://schemas.microsoft.com/office/drawing/2014/main" id="{D7961705-3CB3-4CD0-A864-8349C33A4DEC}"/>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加密与令牌化</a:t>
            </a:r>
          </a:p>
        </p:txBody>
      </p:sp>
      <p:sp>
        <p:nvSpPr>
          <p:cNvPr id="3" name="">
            <a:extLst xmlns:a="http://schemas.openxmlformats.org/drawingml/2006/main">
              <a:ext uri="{FF2B5EF4-FFF2-40B4-BE49-F238E27FC236}">
                <a16:creationId xmlns:a16="http://schemas.microsoft.com/office/drawing/2014/main" id="{8C42F07A-347E-4A68-BBFF-0C726A091F2C}"/>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加密通过密钥把原值变成密文，令牌化用无业务含义的令牌替代原值并在受控系统保存映射。两者都可能支持恢复原值，因此访问密钥或令牌库必须受严格限制。</a:t>
            </a:r>
          </a:p>
        </p:txBody>
      </p:sp>
      <p:sp>
        <p:nvSpPr>
          <p:cNvPr id="4" name="">
            <a:extLst xmlns:a="http://schemas.openxmlformats.org/drawingml/2006/main">
              <a:ext uri="{FF2B5EF4-FFF2-40B4-BE49-F238E27FC236}">
                <a16:creationId xmlns:a16="http://schemas.microsoft.com/office/drawing/2014/main" id="{7F16028E-C837-4181-87A8-A72D0AD218D6}"/>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按是否需要还原选择可逆方案</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令牌格式可设计为兼容原有字段</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密钥和映射库应与业务数据隔离</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普通查询结果不应暴露解密能力</a:t>
            </a:r>
          </a:p>
        </p:txBody>
      </p:sp>
      <p:sp>
        <p:nvSpPr>
          <p:cNvPr id="5" name="">
            <a:extLst xmlns:a="http://schemas.openxmlformats.org/drawingml/2006/main">
              <a:ext uri="{FF2B5EF4-FFF2-40B4-BE49-F238E27FC236}">
                <a16:creationId xmlns:a16="http://schemas.microsoft.com/office/drawing/2014/main" id="{F23C2A5D-A617-47E9-909C-066795ADF050}"/>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773A2DF5-FF6C-473D-A387-E37AB26111A4}"/>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04  来源与版权信息见演讲者备注</a:t>
            </a:r>
          </a:p>
        </p:txBody>
      </p:sp>
    </p:spTree>
    <p:extLst>
      <p:ext uri="{BB962C8B-B14F-4D97-AF65-F5344CB8AC3E}">
        <p14:creationId xmlns:p14="http://schemas.microsoft.com/office/powerpoint/2010/main" val="9182669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AD0A23-26C5-47A3-AFD5-C585A5B5F8C7}"/>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03  核心概念</a:t>
            </a:r>
          </a:p>
        </p:txBody>
      </p:sp>
      <p:sp>
        <p:nvSpPr>
          <p:cNvPr id="2" name="">
            <a:extLst xmlns:a="http://schemas.openxmlformats.org/drawingml/2006/main">
              <a:ext uri="{FF2B5EF4-FFF2-40B4-BE49-F238E27FC236}">
                <a16:creationId xmlns:a16="http://schemas.microsoft.com/office/drawing/2014/main" id="{2D3CED2B-F843-4594-80B0-6998CB04CED7}"/>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遮掩与混淆</a:t>
            </a:r>
          </a:p>
        </p:txBody>
      </p:sp>
      <p:sp>
        <p:nvSpPr>
          <p:cNvPr id="3" name="">
            <a:extLst xmlns:a="http://schemas.openxmlformats.org/drawingml/2006/main">
              <a:ext uri="{FF2B5EF4-FFF2-40B4-BE49-F238E27FC236}">
                <a16:creationId xmlns:a16="http://schemas.microsoft.com/office/drawing/2014/main" id="{7C3F6412-3D06-4143-B27D-0DC797808082}"/>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遮掩隐藏部分字符，适合页面展示；混淆通过交换或扰动降低记录的直接可读性。它们通常保留一定格式，但不能自动消除与外部数据关联后的识别风险。</a:t>
            </a:r>
          </a:p>
        </p:txBody>
      </p:sp>
      <p:sp>
        <p:nvSpPr>
          <p:cNvPr id="4" name="">
            <a:extLst xmlns:a="http://schemas.openxmlformats.org/drawingml/2006/main">
              <a:ext uri="{FF2B5EF4-FFF2-40B4-BE49-F238E27FC236}">
                <a16:creationId xmlns:a16="http://schemas.microsoft.com/office/drawing/2014/main" id="{EDB06E18-09A7-4B6D-9E3A-DFE5E7BA9C0A}"/>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仅展示业务所需的前后少量字符</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遮掩应在服务端响应前完成</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混淆后检查统计用途是否仍成立</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不要把视觉遮挡等同于原值已删除</a:t>
            </a:r>
          </a:p>
        </p:txBody>
      </p:sp>
      <p:sp>
        <p:nvSpPr>
          <p:cNvPr id="5" name="">
            <a:extLst xmlns:a="http://schemas.openxmlformats.org/drawingml/2006/main">
              <a:ext uri="{FF2B5EF4-FFF2-40B4-BE49-F238E27FC236}">
                <a16:creationId xmlns:a16="http://schemas.microsoft.com/office/drawing/2014/main" id="{399B98FF-8C7F-4CC9-B4CD-9BA1DD87D3FA}"/>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7AE09DD4-5923-48C8-81F2-71E20E31A69E}"/>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05  来源与版权信息见演讲者备注</a:t>
            </a:r>
          </a:p>
        </p:txBody>
      </p:sp>
    </p:spTree>
    <p:extLst>
      <p:ext uri="{BB962C8B-B14F-4D97-AF65-F5344CB8AC3E}">
        <p14:creationId xmlns:p14="http://schemas.microsoft.com/office/powerpoint/2010/main" val="154788409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12CF3F-694E-4BAF-B62B-00FE2F25DBFC}"/>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04  核心概念</a:t>
            </a:r>
          </a:p>
        </p:txBody>
      </p:sp>
      <p:sp>
        <p:nvSpPr>
          <p:cNvPr id="2" name="">
            <a:extLst xmlns:a="http://schemas.openxmlformats.org/drawingml/2006/main">
              <a:ext uri="{FF2B5EF4-FFF2-40B4-BE49-F238E27FC236}">
                <a16:creationId xmlns:a16="http://schemas.microsoft.com/office/drawing/2014/main" id="{59B5C471-535E-48E8-AE1C-7BFA754D4627}"/>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偏移与取整</a:t>
            </a:r>
          </a:p>
        </p:txBody>
      </p:sp>
      <p:sp>
        <p:nvSpPr>
          <p:cNvPr id="3" name="">
            <a:extLst xmlns:a="http://schemas.openxmlformats.org/drawingml/2006/main">
              <a:ext uri="{FF2B5EF4-FFF2-40B4-BE49-F238E27FC236}">
                <a16:creationId xmlns:a16="http://schemas.microsoft.com/office/drawing/2014/main" id="{B396BCCE-9A7B-45EB-B0BF-23763968A2AD}"/>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偏移按固定或受控随机量调整数值，取整把精确值归入较粗粒度区间。两者可保留趋势并降低精确识别，但参数过小或分组过细仍可能泄露个体信息。</a:t>
            </a:r>
          </a:p>
        </p:txBody>
      </p:sp>
      <p:sp>
        <p:nvSpPr>
          <p:cNvPr id="4" name="">
            <a:extLst xmlns:a="http://schemas.openxmlformats.org/drawingml/2006/main">
              <a:ext uri="{FF2B5EF4-FFF2-40B4-BE49-F238E27FC236}">
                <a16:creationId xmlns:a16="http://schemas.microsoft.com/office/drawing/2014/main" id="{02B09C5A-90D2-4A96-BB4B-CABE75A9D9D2}"/>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日期偏移需保持先后关系和合理范围</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金额取整要评估对统计结果的偏差</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同一主体多字段偏移应保持逻辑一致</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偏移参数必须受保护并防止逆推</a:t>
            </a:r>
          </a:p>
        </p:txBody>
      </p:sp>
      <p:sp>
        <p:nvSpPr>
          <p:cNvPr id="5" name="">
            <a:extLst xmlns:a="http://schemas.openxmlformats.org/drawingml/2006/main">
              <a:ext uri="{FF2B5EF4-FFF2-40B4-BE49-F238E27FC236}">
                <a16:creationId xmlns:a16="http://schemas.microsoft.com/office/drawing/2014/main" id="{7A69F3FB-1E9F-4DF4-89D6-9C34BCDD5BA9}"/>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54666C70-D14F-4B7E-BEFC-81BFAE026BE1}"/>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06  来源与版权信息见演讲者备注</a:t>
            </a:r>
          </a:p>
        </p:txBody>
      </p:sp>
    </p:spTree>
    <p:extLst>
      <p:ext uri="{BB962C8B-B14F-4D97-AF65-F5344CB8AC3E}">
        <p14:creationId xmlns:p14="http://schemas.microsoft.com/office/powerpoint/2010/main" val="1400128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244B44-42A8-4BE2-8C0F-B52F6A5207E4}"/>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05  核心概念</a:t>
            </a:r>
          </a:p>
        </p:txBody>
      </p:sp>
      <p:sp>
        <p:nvSpPr>
          <p:cNvPr id="2" name="">
            <a:extLst xmlns:a="http://schemas.openxmlformats.org/drawingml/2006/main">
              <a:ext uri="{FF2B5EF4-FFF2-40B4-BE49-F238E27FC236}">
                <a16:creationId xmlns:a16="http://schemas.microsoft.com/office/drawing/2014/main" id="{175AC31B-D9DB-4721-8A03-09317BBCBAD3}"/>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重识别风险</a:t>
            </a:r>
          </a:p>
        </p:txBody>
      </p:sp>
      <p:sp>
        <p:nvSpPr>
          <p:cNvPr id="3" name="">
            <a:extLst xmlns:a="http://schemas.openxmlformats.org/drawingml/2006/main">
              <a:ext uri="{FF2B5EF4-FFF2-40B4-BE49-F238E27FC236}">
                <a16:creationId xmlns:a16="http://schemas.microsoft.com/office/drawing/2014/main" id="{98E269F9-08B8-4672-B3B5-2C85F81BE69D}"/>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重识别是把已去除直接标识的数据与准标识或外部信息结合后恢复到具体主体。风险取决于数据粒度、稀有组合、攻击者背景知识和可获得的辅助数据。</a:t>
            </a:r>
          </a:p>
        </p:txBody>
      </p:sp>
      <p:sp>
        <p:nvSpPr>
          <p:cNvPr id="4" name="">
            <a:extLst xmlns:a="http://schemas.openxmlformats.org/drawingml/2006/main">
              <a:ext uri="{FF2B5EF4-FFF2-40B4-BE49-F238E27FC236}">
                <a16:creationId xmlns:a16="http://schemas.microsoft.com/office/drawing/2014/main" id="{0FD6E8E2-00E7-43FC-BB14-B3F975268985}"/>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检查年龄、地区和职业等组合唯一性</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评估公开数据能否与样本连接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发布前进行攻击视角的重识别测试</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降低粒度并限制访问可共同控制风险</a:t>
            </a:r>
          </a:p>
        </p:txBody>
      </p:sp>
      <p:sp>
        <p:nvSpPr>
          <p:cNvPr id="5" name="">
            <a:extLst xmlns:a="http://schemas.openxmlformats.org/drawingml/2006/main">
              <a:ext uri="{FF2B5EF4-FFF2-40B4-BE49-F238E27FC236}">
                <a16:creationId xmlns:a16="http://schemas.microsoft.com/office/drawing/2014/main" id="{E22F661A-BE44-440B-93A4-5AC771B00369}"/>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086AA17A-5E92-44D8-B50B-20444DD5A0D8}"/>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07  来源与版权信息见演讲者备注</a:t>
            </a:r>
          </a:p>
        </p:txBody>
      </p:sp>
    </p:spTree>
    <p:extLst>
      <p:ext uri="{BB962C8B-B14F-4D97-AF65-F5344CB8AC3E}">
        <p14:creationId xmlns:p14="http://schemas.microsoft.com/office/powerpoint/2010/main" val="1128243351"/>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6437F4-1E5C-4861-8C73-6AEEA8E304F6}"/>
              </a:ext>
            </a:extLst>
          </p:cNvPr>
          <p:cNvSpPr>
            <a:spLocks xmlns:a="http://schemas.openxmlformats.org/drawingml/2006/main" noGrp="1"/>
          </p:cNvSpPr>
          <p:nvPr/>
        </p:nvSpPr>
        <p:spPr>
          <a:xfrm xmlns:a="http://schemas.openxmlformats.org/drawingml/2006/main">
            <a:off x="628650" y="438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457F5"/>
                </a:solidFill>
                <a:latin typeface="Microsoft YaHei"/>
                <a:ea typeface="Microsoft YaHei"/>
                <a:cs typeface="Microsoft YaHei"/>
              </a:defRPr>
            </a:pPr>
            <a:r>
              <a:rPr sz="1500" b="1">
                <a:solidFill>
                  <a:srgbClr val="2457F5"/>
                </a:solidFill>
                <a:latin typeface="Microsoft YaHei"/>
                <a:ea typeface="Microsoft YaHei"/>
                <a:cs typeface="Microsoft YaHei"/>
              </a:rPr>
              <a:t>业务案例</a:t>
            </a:r>
          </a:p>
        </p:txBody>
      </p:sp>
      <p:sp>
        <p:nvSpPr>
          <p:cNvPr id="2" name="">
            <a:extLst xmlns:a="http://schemas.openxmlformats.org/drawingml/2006/main">
              <a:ext uri="{FF2B5EF4-FFF2-40B4-BE49-F238E27FC236}">
                <a16:creationId xmlns:a16="http://schemas.microsoft.com/office/drawing/2014/main" id="{0B5C7A21-6045-4AD6-9A1B-23DA3525A842}"/>
              </a:ext>
            </a:extLst>
          </p:cNvPr>
          <p:cNvSpPr>
            <a:spLocks xmlns:a="http://schemas.openxmlformats.org/drawingml/2006/main" noGrp="1"/>
          </p:cNvSpPr>
          <p:nvPr/>
        </p:nvSpPr>
        <p:spPr>
          <a:xfrm xmlns:a="http://schemas.openxmlformats.org/drawingml/2006/main">
            <a:off x="628650" y="10287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把概念放回真实决策</a:t>
            </a:r>
          </a:p>
        </p:txBody>
      </p:sp>
      <p:sp>
        <p:nvSpPr>
          <p:cNvPr id="3" name="">
            <a:extLst xmlns:a="http://schemas.openxmlformats.org/drawingml/2006/main">
              <a:ext uri="{FF2B5EF4-FFF2-40B4-BE49-F238E27FC236}">
                <a16:creationId xmlns:a16="http://schemas.microsoft.com/office/drawing/2014/main" id="{000F4FED-1188-40C7-80CB-1520D46C8DDA}"/>
              </a:ext>
            </a:extLst>
          </p:cNvPr>
          <p:cNvSpPr>
            <a:spLocks xmlns:a="http://schemas.openxmlformats.org/drawingml/2006/main" noGrp="1"/>
          </p:cNvSpPr>
          <p:nvPr/>
        </p:nvSpPr>
        <p:spPr>
          <a:xfrm xmlns:a="http://schemas.openxmlformats.org/drawingml/2006/main">
            <a:off x="628650" y="2133600"/>
            <a:ext cx="10858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Microsoft YaHei"/>
                <a:ea typeface="Microsoft YaHei"/>
                <a:cs typeface="Microsoft YaHei"/>
              </a:defRPr>
            </a:pPr>
            <a:r>
              <a:rPr sz="2025" b="0">
                <a:solidFill>
                  <a:srgbClr val="172033"/>
                </a:solidFill>
                <a:latin typeface="Microsoft YaHei"/>
                <a:ea typeface="Microsoft YaHei"/>
                <a:cs typeface="Microsoft YaHei"/>
              </a:rPr>
              <a:t>测试库把姓名替换为仿真假名、手机号中间四位遮掩、生日统一偏移随机天数，并在导出前检查组合字段是否还能识别个人。</a:t>
            </a:r>
          </a:p>
        </p:txBody>
      </p:sp>
      <p:sp>
        <p:nvSpPr>
          <p:cNvPr id="4" name="">
            <a:extLst xmlns:a="http://schemas.openxmlformats.org/drawingml/2006/main">
              <a:ext uri="{FF2B5EF4-FFF2-40B4-BE49-F238E27FC236}">
                <a16:creationId xmlns:a16="http://schemas.microsoft.com/office/drawing/2014/main" id="{187828AB-F3E3-4141-9E30-08E466ABAF11}"/>
              </a:ext>
            </a:extLst>
          </p:cNvPr>
          <p:cNvSpPr>
            <a:spLocks xmlns:a="http://schemas.openxmlformats.org/drawingml/2006/main" noGrp="1"/>
          </p:cNvSpPr>
          <p:nvPr/>
        </p:nvSpPr>
        <p:spPr>
          <a:xfrm xmlns:a="http://schemas.openxmlformats.org/drawingml/2006/main">
            <a:off x="628650" y="4248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46CD"/>
                </a:solidFill>
                <a:latin typeface="Microsoft YaHei"/>
                <a:ea typeface="Microsoft YaHei"/>
                <a:cs typeface="Microsoft YaHei"/>
              </a:defRPr>
            </a:pPr>
            <a:r>
              <a:rPr sz="1425" b="1">
                <a:solidFill>
                  <a:srgbClr val="1846CD"/>
                </a:solidFill>
                <a:latin typeface="Microsoft YaHei"/>
                <a:ea typeface="Microsoft YaHei"/>
                <a:cs typeface="Microsoft YaHei"/>
              </a:rPr>
              <a:t>课堂讨论</a:t>
            </a:r>
          </a:p>
        </p:txBody>
      </p:sp>
      <p:sp>
        <p:nvSpPr>
          <p:cNvPr id="5" name="">
            <a:extLst xmlns:a="http://schemas.openxmlformats.org/drawingml/2006/main">
              <a:ext uri="{FF2B5EF4-FFF2-40B4-BE49-F238E27FC236}">
                <a16:creationId xmlns:a16="http://schemas.microsoft.com/office/drawing/2014/main" id="{98CE6A3F-4A62-479A-B652-AAC8D05AE7E7}"/>
              </a:ext>
            </a:extLst>
          </p:cNvPr>
          <p:cNvSpPr>
            <a:spLocks xmlns:a="http://schemas.openxmlformats.org/drawingml/2006/main" noGrp="1"/>
          </p:cNvSpPr>
          <p:nvPr/>
        </p:nvSpPr>
        <p:spPr>
          <a:xfrm xmlns:a="http://schemas.openxmlformats.org/drawingml/2006/main">
            <a:off x="628650" y="4724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01  案例中的核心数据资产、威胁和责任主体分别是什么？</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02  优先控制措施是什么，如何用日志、测试或指标验证效果？</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03  哪些边界条件变化后，需要重新评估方案？</a:t>
            </a:r>
          </a:p>
        </p:txBody>
      </p:sp>
      <p:sp>
        <p:nvSpPr>
          <p:cNvPr id="6" name="">
            <a:extLst xmlns:a="http://schemas.openxmlformats.org/drawingml/2006/main">
              <a:ext uri="{FF2B5EF4-FFF2-40B4-BE49-F238E27FC236}">
                <a16:creationId xmlns:a16="http://schemas.microsoft.com/office/drawing/2014/main" id="{532AFC66-6AE6-4D20-A922-D75AE5B3B650}"/>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4.2  数据安全技术基础</a:t>
            </a:r>
          </a:p>
        </p:txBody>
      </p:sp>
      <p:sp>
        <p:nvSpPr>
          <p:cNvPr id="7" name="">
            <a:extLst xmlns:a="http://schemas.openxmlformats.org/drawingml/2006/main">
              <a:ext uri="{FF2B5EF4-FFF2-40B4-BE49-F238E27FC236}">
                <a16:creationId xmlns:a16="http://schemas.microsoft.com/office/drawing/2014/main" id="{76BE8C3D-9048-481D-9C93-F49895FBC6D1}"/>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08  来源与版权信息见演讲者备注</a:t>
            </a:r>
          </a:p>
        </p:txBody>
      </p:sp>
    </p:spTree>
    <p:extLst>
      <p:ext uri="{BB962C8B-B14F-4D97-AF65-F5344CB8AC3E}">
        <p14:creationId xmlns:p14="http://schemas.microsoft.com/office/powerpoint/2010/main" val="903528010"/>
      </p:ext>
    </p:extLst>
  </p:cSld>
</p:sld>
</file>

<file path=ppt/slides/slide9.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04BEBF-4E0C-4A46-AA04-E0768A530EB0}"/>
              </a:ext>
            </a:extLst>
          </p:cNvPr>
          <p:cNvSpPr>
            <a:spLocks xmlns:a="http://schemas.openxmlformats.org/drawingml/2006/main" noGrp="1"/>
          </p:cNvSpPr>
          <p:nvPr/>
        </p:nvSpPr>
        <p:spPr>
          <a:xfrm xmlns:a="http://schemas.openxmlformats.org/drawingml/2006/main">
            <a:off x="628650" y="4572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CE7FF"/>
                </a:solidFill>
                <a:latin typeface="Microsoft YaHei"/>
                <a:ea typeface="Microsoft YaHei"/>
                <a:cs typeface="Microsoft YaHei"/>
              </a:defRPr>
            </a:pPr>
            <a:r>
              <a:rPr sz="1500" b="1">
                <a:solidFill>
                  <a:srgbClr val="DCE7FF"/>
                </a:solidFill>
                <a:latin typeface="Microsoft YaHei"/>
                <a:ea typeface="Microsoft YaHei"/>
                <a:cs typeface="Microsoft YaHei"/>
              </a:rPr>
              <a:t>知识检查</a:t>
            </a:r>
          </a:p>
        </p:txBody>
      </p:sp>
      <p:sp>
        <p:nvSpPr>
          <p:cNvPr id="2" name="">
            <a:extLst xmlns:a="http://schemas.openxmlformats.org/drawingml/2006/main">
              <a:ext uri="{FF2B5EF4-FFF2-40B4-BE49-F238E27FC236}">
                <a16:creationId xmlns:a16="http://schemas.microsoft.com/office/drawing/2014/main" id="{E3C493EC-81FB-4061-890E-4A16074AE105}"/>
              </a:ext>
            </a:extLst>
          </p:cNvPr>
          <p:cNvSpPr>
            <a:spLocks xmlns:a="http://schemas.openxmlformats.org/drawingml/2006/main" noGrp="1"/>
          </p:cNvSpPr>
          <p:nvPr/>
        </p:nvSpPr>
        <p:spPr>
          <a:xfrm xmlns:a="http://schemas.openxmlformats.org/drawingml/2006/main">
            <a:off x="628650" y="13525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为何脱敏后仍需评估重识别风险？</a:t>
            </a:r>
          </a:p>
        </p:txBody>
      </p:sp>
      <p:sp>
        <p:nvSpPr>
          <p:cNvPr id="3" name="">
            <a:extLst xmlns:a="http://schemas.openxmlformats.org/drawingml/2006/main">
              <a:ext uri="{FF2B5EF4-FFF2-40B4-BE49-F238E27FC236}">
                <a16:creationId xmlns:a16="http://schemas.microsoft.com/office/drawing/2014/main" id="{F6E59B9D-9B2E-4AF0-8464-90568632F402}"/>
              </a:ext>
            </a:extLst>
          </p:cNvPr>
          <p:cNvSpPr>
            <a:spLocks xmlns:a="http://schemas.openxmlformats.org/drawingml/2006/main" noGrp="1"/>
          </p:cNvSpPr>
          <p:nvPr/>
        </p:nvSpPr>
        <p:spPr>
          <a:xfrm xmlns:a="http://schemas.openxmlformats.org/drawingml/2006/main">
            <a:off x="628650" y="37147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9968"/>
                </a:solidFill>
                <a:latin typeface="Microsoft YaHei"/>
                <a:ea typeface="Microsoft YaHei"/>
                <a:cs typeface="Microsoft YaHei"/>
              </a:defRPr>
            </a:pPr>
            <a:r>
              <a:rPr sz="1425" b="1">
                <a:solidFill>
                  <a:srgbClr val="149968"/>
                </a:solidFill>
                <a:latin typeface="Microsoft YaHei"/>
                <a:ea typeface="Microsoft YaHei"/>
                <a:cs typeface="Microsoft YaHei"/>
              </a:rPr>
              <a:t>参考答案</a:t>
            </a:r>
          </a:p>
        </p:txBody>
      </p:sp>
      <p:sp>
        <p:nvSpPr>
          <p:cNvPr id="4" name="">
            <a:extLst xmlns:a="http://schemas.openxmlformats.org/drawingml/2006/main">
              <a:ext uri="{FF2B5EF4-FFF2-40B4-BE49-F238E27FC236}">
                <a16:creationId xmlns:a16="http://schemas.microsoft.com/office/drawing/2014/main" id="{07FE0A6C-90BA-47BE-98D2-D9941826FA98}"/>
              </a:ext>
            </a:extLst>
          </p:cNvPr>
          <p:cNvSpPr>
            <a:spLocks xmlns:a="http://schemas.openxmlformats.org/drawingml/2006/main" noGrp="1"/>
          </p:cNvSpPr>
          <p:nvPr/>
        </p:nvSpPr>
        <p:spPr>
          <a:xfrm xmlns:a="http://schemas.openxmlformats.org/drawingml/2006/main">
            <a:off x="628650" y="43053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攻击者可能把多个准标识符与外部数据组合，从看似匿名的数据中重新识别个人。</a:t>
            </a:r>
          </a:p>
        </p:txBody>
      </p:sp>
      <p:sp>
        <p:nvSpPr>
          <p:cNvPr id="5" name="">
            <a:extLst xmlns:a="http://schemas.openxmlformats.org/drawingml/2006/main">
              <a:ext uri="{FF2B5EF4-FFF2-40B4-BE49-F238E27FC236}">
                <a16:creationId xmlns:a16="http://schemas.microsoft.com/office/drawing/2014/main" id="{B44E0396-4EE5-4359-9A84-D7D8D71A1637}"/>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4.2  数据安全技术基础</a:t>
            </a:r>
          </a:p>
        </p:txBody>
      </p:sp>
      <p:sp>
        <p:nvSpPr>
          <p:cNvPr id="6" name="">
            <a:extLst xmlns:a="http://schemas.openxmlformats.org/drawingml/2006/main">
              <a:ext uri="{FF2B5EF4-FFF2-40B4-BE49-F238E27FC236}">
                <a16:creationId xmlns:a16="http://schemas.microsoft.com/office/drawing/2014/main" id="{3770FEDA-4851-4DE2-87E9-FDB219462129}"/>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09  来源与版权信息见演讲者备注</a:t>
            </a:r>
          </a:p>
        </p:txBody>
      </p:sp>
    </p:spTree>
    <p:extLst>
      <p:ext uri="{BB962C8B-B14F-4D97-AF65-F5344CB8AC3E}">
        <p14:creationId xmlns:p14="http://schemas.microsoft.com/office/powerpoint/2010/main" val="958414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2026-09-21T18:10:43.2500000Z</dcterms:created>
  <dcterms:modified xsi:type="dcterms:W3CDTF">2026-09-21T18:10:43.2500000Z</dcterms:modified>
</coreProperties>
</file>