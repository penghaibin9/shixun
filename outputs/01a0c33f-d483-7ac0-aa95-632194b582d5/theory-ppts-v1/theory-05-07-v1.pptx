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bd9034907646db" /><Relationship Type="http://schemas.openxmlformats.org/officeDocument/2006/relationships/extended-properties" Target="/docProps/app.xml" Id="R18c27ed48b324574" /><Relationship Type="http://schemas.openxmlformats.org/officeDocument/2006/relationships/officeDocument" Target="/ppt/presentation.xml" Id="R32afc2e11d4c4d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aa4b8b52444efd"/>
  </p:sldMasterIdLst>
  <p:notesMasterIdLst>
    <p:notesMasterId xmlns:r="http://schemas.openxmlformats.org/officeDocument/2006/relationships" r:id="R4196291ceb4f4a04"/>
  </p:notesMasterIdLst>
  <p:sldIdLst>
    <p:sldId xmlns:r="http://schemas.openxmlformats.org/officeDocument/2006/relationships" id="256" r:id="Rb957c8cd1e534f37"/>
    <p:sldId xmlns:r="http://schemas.openxmlformats.org/officeDocument/2006/relationships" id="257" r:id="Rbe7fd86f99c94372"/>
    <p:sldId xmlns:r="http://schemas.openxmlformats.org/officeDocument/2006/relationships" id="258" r:id="Rc6f1ad140df84701"/>
    <p:sldId xmlns:r="http://schemas.openxmlformats.org/officeDocument/2006/relationships" id="259" r:id="Rbdfd093edbd341e4"/>
    <p:sldId xmlns:r="http://schemas.openxmlformats.org/officeDocument/2006/relationships" id="260" r:id="R7b75613b8d104a25"/>
    <p:sldId xmlns:r="http://schemas.openxmlformats.org/officeDocument/2006/relationships" id="261" r:id="Re12fd9b1e3a444b3"/>
    <p:sldId xmlns:r="http://schemas.openxmlformats.org/officeDocument/2006/relationships" id="262" r:id="Rc8cc338fa866408a"/>
    <p:sldId xmlns:r="http://schemas.openxmlformats.org/officeDocument/2006/relationships" id="263" r:id="Ra50cc9b4c20b45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f1ed79a9d84a8c" /><Relationship Type="http://schemas.openxmlformats.org/officeDocument/2006/relationships/slideMaster" Target="/ppt/slideMasters/slideMaster1.xml" Id="Rccaa4b8b52444efd" /><Relationship Type="http://schemas.openxmlformats.org/officeDocument/2006/relationships/notesMaster" Target="/ppt/notesMasters/notesMaster1.xml" Id="R4196291ceb4f4a04" /><Relationship Type="http://schemas.openxmlformats.org/officeDocument/2006/relationships/presProps" Target="/ppt/presProps.xml" Id="R1e6eef3a1c2a4e7a" /><Relationship Type="http://schemas.openxmlformats.org/officeDocument/2006/relationships/tableStyles" Target="/ppt/tableStyles.xml" Id="R04ed63f4c86048b1" /><Relationship Type="http://schemas.openxmlformats.org/officeDocument/2006/relationships/slide" Target="/ppt/slides/slide1.xml" Id="Rb957c8cd1e534f37" /><Relationship Type="http://schemas.openxmlformats.org/officeDocument/2006/relationships/slide" Target="/ppt/slides/slide2.xml" Id="Rbe7fd86f99c94372" /><Relationship Type="http://schemas.openxmlformats.org/officeDocument/2006/relationships/slide" Target="/ppt/slides/slide3.xml" Id="Rc6f1ad140df84701" /><Relationship Type="http://schemas.openxmlformats.org/officeDocument/2006/relationships/slide" Target="/ppt/slides/slide4.xml" Id="Rbdfd093edbd341e4" /><Relationship Type="http://schemas.openxmlformats.org/officeDocument/2006/relationships/slide" Target="/ppt/slides/slide5.xml" Id="R7b75613b8d104a25" /><Relationship Type="http://schemas.openxmlformats.org/officeDocument/2006/relationships/slide" Target="/ppt/slides/slide6.xml" Id="Re12fd9b1e3a444b3" /><Relationship Type="http://schemas.openxmlformats.org/officeDocument/2006/relationships/slide" Target="/ppt/slides/slide7.xml" Id="Rc8cc338fa866408a" /><Relationship Type="http://schemas.openxmlformats.org/officeDocument/2006/relationships/slide" Target="/ppt/slides/slide8.xml" Id="Ra50cc9b4c20b45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cd4091192d42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edddb555214ec6" /><Relationship Type="http://schemas.openxmlformats.org/officeDocument/2006/relationships/notesMaster" Target="/ppt/notesMasters/notesMaster1.xml" Id="R0ddd33b323b245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68a2667ea04e1a" /><Relationship Type="http://schemas.openxmlformats.org/officeDocument/2006/relationships/notesMaster" Target="/ppt/notesMasters/notesMaster1.xml" Id="R9e67711776bd4c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dc157ddda14410" /><Relationship Type="http://schemas.openxmlformats.org/officeDocument/2006/relationships/notesMaster" Target="/ppt/notesMasters/notesMaster1.xml" Id="Rde0f9b0eda1541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cdfc1d4a9b4623" /><Relationship Type="http://schemas.openxmlformats.org/officeDocument/2006/relationships/notesMaster" Target="/ppt/notesMasters/notesMaster1.xml" Id="R52f530327d144b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f41cac48574e54" /><Relationship Type="http://schemas.openxmlformats.org/officeDocument/2006/relationships/notesMaster" Target="/ppt/notesMasters/notesMaster1.xml" Id="Rd24ed68fd18645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2bdeb3ab0f42b8" /><Relationship Type="http://schemas.openxmlformats.org/officeDocument/2006/relationships/notesMaster" Target="/ppt/notesMasters/notesMaster1.xml" Id="R505a837e70dd4e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b3e3216f144028" /><Relationship Type="http://schemas.openxmlformats.org/officeDocument/2006/relationships/notesMaster" Target="/ppt/notesMasters/notesMaster1.xml" Id="R2e99702272964d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d7b4c85b774e41" /><Relationship Type="http://schemas.openxmlformats.org/officeDocument/2006/relationships/notesMaster" Target="/ppt/notesMasters/notesMaster1.xml" Id="Rf5cbb732359346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800-92 日志管理指南</a:t>
            </a:r>
          </a:p>
          <a:p xmlns:a="http://schemas.openxmlformats.org/drawingml/2006/main">
            <a:r>
              <a:t>https://csrc.nist.gov/pubs/sp/800/92/final</a:t>
            </a:r>
          </a:p>
          <a:p xmlns:a="http://schemas.openxmlformats.org/drawingml/2006/main">
            <a:r>
              <a:t>2. 正式题库 5.7 课时内容</a:t>
            </a:r>
          </a:p>
          <a:p xmlns:a="http://schemas.openxmlformats.org/drawingml/2006/main">
            <a:r>
              <a:t>backend/app/resources/content/question-bank-v1.json#lesson_theory_5_7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800-92 日志管理指南</a:t>
            </a:r>
          </a:p>
          <a:p xmlns:a="http://schemas.openxmlformats.org/drawingml/2006/main">
            <a:r>
              <a:t>https://csrc.nist.gov/pubs/sp/800/92/final</a:t>
            </a:r>
          </a:p>
          <a:p xmlns:a="http://schemas.openxmlformats.org/drawingml/2006/main">
            <a:r>
              <a:t>2. 正式题库 5.7 课时内容</a:t>
            </a:r>
          </a:p>
          <a:p xmlns:a="http://schemas.openxmlformats.org/drawingml/2006/main">
            <a:r>
              <a:t>backend/app/resources/content/question-bank-v1.json#lesson_theory_5_7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核心概念：日志规范化。结合要点解释定义、适用边界和验证方式。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800-92 日志管理指南</a:t>
            </a:r>
          </a:p>
          <a:p xmlns:a="http://schemas.openxmlformats.org/drawingml/2006/main">
            <a:r>
              <a:t>https://csrc.nist.gov/pubs/sp/800/92/final</a:t>
            </a:r>
          </a:p>
          <a:p xmlns:a="http://schemas.openxmlformats.org/drawingml/2006/main">
            <a:r>
              <a:t>2. 正式题库 5.7 课时内容</a:t>
            </a:r>
          </a:p>
          <a:p xmlns:a="http://schemas.openxmlformats.org/drawingml/2006/main">
            <a:r>
              <a:t>backend/app/resources/content/question-bank-v1.json#lesson_theory_5_7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核心概念：基线与异常规则。结合要点解释定义、适用边界和验证方式。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800-92 日志管理指南</a:t>
            </a:r>
          </a:p>
          <a:p xmlns:a="http://schemas.openxmlformats.org/drawingml/2006/main">
            <a:r>
              <a:t>https://csrc.nist.gov/pubs/sp/800/92/final</a:t>
            </a:r>
          </a:p>
          <a:p xmlns:a="http://schemas.openxmlformats.org/drawingml/2006/main">
            <a:r>
              <a:t>2. 正式题库 5.7 课时内容</a:t>
            </a:r>
          </a:p>
          <a:p xmlns:a="http://schemas.openxmlformats.org/drawingml/2006/main">
            <a:r>
              <a:t>backend/app/resources/content/question-bank-v1.json#lesson_theory_5_7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核心概念：证据保全。结合要点解释定义、适用边界和验证方式。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800-92 日志管理指南</a:t>
            </a:r>
          </a:p>
          <a:p xmlns:a="http://schemas.openxmlformats.org/drawingml/2006/main">
            <a:r>
              <a:t>https://csrc.nist.gov/pubs/sp/800/92/final</a:t>
            </a:r>
          </a:p>
          <a:p xmlns:a="http://schemas.openxmlformats.org/drawingml/2006/main">
            <a:r>
              <a:t>2. 正式题库 5.7 课时内容</a:t>
            </a:r>
          </a:p>
          <a:p xmlns:a="http://schemas.openxmlformats.org/drawingml/2006/main">
            <a:r>
              <a:t>backend/app/resources/content/question-bank-v1.json#lesson_theory_5_7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核心概念：事件时间线与溯源。结合要点解释定义、适用边界和验证方式。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800-92 日志管理指南</a:t>
            </a:r>
          </a:p>
          <a:p xmlns:a="http://schemas.openxmlformats.org/drawingml/2006/main">
            <a:r>
              <a:t>https://csrc.nist.gov/pubs/sp/800/92/final</a:t>
            </a:r>
          </a:p>
          <a:p xmlns:a="http://schemas.openxmlformats.org/drawingml/2006/main">
            <a:r>
              <a:t>2. 正式题库 5.7 课时内容</a:t>
            </a:r>
          </a:p>
          <a:p xmlns:a="http://schemas.openxmlformats.org/drawingml/2006/main">
            <a:r>
              <a:t>backend/app/resources/content/question-bank-v1.json#lesson_theory_5_7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800-92 日志管理指南</a:t>
            </a:r>
          </a:p>
          <a:p xmlns:a="http://schemas.openxmlformats.org/drawingml/2006/main">
            <a:r>
              <a:t>https://csrc.nist.gov/pubs/sp/800/92/final</a:t>
            </a:r>
          </a:p>
          <a:p xmlns:a="http://schemas.openxmlformats.org/drawingml/2006/main">
            <a:r>
              <a:t>2. 正式题库 5.7 课时内容</a:t>
            </a:r>
          </a:p>
          <a:p xmlns:a="http://schemas.openxmlformats.org/drawingml/2006/main">
            <a:r>
              <a:t>backend/app/resources/content/question-bank-v1.json#lesson_theory_5_7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800-92 日志管理指南</a:t>
            </a:r>
          </a:p>
          <a:p xmlns:a="http://schemas.openxmlformats.org/drawingml/2006/main">
            <a:r>
              <a:t>https://csrc.nist.gov/pubs/sp/800/92/final</a:t>
            </a:r>
          </a:p>
          <a:p xmlns:a="http://schemas.openxmlformats.org/drawingml/2006/main">
            <a:r>
              <a:t>2. 正式题库 5.7 课时内容</a:t>
            </a:r>
          </a:p>
          <a:p xmlns:a="http://schemas.openxmlformats.org/drawingml/2006/main">
            <a:r>
              <a:t>backend/app/resources/content/question-bank-v1.json#lesson_theory_5_7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390c33bc994b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51d362b7bc46a3" /><Relationship Type="http://schemas.openxmlformats.org/officeDocument/2006/relationships/slideLayout" Target="/ppt/slideLayouts/slideLayout1.xml" Id="R472ec8075e0947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2ec8075e0947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1c67f6d3b4b17" /><Relationship Type="http://schemas.openxmlformats.org/officeDocument/2006/relationships/image" Target="/ppt/media/image.png" Id="Raa5f4919cc02447f" /><Relationship Type="http://schemas.openxmlformats.org/officeDocument/2006/relationships/notesSlide" Target="/ppt/notesSlides/notesSlide1.xml" Id="Rec1e7581162e4d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38f2c48e24a49" /><Relationship Type="http://schemas.openxmlformats.org/officeDocument/2006/relationships/notesSlide" Target="/ppt/notesSlides/notesSlide2.xml" Id="Rc1567360486048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8aed8f367470f" /><Relationship Type="http://schemas.openxmlformats.org/officeDocument/2006/relationships/notesSlide" Target="/ppt/notesSlides/notesSlide3.xml" Id="R48d19a4c612c41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4692937c44abb" /><Relationship Type="http://schemas.openxmlformats.org/officeDocument/2006/relationships/notesSlide" Target="/ppt/notesSlides/notesSlide4.xml" Id="Rf99986a5dc8548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df8185c3b4759" /><Relationship Type="http://schemas.openxmlformats.org/officeDocument/2006/relationships/notesSlide" Target="/ppt/notesSlides/notesSlide5.xml" Id="R9214c5fbf57642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95076942346e5" /><Relationship Type="http://schemas.openxmlformats.org/officeDocument/2006/relationships/notesSlide" Target="/ppt/notesSlides/notesSlide6.xml" Id="R97a67158ac8741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ce1a5e294473d" /><Relationship Type="http://schemas.openxmlformats.org/officeDocument/2006/relationships/notesSlide" Target="/ppt/notesSlides/notesSlide7.xml" Id="R17c4688dd43f47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75680b2994daf" /><Relationship Type="http://schemas.openxmlformats.org/officeDocument/2006/relationships/notesSlide" Target="/ppt/notesSlides/notesSlide8.xml" Id="Rd7f3165b1c8143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f4919cc02447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9CFE8-E016-40CF-9ECA-F27BCBD6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5 章  ·  5.7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433A3-9982-4C88-B786-1CB8188F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审计日志管理与异常访问行为溯源分析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89904-E7D0-422F-A7B6-0321FDF1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9E159-E6AA-478B-845E-15DAAC42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21116236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BC0D8-26D9-43F5-A530-20F51883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6EFCF-042E-4907-9589-AFE1932C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5.7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29752-C939-4FB9-AE1F-11CD94F0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7EFFE-F6F7-4E62-A8B0-F5439AFF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能够制定日志采集、传输、存储、检索、保留和销毁流程。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能够基于账号、来源、频率、对象和时间建立异常访问分析线索。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110B4-6A78-4BF2-8AF1-8BB5A752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19FB8-E29A-458C-9195-DC53765F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日志规范化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基线与异常规则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证据保全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事件时间线与溯源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8107C-3EA1-4C42-ACCD-BD726C0B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5.7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E5F71-0461-4684-88BB-7D43FCB4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8120468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968AE-6535-4558-8116-CE0036CA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09659-1061-43ED-B318-A2EE4D95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日志规范化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1A3FE-66BD-433A-8D3B-182B0B38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规范化把不同厂商和格式的日志映射到统一字段，使检索与规则能够跨数据源工作。转换过程不得丢失原始值、时区和解析状态，否则可能损害证据解释。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1B454-AF6B-450A-BA71-AEAF8C3C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定义主体、动作、对象、结果和来源字段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无法解析的记录进入异常队列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保留原始事件和解析器版本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数值、枚举和时间格式统一转换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1A6B6-F289-45F2-8B46-53914783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5.7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DCC95-8A21-4EC4-94BF-34C8AECB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935397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ED92F-B5B2-4F5F-9947-EC98DF7F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030A3-37FF-424E-9E80-8EBE5ADD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基线与异常规则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00876-B0D2-49E3-A212-8012B18A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基线描述账号、设备或业务在正常周期内的行为范围，异常规则识别显著偏离。异常不等于攻击，规则必须结合业务时间、角色和变更信息降低误报。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00468-8ABB-4345-81D4-DE6272C1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按工作日、岗位和系统分别建立基线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同时关注频率、来源、对象和失败比例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上线规则前在历史数据上回放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定期根据确认结果调整阈值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A126A-EA4A-4D68-A209-467FDCF2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5.7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E9E32-BDE9-4161-9E9A-CD70B85B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5963821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03A8B-29DE-41BE-843B-C83D579F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D824F-54ED-4973-ABD0-BC838140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证据保全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8E5D2-2282-4C32-9558-D861969E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证据保全确保日志从发现到分析和归档期间保持完整、可追溯且访问受控。原始数据的摘要、获取方式、保管人和每次移交都应记录，避免分析副本替代原件。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78621-941D-42AD-9AE4-B2AE4EE8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发现后立即固定相关时间范围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计算并独立保存文件摘要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使用只读副本开展分析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记录访问、复制、移交和销毁过程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E4500-8677-4CB0-AEF7-9A5FDC48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5.7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B06AE-8AD9-4C90-83E8-CDE5C9EB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7815604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1A9B1-5DA4-45FD-AA1D-C640E063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4683F-9ABA-4837-AC23-7F19012C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事件时间线与溯源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EC6A9-3C85-4F95-9BED-A88DB689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时间线按可靠时间排列登录、请求、查询、进程和传输事件，用于解释攻击如何发生。溯源结论应区分已证实事实、基于证据的推断和仍待验证的假设。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3ECB3-F774-46C2-BFCC-9E8EED4C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先校正时区和已知时钟偏差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用关联标识连接同一业务请求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标注证据来源与可信程度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对关键结论寻找至少两个独立证据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F046D-C0E3-482B-B83E-DDDE9F4B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5.7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EA1D5-96C3-48D6-8B66-453BEBB3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7230042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DE033-F1F1-4222-9B86-5BD5437E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0EB83-3047-4A8A-A002-ED337AB3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3104B-A565-4275-9688-24A01294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检测到同一账号短时间从多个地域失败登录并随后批量查询，分析人员保全原始日志、关联会话和导出记录后形成可复核时间线。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1297B-E082-41F2-9056-3228BD8B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39839-6512-4007-90C9-55AE154E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D33B8-281D-4DDD-A74B-D7BBF66E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5.7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67AFF-028F-49FB-B16E-1E751C11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4544801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76463-B0CE-4F3E-AEE6-115F04EF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5FD05-4423-4233-9C5C-2E9B4718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为什么分析后仍要保留受保护的原始日志？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4136D-661D-43DD-86D7-5E1A0B8E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C3A24-0E04-4B10-984A-A26228C8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原始日志支持规则复核、争议处理和新线索下的再次分析，规范化结果不能完全替代原始证据。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8EBD3-C904-4A7C-BA04-6F2821D1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5.7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B9AE6-B8D3-4273-AE62-A077F343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3372533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2026-09-21T18:11:22.2860000Z</dcterms:created>
  <dcterms:modified xsi:type="dcterms:W3CDTF">2026-09-21T18:11:22.2860000Z</dcterms:modified>
</coreProperties>
</file>