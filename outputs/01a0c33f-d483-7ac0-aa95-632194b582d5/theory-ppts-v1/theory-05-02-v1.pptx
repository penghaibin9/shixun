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040f526a74258" /><Relationship Type="http://schemas.openxmlformats.org/officeDocument/2006/relationships/extended-properties" Target="/docProps/app.xml" Id="R074ad7d15b474a1d" /><Relationship Type="http://schemas.openxmlformats.org/officeDocument/2006/relationships/officeDocument" Target="/ppt/presentation.xml" Id="R72ba91ab3bb145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8dbbbb2054de3"/>
  </p:sldMasterIdLst>
  <p:notesMasterIdLst>
    <p:notesMasterId xmlns:r="http://schemas.openxmlformats.org/officeDocument/2006/relationships" r:id="R248c79548faa4b4f"/>
  </p:notesMasterIdLst>
  <p:sldIdLst>
    <p:sldId xmlns:r="http://schemas.openxmlformats.org/officeDocument/2006/relationships" id="256" r:id="R4cdb814fc7534d06"/>
    <p:sldId xmlns:r="http://schemas.openxmlformats.org/officeDocument/2006/relationships" id="257" r:id="R7eea53dcbcc64954"/>
    <p:sldId xmlns:r="http://schemas.openxmlformats.org/officeDocument/2006/relationships" id="258" r:id="Ra05b55c88bd24215"/>
    <p:sldId xmlns:r="http://schemas.openxmlformats.org/officeDocument/2006/relationships" id="259" r:id="R9acbbb155cc9464e"/>
    <p:sldId xmlns:r="http://schemas.openxmlformats.org/officeDocument/2006/relationships" id="260" r:id="R804963e8fe1d426b"/>
    <p:sldId xmlns:r="http://schemas.openxmlformats.org/officeDocument/2006/relationships" id="261" r:id="R9a355451a07947ad"/>
    <p:sldId xmlns:r="http://schemas.openxmlformats.org/officeDocument/2006/relationships" id="262" r:id="Rbf918c37420c44f5"/>
    <p:sldId xmlns:r="http://schemas.openxmlformats.org/officeDocument/2006/relationships" id="263" r:id="R339dee19ff8f49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b0cacf254e4376" /><Relationship Type="http://schemas.openxmlformats.org/officeDocument/2006/relationships/slideMaster" Target="/ppt/slideMasters/slideMaster1.xml" Id="R75f8dbbbb2054de3" /><Relationship Type="http://schemas.openxmlformats.org/officeDocument/2006/relationships/notesMaster" Target="/ppt/notesMasters/notesMaster1.xml" Id="R248c79548faa4b4f" /><Relationship Type="http://schemas.openxmlformats.org/officeDocument/2006/relationships/presProps" Target="/ppt/presProps.xml" Id="R0740a318e1d84fc4" /><Relationship Type="http://schemas.openxmlformats.org/officeDocument/2006/relationships/tableStyles" Target="/ppt/tableStyles.xml" Id="R2f9f8dfd0a094c62" /><Relationship Type="http://schemas.openxmlformats.org/officeDocument/2006/relationships/slide" Target="/ppt/slides/slide1.xml" Id="R4cdb814fc7534d06" /><Relationship Type="http://schemas.openxmlformats.org/officeDocument/2006/relationships/slide" Target="/ppt/slides/slide2.xml" Id="R7eea53dcbcc64954" /><Relationship Type="http://schemas.openxmlformats.org/officeDocument/2006/relationships/slide" Target="/ppt/slides/slide3.xml" Id="Ra05b55c88bd24215" /><Relationship Type="http://schemas.openxmlformats.org/officeDocument/2006/relationships/slide" Target="/ppt/slides/slide4.xml" Id="R9acbbb155cc9464e" /><Relationship Type="http://schemas.openxmlformats.org/officeDocument/2006/relationships/slide" Target="/ppt/slides/slide5.xml" Id="R804963e8fe1d426b" /><Relationship Type="http://schemas.openxmlformats.org/officeDocument/2006/relationships/slide" Target="/ppt/slides/slide6.xml" Id="R9a355451a07947ad" /><Relationship Type="http://schemas.openxmlformats.org/officeDocument/2006/relationships/slide" Target="/ppt/slides/slide7.xml" Id="Rbf918c37420c44f5" /><Relationship Type="http://schemas.openxmlformats.org/officeDocument/2006/relationships/slide" Target="/ppt/slides/slide8.xml" Id="R339dee19ff8f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c5e4c977bf45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e30edebab54387" /><Relationship Type="http://schemas.openxmlformats.org/officeDocument/2006/relationships/notesMaster" Target="/ppt/notesMasters/notesMaster1.xml" Id="R4c1166846da74f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180976148b4fa6" /><Relationship Type="http://schemas.openxmlformats.org/officeDocument/2006/relationships/notesMaster" Target="/ppt/notesMasters/notesMaster1.xml" Id="R627f0b20b46b4b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2290ad67f146f4" /><Relationship Type="http://schemas.openxmlformats.org/officeDocument/2006/relationships/notesMaster" Target="/ppt/notesMasters/notesMaster1.xml" Id="R2277711c6dc944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b14a371504489" /><Relationship Type="http://schemas.openxmlformats.org/officeDocument/2006/relationships/notesMaster" Target="/ppt/notesMasters/notesMaster1.xml" Id="Rd9930caff6914c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a048aeff146d2" /><Relationship Type="http://schemas.openxmlformats.org/officeDocument/2006/relationships/notesMaster" Target="/ppt/notesMasters/notesMaster1.xml" Id="R14e24313dad14c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e0995e909f4b8b" /><Relationship Type="http://schemas.openxmlformats.org/officeDocument/2006/relationships/notesMaster" Target="/ppt/notesMasters/notesMaster1.xml" Id="R1647ba3352a14c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519a50b7db4989" /><Relationship Type="http://schemas.openxmlformats.org/officeDocument/2006/relationships/notesMaster" Target="/ppt/notesMasters/notesMaster1.xml" Id="R5f8db38d67a449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e3f801e9fe4678" /><Relationship Type="http://schemas.openxmlformats.org/officeDocument/2006/relationships/notesMaster" Target="/ppt/notesMasters/notesMaster1.xml" Id="Re331c925de3b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核心概念：盲水印。结合要点解释定义、适用边界和验证方式。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核心概念：非盲水印。结合要点解释定义、适用边界和验证方式。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核心概念：空域与变换域。结合要点解释定义、适用边界和验证方式。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核心概念：检测阈值和误报。结合要点解释定义、适用边界和验证方式。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正式题库 5.2 课时内容</a:t>
            </a:r>
          </a:p>
          <a:p xmlns:a="http://schemas.openxmlformats.org/drawingml/2006/main">
            <a:r>
              <a:t>backend/app/resources/content/question-bank-v1.json#lesson_theory_5_2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772bee2c940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00253177643cc" /><Relationship Type="http://schemas.openxmlformats.org/officeDocument/2006/relationships/slideLayout" Target="/ppt/slideLayouts/slideLayout1.xml" Id="R407b7f8cf55a41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b7f8cf55a41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679812cda41ca" /><Relationship Type="http://schemas.openxmlformats.org/officeDocument/2006/relationships/image" Target="/ppt/media/image.png" Id="Rf155ecd1fa2940c9" /><Relationship Type="http://schemas.openxmlformats.org/officeDocument/2006/relationships/notesSlide" Target="/ppt/notesSlides/notesSlide1.xml" Id="Rbd8a5febbc20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877e30a8346f7" /><Relationship Type="http://schemas.openxmlformats.org/officeDocument/2006/relationships/notesSlide" Target="/ppt/notesSlides/notesSlide2.xml" Id="R81b8bae7bb274a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5fbb08b864b01" /><Relationship Type="http://schemas.openxmlformats.org/officeDocument/2006/relationships/notesSlide" Target="/ppt/notesSlides/notesSlide3.xml" Id="R9a0f5c58078c4f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5fbeed8214a83" /><Relationship Type="http://schemas.openxmlformats.org/officeDocument/2006/relationships/notesSlide" Target="/ppt/notesSlides/notesSlide4.xml" Id="Rc983e056f33e40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3cef4fdc74d3a" /><Relationship Type="http://schemas.openxmlformats.org/officeDocument/2006/relationships/notesSlide" Target="/ppt/notesSlides/notesSlide5.xml" Id="R80a9709acf1347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1a43e3eb54c1e" /><Relationship Type="http://schemas.openxmlformats.org/officeDocument/2006/relationships/notesSlide" Target="/ppt/notesSlides/notesSlide6.xml" Id="R882c68f1400a49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bcf60d3634a5e" /><Relationship Type="http://schemas.openxmlformats.org/officeDocument/2006/relationships/notesSlide" Target="/ppt/notesSlides/notesSlide7.xml" Id="R5926135df3ba44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3aa9fc2444830" /><Relationship Type="http://schemas.openxmlformats.org/officeDocument/2006/relationships/notesSlide" Target="/ppt/notesSlides/notesSlide8.xml" Id="R5226f5c913fe41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5ecd1fa2940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118EB-6D96-4C8B-B341-ED61A9D1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5 章  ·  5.2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2DAE0-BBF2-4A95-8075-1E9FD410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水印嵌入算法与提取算法：盲水印 / 非盲水印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0AFC4-3207-478D-B972-88366A04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919C-832D-4BB3-A9A1-BADA8CCD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671395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2B9A4-BE0E-4684-95AD-D1110B4D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4C91B-7C17-4285-A5F7-C1B2FB17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5.2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29978-36CB-4863-AC11-D2B156D0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EFABE-9F3A-447B-B71C-ED34E25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能够比较盲水印与非盲水印在提取条件和部署成本上的差异。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能够设计包含原始载体、攻击处理和提取判定的水印实验。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D6362-AA54-4D31-8A22-BE7E483A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861DD-E000-4505-B8FD-F4F2C306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盲水印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非盲水印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空域与变换域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检测阈值和误报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B5B52-2222-4CB3-9A50-64DF4911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5.2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43A4D-9511-473A-8B1F-21D6EBDF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27570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F99F9-5987-4194-BF56-93C47895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F20E0-2138-4F03-9B7C-8081196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盲水印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00435-40D1-47E6-9FB3-AE28C8F0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盲水印在检测或提取时不需要原始载体，适合在线分发和大规模核验。它必须仅凭密钥和当前样本区分载荷，因此算法设计和检测阈值更具挑战。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1EAAD-2283-46A8-8BF6-9B206EF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接收端无需保存每份原始文件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分发追踪适合使用唯一接收者载荷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检测需覆盖未嵌入样本以评估误报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密钥泄露会削弱伪造抵抗能力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06A7C-7CD2-4B2C-AC0A-1B426412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39C91-E5C7-4E43-84D1-6A5782E9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11349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84E7A-ECD1-44D4-B022-732475F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788B8-BEAD-4DCF-8D7C-F39FF4A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非盲水印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8DD39-5608-4462-8D4D-43F8816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非盲水印检测时需要原始载体或其特征作为参照，可利用差异获得较高提取可靠性。其部署代价是安全保存并准确匹配原始版本，原件丢失会影响核验。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735D7-0F19-46DD-BE4A-DEE0806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原始载体应校验版本和摘要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参照数据必须限制访问和防篡改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适合集中鉴定而非无状态公开验证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比较结果要排除普通格式转换造成的差异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1AD63-5D98-4B02-857E-B22EB7E5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F4582-2671-4F57-8CDC-78FE176D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11469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B06B6-7F1F-4CCC-88C8-D6D4F2A4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77EE4-AD8A-4F9D-BA3C-E65D421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空域与变换域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F2605-5970-4D58-AE75-D88651E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空域方法直接修改像素或采样值，计算简单但常对压缩和处理较敏感。变换域方法在频率或系数空间嵌入，通常更能平衡不可感知性与鲁棒性，但实现复杂度更高。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6E012-6987-4A4B-9B75-A8A6CDBA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最低有效位属于典型空域方法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变换域可选择人眼不敏感的系数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算法选择要匹配预期编辑和压缩流程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任何域都需限制修改幅度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BEE3E-1D65-416A-A204-D38AB0D7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D28A5-86FA-4DA3-B9C8-2DF7417D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67426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55BB3-E5D7-45FF-B625-44E11F0D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60C3C-DEA4-4586-AC71-A9FF02D2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检测阈值和误报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1AB8D-30E1-4FAC-87C4-E3C723C3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检测器常输出相似度或相关性分数，阈值决定判为有水印还是无水印。阈值过低增加误报，过高增加漏报，应通过带标签样本和目标风险校准。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DD83D-8305-4450-A06A-24E0C6D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同时统计真阳性率和假阳性率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使用不同来源的负样本避免过拟合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司法或追责场景要求更严格证据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阈值和算法版本应随检测结果保存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829D-5D99-4924-9F5C-9C37C7AF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AB1F8-6F09-4D9A-8ECF-BFB50B4E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8629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D8075-CBA5-45A7-AD4E-6D57E2D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AA60B-4C12-46B8-B745-CCB62AA5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1B4C6-1777-4EE3-B0DD-6A57461D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对同一图片分别实施裁剪、压缩和缩放，再在不提供原图的条件下提取盲水印，比较不同处理后的检测置信度。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2D25B-6473-4B86-8867-0270A197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48482-CA3E-4468-8655-79D7E1C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ED494-8C49-4C99-A04E-98732912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5.2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1ADDB-E823-4951-AFAD-F06F2E38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4450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D6D11-B3AC-47DA-B8A0-13BFCC83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AD077-E24C-4752-8CCA-57212EA9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盲水印的主要工程优势是什么？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20B59-3DDF-4ECC-850A-49F4B328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EC294-E901-402E-9633-68568D3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提取或检测通常不依赖原始载体，更适合原件不便集中保存或在线大规模核验的场景。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02397-BDDF-46E8-8E08-0C3F138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5.2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095FD-DFCF-4783-A0C3-35ADBCD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235513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2026-09-21T18:11:06.4640000Z</dcterms:created>
  <dcterms:modified xsi:type="dcterms:W3CDTF">2026-09-21T18:11:06.4640000Z</dcterms:modified>
</coreProperties>
</file>