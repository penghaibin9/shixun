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9c518c3d564a82" /><Relationship Type="http://schemas.openxmlformats.org/officeDocument/2006/relationships/extended-properties" Target="/docProps/app.xml" Id="R635150ee8e0c4238" /><Relationship Type="http://schemas.openxmlformats.org/officeDocument/2006/relationships/officeDocument" Target="/ppt/presentation.xml" Id="R4abbe23c606140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5d15846d4a426a"/>
  </p:sldMasterIdLst>
  <p:notesMasterIdLst>
    <p:notesMasterId xmlns:r="http://schemas.openxmlformats.org/officeDocument/2006/relationships" r:id="R19eb3b96757d45ee"/>
  </p:notesMasterIdLst>
  <p:sldIdLst>
    <p:sldId xmlns:r="http://schemas.openxmlformats.org/officeDocument/2006/relationships" id="256" r:id="Rfd2220003f5c46a9"/>
    <p:sldId xmlns:r="http://schemas.openxmlformats.org/officeDocument/2006/relationships" id="257" r:id="Ref85c20c0aaf4460"/>
    <p:sldId xmlns:r="http://schemas.openxmlformats.org/officeDocument/2006/relationships" id="258" r:id="Rcc863b1bf7814340"/>
    <p:sldId xmlns:r="http://schemas.openxmlformats.org/officeDocument/2006/relationships" id="259" r:id="Rd7966633da364662"/>
    <p:sldId xmlns:r="http://schemas.openxmlformats.org/officeDocument/2006/relationships" id="260" r:id="R5d11fffad4044f52"/>
    <p:sldId xmlns:r="http://schemas.openxmlformats.org/officeDocument/2006/relationships" id="261" r:id="Re7b8b131138e42ee"/>
    <p:sldId xmlns:r="http://schemas.openxmlformats.org/officeDocument/2006/relationships" id="262" r:id="Re2af0ff9d0bb4875"/>
    <p:sldId xmlns:r="http://schemas.openxmlformats.org/officeDocument/2006/relationships" id="263" r:id="R571ae4fc7aaf4a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563deb13724e77" /><Relationship Type="http://schemas.openxmlformats.org/officeDocument/2006/relationships/slideMaster" Target="/ppt/slideMasters/slideMaster1.xml" Id="R595d15846d4a426a" /><Relationship Type="http://schemas.openxmlformats.org/officeDocument/2006/relationships/notesMaster" Target="/ppt/notesMasters/notesMaster1.xml" Id="R19eb3b96757d45ee" /><Relationship Type="http://schemas.openxmlformats.org/officeDocument/2006/relationships/presProps" Target="/ppt/presProps.xml" Id="R55890b345160402e" /><Relationship Type="http://schemas.openxmlformats.org/officeDocument/2006/relationships/tableStyles" Target="/ppt/tableStyles.xml" Id="R57b6988c9e0643f9" /><Relationship Type="http://schemas.openxmlformats.org/officeDocument/2006/relationships/slide" Target="/ppt/slides/slide1.xml" Id="Rfd2220003f5c46a9" /><Relationship Type="http://schemas.openxmlformats.org/officeDocument/2006/relationships/slide" Target="/ppt/slides/slide2.xml" Id="Ref85c20c0aaf4460" /><Relationship Type="http://schemas.openxmlformats.org/officeDocument/2006/relationships/slide" Target="/ppt/slides/slide3.xml" Id="Rcc863b1bf7814340" /><Relationship Type="http://schemas.openxmlformats.org/officeDocument/2006/relationships/slide" Target="/ppt/slides/slide4.xml" Id="Rd7966633da364662" /><Relationship Type="http://schemas.openxmlformats.org/officeDocument/2006/relationships/slide" Target="/ppt/slides/slide5.xml" Id="R5d11fffad4044f52" /><Relationship Type="http://schemas.openxmlformats.org/officeDocument/2006/relationships/slide" Target="/ppt/slides/slide6.xml" Id="Re7b8b131138e42ee" /><Relationship Type="http://schemas.openxmlformats.org/officeDocument/2006/relationships/slide" Target="/ppt/slides/slide7.xml" Id="Re2af0ff9d0bb4875" /><Relationship Type="http://schemas.openxmlformats.org/officeDocument/2006/relationships/slide" Target="/ppt/slides/slide8.xml" Id="R571ae4fc7aaf4a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17a38e08ec4a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5613eebf3a45b8" /><Relationship Type="http://schemas.openxmlformats.org/officeDocument/2006/relationships/notesMaster" Target="/ppt/notesMasters/notesMaster1.xml" Id="R63aac6a4bac345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399095424241b6" /><Relationship Type="http://schemas.openxmlformats.org/officeDocument/2006/relationships/notesMaster" Target="/ppt/notesMasters/notesMaster1.xml" Id="Rd7dcc2257acc4c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91936883984013" /><Relationship Type="http://schemas.openxmlformats.org/officeDocument/2006/relationships/notesMaster" Target="/ppt/notesMasters/notesMaster1.xml" Id="R8059dfa45fa04e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4f1c93a6d145eb" /><Relationship Type="http://schemas.openxmlformats.org/officeDocument/2006/relationships/notesMaster" Target="/ppt/notesMasters/notesMaster1.xml" Id="R28852dcec1b542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98e827faaa4693" /><Relationship Type="http://schemas.openxmlformats.org/officeDocument/2006/relationships/notesMaster" Target="/ppt/notesMasters/notesMaster1.xml" Id="R747a4adb88c341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be3453b8da4fe0" /><Relationship Type="http://schemas.openxmlformats.org/officeDocument/2006/relationships/notesMaster" Target="/ppt/notesMasters/notesMaster1.xml" Id="R934f32f434ba40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be964c4840454b" /><Relationship Type="http://schemas.openxmlformats.org/officeDocument/2006/relationships/notesMaster" Target="/ppt/notesMasters/notesMaster1.xml" Id="R3c82dfdf882842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5f61ed38b9419c" /><Relationship Type="http://schemas.openxmlformats.org/officeDocument/2006/relationships/notesMaster" Target="/ppt/notesMasters/notesMaster1.xml" Id="R6618e3c9c6534b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《中华人民共和国网络安全法》（现行修正版）</a:t>
            </a:r>
          </a:p>
          <a:p xmlns:a="http://schemas.openxmlformats.org/drawingml/2006/main">
            <a:r>
              <a:t>https://www.gjbmj.gov.cn/n1/2026/0421/c409088-40705863.html</a:t>
            </a:r>
          </a:p>
          <a:p xmlns:a="http://schemas.openxmlformats.org/drawingml/2006/main">
            <a:r>
              <a:t>2.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3.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《中华人民共和国网络安全法》（现行修正版）</a:t>
            </a:r>
          </a:p>
          <a:p xmlns:a="http://schemas.openxmlformats.org/drawingml/2006/main">
            <a:r>
              <a:t>https://www.gjbmj.gov.cn/n1/2026/0421/c409088-40705863.html</a:t>
            </a:r>
          </a:p>
          <a:p xmlns:a="http://schemas.openxmlformats.org/drawingml/2006/main">
            <a:r>
              <a:t>2.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3.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核心概念：全流程数据安全管理。结合要点解释定义、适用边界和验证方式。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《中华人民共和国网络安全法》（现行修正版）</a:t>
            </a:r>
          </a:p>
          <a:p xmlns:a="http://schemas.openxmlformats.org/drawingml/2006/main">
            <a:r>
              <a:t>https://www.gjbmj.gov.cn/n1/2026/0421/c409088-40705863.html</a:t>
            </a:r>
          </a:p>
          <a:p xmlns:a="http://schemas.openxmlformats.org/drawingml/2006/main">
            <a:r>
              <a:t>2.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3.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核心概念：个人信息处理原则。结合要点解释定义、适用边界和验证方式。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《中华人民共和国网络安全法》（现行修正版）</a:t>
            </a:r>
          </a:p>
          <a:p xmlns:a="http://schemas.openxmlformats.org/drawingml/2006/main">
            <a:r>
              <a:t>https://www.gjbmj.gov.cn/n1/2026/0421/c409088-40705863.html</a:t>
            </a:r>
          </a:p>
          <a:p xmlns:a="http://schemas.openxmlformats.org/drawingml/2006/main">
            <a:r>
              <a:t>2.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3.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核心概念：敏感个人信息保护。结合要点解释定义、适用边界和验证方式。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《中华人民共和国网络安全法》（现行修正版）</a:t>
            </a:r>
          </a:p>
          <a:p xmlns:a="http://schemas.openxmlformats.org/drawingml/2006/main">
            <a:r>
              <a:t>https://www.gjbmj.gov.cn/n1/2026/0421/c409088-40705863.html</a:t>
            </a:r>
          </a:p>
          <a:p xmlns:a="http://schemas.openxmlformats.org/drawingml/2006/main">
            <a:r>
              <a:t>2.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3.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核心概念：合规责任与证据。结合要点解释定义、适用边界和验证方式。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《中华人民共和国网络安全法》（现行修正版）</a:t>
            </a:r>
          </a:p>
          <a:p xmlns:a="http://schemas.openxmlformats.org/drawingml/2006/main">
            <a:r>
              <a:t>https://www.gjbmj.gov.cn/n1/2026/0421/c409088-40705863.html</a:t>
            </a:r>
          </a:p>
          <a:p xmlns:a="http://schemas.openxmlformats.org/drawingml/2006/main">
            <a:r>
              <a:t>2.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3.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《中华人民共和国网络安全法》（现行修正版）</a:t>
            </a:r>
          </a:p>
          <a:p xmlns:a="http://schemas.openxmlformats.org/drawingml/2006/main">
            <a:r>
              <a:t>https://www.gjbmj.gov.cn/n1/2026/0421/c409088-40705863.html</a:t>
            </a:r>
          </a:p>
          <a:p xmlns:a="http://schemas.openxmlformats.org/drawingml/2006/main">
            <a:r>
              <a:t>2.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3.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《中华人民共和国网络安全法》（现行修正版）</a:t>
            </a:r>
          </a:p>
          <a:p xmlns:a="http://schemas.openxmlformats.org/drawingml/2006/main">
            <a:r>
              <a:t>https://www.gjbmj.gov.cn/n1/2026/0421/c409088-40705863.html</a:t>
            </a:r>
          </a:p>
          <a:p xmlns:a="http://schemas.openxmlformats.org/drawingml/2006/main">
            <a:r>
              <a:t>2.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3.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f8e6a69b54a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7d395a38584b7c" /><Relationship Type="http://schemas.openxmlformats.org/officeDocument/2006/relationships/slideLayout" Target="/ppt/slideLayouts/slideLayout1.xml" Id="Rd0205c4ff27d48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205c4ff27d48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049b070fa4b2b" /><Relationship Type="http://schemas.openxmlformats.org/officeDocument/2006/relationships/image" Target="/ppt/media/image.png" Id="R7eaae01cad824e27" /><Relationship Type="http://schemas.openxmlformats.org/officeDocument/2006/relationships/notesSlide" Target="/ppt/notesSlides/notesSlide1.xml" Id="R8fca1c3d395c44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112d379154e94" /><Relationship Type="http://schemas.openxmlformats.org/officeDocument/2006/relationships/notesSlide" Target="/ppt/notesSlides/notesSlide2.xml" Id="Rfcc34e5537da42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40153fbdd4ace" /><Relationship Type="http://schemas.openxmlformats.org/officeDocument/2006/relationships/notesSlide" Target="/ppt/notesSlides/notesSlide3.xml" Id="R7a202ff6b46240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27f86e15d49ad" /><Relationship Type="http://schemas.openxmlformats.org/officeDocument/2006/relationships/notesSlide" Target="/ppt/notesSlides/notesSlide4.xml" Id="R6667fc6ab9bf49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bb763d1e24e98" /><Relationship Type="http://schemas.openxmlformats.org/officeDocument/2006/relationships/notesSlide" Target="/ppt/notesSlides/notesSlide5.xml" Id="R6546a6b14f2543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f870dbd7846a4" /><Relationship Type="http://schemas.openxmlformats.org/officeDocument/2006/relationships/notesSlide" Target="/ppt/notesSlides/notesSlide6.xml" Id="Rf0c1a30d94a048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59cd0698d443d" /><Relationship Type="http://schemas.openxmlformats.org/officeDocument/2006/relationships/notesSlide" Target="/ppt/notesSlides/notesSlide7.xml" Id="R83036c8babfe46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0fdf5cc3545f8" /><Relationship Type="http://schemas.openxmlformats.org/officeDocument/2006/relationships/notesSlide" Target="/ppt/notesSlides/notesSlide8.xml" Id="Rc87b105c447a48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ae01cad824e2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EFF0B-A4DE-44B4-9172-092E56CB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1 章  ·  1.5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BB8B5-8BCE-444A-A509-DEB79415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数据安全法律法规与合规要求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9FDB0-E62A-4BA7-8A40-A936766D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B9076-4F2B-4E5B-8400-E14E187E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21166948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D71A1-015E-4211-8B5F-39BD2EB5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893C2-578E-4367-B8EC-10FF4422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1.5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038E1-D95B-4753-BC59-9BCD44BA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8E9F5-0BF6-48BE-B5C7-B03832C4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能够说明网络安全法、数据安全法和个人信息保护法的主要适用边界。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能够把法定义务映射为制度、技术、人员和证据留存要求。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5BB2A-1A66-48AA-B252-D4E0D925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F9FA5-FA9B-48B6-89D0-C28132B4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全流程数据安全管理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个人信息处理原则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敏感个人信息保护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合规责任与证据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0B875-A49D-4F9A-95AE-A1E9AA16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1.5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409E1-0352-48B3-B496-251ADCF1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086525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BB0A8-CB94-40F8-8F5E-3FB63B47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4E7E7-CBB0-4ACC-B2B5-33DB7830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全流程数据安全管理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5229B-E475-4432-A82F-AA46B54B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全流程管理把安全责任嵌入数据处理的每个环节，而不是在事故后补充技术措施。制度应规定责任、分类分级、权限、风险监测、事件处置和教育培训，并由运行证据证明执行。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02E8B-50AF-4A22-9F9E-B03028E9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明确主要负责人和具体岗位职责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把制度要求配置到系统审批和技术策略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定期开展风险评估、检查与整改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保留培训、操作、告警和处置记录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E7B4D-3964-4938-9F18-F89E1730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41008-ABD6-42F4-8440-4749C84F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206504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81227-091E-4831-A915-A8291B62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30AE6-27D4-44AB-9FBE-77077C06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个人信息处理原则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47ACE-2975-46D0-B332-C6C0D38C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个人信息处理应具备明确合理目的，与目的直接相关，并采取对个人权益影响最小的方式。公开透明、质量保障、安全保护和责任落实共同约束数据的收集、使用与删除。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A3DF6-9F47-4AF8-8442-01C70706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告知内容应真实、准确且便于理解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不以默认勾选替代有效选择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错误信息应提供更正机制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达到目的或期限后及时删除或匿名化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0F3A9-679D-4B0A-88D5-40D167FF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E42F5-3C4C-450A-AB9B-CCE0B5BE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387091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C84A0-A107-4983-8494-FCB60AF3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F9C09-00E1-483E-9918-A6953B12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敏感个人信息保护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529D3-8DA4-45D9-9781-7FDB1BC7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敏感个人信息一旦泄露或被滥用，容易侵害人格尊严或危害人身、财产安全。处理此类信息需要特定目的、充分必要性、更严格措施以及依法适用的单独同意等要求。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0DE97-921A-4424-8744-F6BD24C3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先识别生物识别、医疗健康、金融账户等类型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限制可访问人员和批量导出能力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开展影响评估并记录保护措施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未成年人信息需落实特别保护要求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22652-EB0D-4E89-A218-57DEFAB7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BE514-429C-4BB8-BD2D-5A438EE5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8725421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19C1F-D17D-437B-A663-2D13A851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A02BD-7394-4D38-8079-D3336E67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合规责任与证据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74996-9C98-4057-B6B0-AB62EE8E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合规不仅要求采取措施，还要求能够证明措施在特定时间和范围内真实运行。政策、审批、配置、日志、评估和整改记录共同形成可核验的证据链。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579C2-0419-4129-A3D5-1070573E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证据应标明责任人、时间、对象和结果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制度文本不能替代运行记录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失败与例外也应如实记录并闭环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证据保留期限要匹配监管和争议需要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58A8D-5311-4F3D-964C-F1D0BDAF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17448-FB03-4B91-BE67-DCAB14BA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9619559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BDF8F-0557-44A7-AB0A-4A788CB6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C5958-36FF-4621-9D18-8F5328D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F977A-2F52-47F4-B815-F966C759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某应用采集定位信息前，重新核对业务必要性、单独告知和授权方式，并把访问审批、操作日志和删除机制纳入合规证据链。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232D6-0CE8-41F5-8D43-F99B6F09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99A31-6C7E-45D5-A3A8-9E5E7A47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B3D19-720B-44C0-A245-F8E60A16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1.5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3EC88-5A8C-40E8-A9D0-B4905E40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163025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8E762-87B4-4597-A552-59B9EC31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0093E-CB83-48BF-830D-7EEDA388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处理个人信息时为什么要坚持最小必要？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2C49E-E7DA-4318-825A-DD49700F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C48FB-2E2D-4A33-A900-F36BFF2F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处理应与明确合理的目的直接相关，并把范围和保存期限限制在实现目的所必需的程度。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AACFF-6001-4F83-8773-CE2E1734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1.5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53D8A-5E0C-431B-80DE-FF3E2820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914576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2026-09-21T18:10:06.0390000Z</dcterms:created>
  <dcterms:modified xsi:type="dcterms:W3CDTF">2026-09-21T18:10:06.0390000Z</dcterms:modified>
</coreProperties>
</file>