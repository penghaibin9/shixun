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a58a6135894b24" /><Relationship Type="http://schemas.openxmlformats.org/officeDocument/2006/relationships/extended-properties" Target="/docProps/app.xml" Id="Rd92fc1041de74f60" /><Relationship Type="http://schemas.openxmlformats.org/officeDocument/2006/relationships/officeDocument" Target="/ppt/presentation.xml" Id="Rea60c387d7c54c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7dd7ba4f0a458f"/>
  </p:sldMasterIdLst>
  <p:notesMasterIdLst>
    <p:notesMasterId xmlns:r="http://schemas.openxmlformats.org/officeDocument/2006/relationships" r:id="Rb30043cd9ab24e4c"/>
  </p:notesMasterIdLst>
  <p:sldIdLst>
    <p:sldId xmlns:r="http://schemas.openxmlformats.org/officeDocument/2006/relationships" id="256" r:id="R8beb7d9578fe4a7c"/>
    <p:sldId xmlns:r="http://schemas.openxmlformats.org/officeDocument/2006/relationships" id="257" r:id="R2c975b1c5cc549d9"/>
    <p:sldId xmlns:r="http://schemas.openxmlformats.org/officeDocument/2006/relationships" id="258" r:id="Rd26292defcdc438a"/>
    <p:sldId xmlns:r="http://schemas.openxmlformats.org/officeDocument/2006/relationships" id="259" r:id="Ra275c473790d45a9"/>
    <p:sldId xmlns:r="http://schemas.openxmlformats.org/officeDocument/2006/relationships" id="260" r:id="Re3b10d776bea4861"/>
    <p:sldId xmlns:r="http://schemas.openxmlformats.org/officeDocument/2006/relationships" id="261" r:id="R453cba15d5114f67"/>
    <p:sldId xmlns:r="http://schemas.openxmlformats.org/officeDocument/2006/relationships" id="262" r:id="R55103da85f3146ec"/>
    <p:sldId xmlns:r="http://schemas.openxmlformats.org/officeDocument/2006/relationships" id="263" r:id="Reb942bb0bbff42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6654d41c2f4746" /><Relationship Type="http://schemas.openxmlformats.org/officeDocument/2006/relationships/slideMaster" Target="/ppt/slideMasters/slideMaster1.xml" Id="R2d7dd7ba4f0a458f" /><Relationship Type="http://schemas.openxmlformats.org/officeDocument/2006/relationships/notesMaster" Target="/ppt/notesMasters/notesMaster1.xml" Id="Rb30043cd9ab24e4c" /><Relationship Type="http://schemas.openxmlformats.org/officeDocument/2006/relationships/presProps" Target="/ppt/presProps.xml" Id="R68b93cc926d14ce1" /><Relationship Type="http://schemas.openxmlformats.org/officeDocument/2006/relationships/tableStyles" Target="/ppt/tableStyles.xml" Id="R2782727dcaea44a4" /><Relationship Type="http://schemas.openxmlformats.org/officeDocument/2006/relationships/slide" Target="/ppt/slides/slide1.xml" Id="R8beb7d9578fe4a7c" /><Relationship Type="http://schemas.openxmlformats.org/officeDocument/2006/relationships/slide" Target="/ppt/slides/slide2.xml" Id="R2c975b1c5cc549d9" /><Relationship Type="http://schemas.openxmlformats.org/officeDocument/2006/relationships/slide" Target="/ppt/slides/slide3.xml" Id="Rd26292defcdc438a" /><Relationship Type="http://schemas.openxmlformats.org/officeDocument/2006/relationships/slide" Target="/ppt/slides/slide4.xml" Id="Ra275c473790d45a9" /><Relationship Type="http://schemas.openxmlformats.org/officeDocument/2006/relationships/slide" Target="/ppt/slides/slide5.xml" Id="Re3b10d776bea4861" /><Relationship Type="http://schemas.openxmlformats.org/officeDocument/2006/relationships/slide" Target="/ppt/slides/slide6.xml" Id="R453cba15d5114f67" /><Relationship Type="http://schemas.openxmlformats.org/officeDocument/2006/relationships/slide" Target="/ppt/slides/slide7.xml" Id="R55103da85f3146ec" /><Relationship Type="http://schemas.openxmlformats.org/officeDocument/2006/relationships/slide" Target="/ppt/slides/slide8.xml" Id="Reb942bb0bbff42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ad2132486244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ab7dda81864183" /><Relationship Type="http://schemas.openxmlformats.org/officeDocument/2006/relationships/notesMaster" Target="/ppt/notesMasters/notesMaster1.xml" Id="Rf1630b6f6b1b46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639674f74a4b52" /><Relationship Type="http://schemas.openxmlformats.org/officeDocument/2006/relationships/notesMaster" Target="/ppt/notesMasters/notesMaster1.xml" Id="R98f7209817694b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590610075e4693" /><Relationship Type="http://schemas.openxmlformats.org/officeDocument/2006/relationships/notesMaster" Target="/ppt/notesMasters/notesMaster1.xml" Id="R7887503ab00c4a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25142068fc4bfd" /><Relationship Type="http://schemas.openxmlformats.org/officeDocument/2006/relationships/notesMaster" Target="/ppt/notesMasters/notesMaster1.xml" Id="R5ae7345e3fe141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0917a84d244e06" /><Relationship Type="http://schemas.openxmlformats.org/officeDocument/2006/relationships/notesMaster" Target="/ppt/notesMasters/notesMaster1.xml" Id="Ra196bbe9774e42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a5f632c7b247c2" /><Relationship Type="http://schemas.openxmlformats.org/officeDocument/2006/relationships/notesMaster" Target="/ppt/notesMasters/notesMaster1.xml" Id="R5e94c6e07b2e40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2a38141b24439b" /><Relationship Type="http://schemas.openxmlformats.org/officeDocument/2006/relationships/notesMaster" Target="/ppt/notesMasters/notesMaster1.xml" Id="R80fe525ccf644d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a5e8e94f354585" /><Relationship Type="http://schemas.openxmlformats.org/officeDocument/2006/relationships/notesMaster" Target="/ppt/notesMasters/notesMaster1.xml" Id="R861a383e8007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正式题库 1.4 课时内容</a:t>
            </a:r>
          </a:p>
          <a:p xmlns:a="http://schemas.openxmlformats.org/drawingml/2006/main">
            <a:r>
              <a:t>backend/app/resources/content/question-bank-v1.json#lesson_theory_1_4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正式题库 1.4 课时内容</a:t>
            </a:r>
          </a:p>
          <a:p xmlns:a="http://schemas.openxmlformats.org/drawingml/2006/main">
            <a:r>
              <a:t>backend/app/resources/content/question-bank-v1.json#lesson_theory_1_4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核心概念：攻击面与攻击链。结合要点解释定义、适用边界和验证方式。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正式题库 1.4 课时内容</a:t>
            </a:r>
          </a:p>
          <a:p xmlns:a="http://schemas.openxmlformats.org/drawingml/2006/main">
            <a:r>
              <a:t>backend/app/resources/content/question-bank-v1.json#lesson_theory_1_4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核心概念：恶意软件与勒索软件。结合要点解释定义、适用边界和验证方式。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正式题库 1.4 课时内容</a:t>
            </a:r>
          </a:p>
          <a:p xmlns:a="http://schemas.openxmlformats.org/drawingml/2006/main">
            <a:r>
              <a:t>backend/app/resources/content/question-bank-v1.json#lesson_theory_1_4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核心概念：社会工程攻击。结合要点解释定义、适用边界和验证方式。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正式题库 1.4 课时内容</a:t>
            </a:r>
          </a:p>
          <a:p xmlns:a="http://schemas.openxmlformats.org/drawingml/2006/main">
            <a:r>
              <a:t>backend/app/resources/content/question-bank-v1.json#lesson_theory_1_4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核心概念：IoT（物联网）设备安全。结合要点解释定义、适用边界和验证方式。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正式题库 1.4 课时内容</a:t>
            </a:r>
          </a:p>
          <a:p xmlns:a="http://schemas.openxmlformats.org/drawingml/2006/main">
            <a:r>
              <a:t>backend/app/resources/content/question-bank-v1.json#lesson_theory_1_4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正式题库 1.4 课时内容</a:t>
            </a:r>
          </a:p>
          <a:p xmlns:a="http://schemas.openxmlformats.org/drawingml/2006/main">
            <a:r>
              <a:t>backend/app/resources/content/question-bank-v1.json#lesson_theory_1_4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正式题库 1.4 课时内容</a:t>
            </a:r>
          </a:p>
          <a:p xmlns:a="http://schemas.openxmlformats.org/drawingml/2006/main">
            <a:r>
              <a:t>backend/app/resources/content/question-bank-v1.json#lesson_theory_1_4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70c73016a4c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648064a7df4055" /><Relationship Type="http://schemas.openxmlformats.org/officeDocument/2006/relationships/slideLayout" Target="/ppt/slideLayouts/slideLayout1.xml" Id="Rdb609c3cd42f4b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09c3cd42f4b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602393a3e447b" /><Relationship Type="http://schemas.openxmlformats.org/officeDocument/2006/relationships/image" Target="/ppt/media/image.png" Id="R99f2006aa7dc42ab" /><Relationship Type="http://schemas.openxmlformats.org/officeDocument/2006/relationships/notesSlide" Target="/ppt/notesSlides/notesSlide1.xml" Id="Rf8c2dcd8830f49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d0023b81e44e7" /><Relationship Type="http://schemas.openxmlformats.org/officeDocument/2006/relationships/notesSlide" Target="/ppt/notesSlides/notesSlide2.xml" Id="R3ef2bf3d3dd744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0e359f714471c" /><Relationship Type="http://schemas.openxmlformats.org/officeDocument/2006/relationships/notesSlide" Target="/ppt/notesSlides/notesSlide3.xml" Id="R0ac1dda65e974a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2ca0e4365494f" /><Relationship Type="http://schemas.openxmlformats.org/officeDocument/2006/relationships/notesSlide" Target="/ppt/notesSlides/notesSlide4.xml" Id="R1750b5e9a59743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46d9240db4aab" /><Relationship Type="http://schemas.openxmlformats.org/officeDocument/2006/relationships/notesSlide" Target="/ppt/notesSlides/notesSlide5.xml" Id="R712253f69a6a40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586cc55b14f71" /><Relationship Type="http://schemas.openxmlformats.org/officeDocument/2006/relationships/notesSlide" Target="/ppt/notesSlides/notesSlide6.xml" Id="R2dee9e5b1a5243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9fac7076d438b" /><Relationship Type="http://schemas.openxmlformats.org/officeDocument/2006/relationships/notesSlide" Target="/ppt/notesSlides/notesSlide7.xml" Id="Rc455f4b53b054f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be77f06cc4bd9" /><Relationship Type="http://schemas.openxmlformats.org/officeDocument/2006/relationships/notesSlide" Target="/ppt/notesSlides/notesSlide8.xml" Id="Rb07b6aae97ef4a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2006aa7dc42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E3FC0-C42B-4C52-A5FE-BC55D2E5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1 章  ·  1.4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F54A5-2362-4784-A142-BEAB4939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数据安全威胁分析：黑客攻击、恶意软件、社工攻击、物联网安全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F3F7C-66BA-41FE-A6D1-B07A07F3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A67B2-9FE5-46E2-BE3B-86B257B3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727573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7A9E6-DF1B-42C2-B931-9340F40A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02EEA-F575-4D81-B5DF-CF291E77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1.4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0F1CF-E0CF-472B-82C5-4DF6E88A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B4672-9C7D-428F-82CE-97DA745E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能够从攻击者、攻击面、路径和影响四个维度描述常见数据安全威胁。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能够为恶意软件、社会工程和物联网设备风险选择分层防护措施。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86A46-875E-4740-8F7B-9B0CDAEA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C0C47-4B7D-4EAA-A1A7-AE1AEBCA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攻击面与攻击链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恶意软件与勒索软件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社会工程攻击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IoT（物联网）设备安全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236B6-7FC8-4CD7-B9EE-88890EC8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1.4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D941B-17CD-4FBC-9A6A-52AAFCC8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08757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004D4-92B8-492C-B20E-6FCDA0F2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B526D-886C-40D7-927C-7DD9582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攻击面与攻击链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8228E-C423-4016-9F4F-B2085989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攻击面包括所有可被接触的账号、接口、设备、供应链和人员入口。攻击链描述攻击者从侦察、初始进入到权限扩大和目标达成的连续步骤，任一环节被阻断都可能降低整体风险。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BA631-19F0-4407-932D-4683E6D5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持续盘点公网资产、账号和第三方连接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把单个告警放入完整攻击路径分析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优先收缩不必要的入口与权限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防护、检测和响应应覆盖链路不同阶段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ADB2F-94FD-4E9A-ABD7-6AB4BB97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62A04-8300-48F9-ADAD-391890E0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54828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07753-8A0E-48DC-A93E-9E1F2894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BAEF0-5220-41C8-9CA3-5DA6618B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恶意软件与勒索软件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5EE0E-70DC-4414-AEBB-A89CF3BE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恶意软件通过执行恶意代码窃取、破坏或控制数据，勒索软件常同时加密文件并威胁泄露。仅恢复文件不能处理凭据失窃、横向移动和数据外传等后续风险。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B34FC-1EA3-43CB-BFF4-89432529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限制宏、脚本和未知程序执行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终端检测需与网络隔离联动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备份副本应与生产权限隔离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处置时同时核查加密与外传证据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AD75D-E518-4DB3-82CD-AC26CC84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2E74C-0990-47B8-B0E8-853B4497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79263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B6CF9-2DC5-40DD-B12B-2A0E6CD0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730C8-90A2-4071-88D9-E782D3D8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社会工程攻击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50C41-0C50-474A-A270-74BAAC65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社会工程利用信任、紧迫感、权威或好奇心诱导人员绕过正常流程。识别关键不在邮件措辞本身，而在请求是否要求泄密、转账、修改权限或跳过核验。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68E03-AF65-48BA-9A05-C0A10734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高风险请求使用独立渠道二次确认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培训应包含真实情境演练和报告入口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禁止通过消息直接索取口令和验证码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建立可快速冻结账号的响应流程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021D7-E2E1-442C-8EBB-27719020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ADF90-E7F3-4E5B-B7BF-F36BBCF7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49991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F4DD0-4739-4280-9E19-D02F4D56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523B9-EC6F-4D9D-824D-8418A73D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IoT（物联网）设备安全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EC25F-F600-4EC3-A12C-16E5502A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IoT（物联网）设备通常计算资源有限、更新周期长且默认配置薄弱，容易成为进入内部网络的跳板。其安全边界应覆盖采购、部署、联网、更新、监测和退役全过程。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A1E9B-1CA0-487E-B848-ACF13CEA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投产前更改默认口令并关闭无用服务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放入独立网段并限制管理来源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登记固件版本和厂商支持期限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退役时清除配置、证书和业务数据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2BE54-6DA1-4CE9-BC9C-E6A37612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00A6B-0264-426E-A317-6B66E1F2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3052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66088-F203-45CD-901F-548828A5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6503B-85FF-497E-BAEC-5AD5E581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E4FB3-5752-4EB5-BFF6-DF98DAEF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攻击者先用钓鱼邮件窃取账号，再利用未修补的物联网摄像头进入办公网，最终加密共享盘；处置需要同时覆盖人员、终端、网络分区和备份。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2BDFC-DF89-41CA-9584-5DC6D73B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5FD37-B7D5-4ABC-A7C2-2B02745C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9AEC1-7EFC-4C24-83A3-7D3B6B9A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1.4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E01DE-B33E-459A-AEBA-95EFDAE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50880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FED9D-6032-4912-BCDF-47D1DA66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3D704-66CE-4E24-AED6-7BA312DA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为什么部署杀毒软件后仍不能忽略钓鱼防范？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DE571-194C-4803-AED5-7B9E6589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E072-8286-4508-9FDB-7BB99B31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社会工程利用人的信任和流程缺口，单一终端工具无法替代身份核验、最小权限、培训和持续监测。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19E24-06F5-4103-8E45-E9E756E8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1.4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4CD3C-132D-4308-AF00-71E0852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65376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2026-09-21T18:10:02.6260000Z</dcterms:created>
  <dcterms:modified xsi:type="dcterms:W3CDTF">2026-09-21T18:10:02.6260000Z</dcterms:modified>
</coreProperties>
</file>