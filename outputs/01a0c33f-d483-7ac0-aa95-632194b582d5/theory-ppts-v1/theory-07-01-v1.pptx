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bf6818fe0848c9" /><Relationship Type="http://schemas.openxmlformats.org/officeDocument/2006/relationships/extended-properties" Target="/docProps/app.xml" Id="Rc1560f58cfc545aa" /><Relationship Type="http://schemas.openxmlformats.org/officeDocument/2006/relationships/officeDocument" Target="/ppt/presentation.xml" Id="R2ec7abc4c502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0a9dfcbe74d1f"/>
  </p:sldMasterIdLst>
  <p:notesMasterIdLst>
    <p:notesMasterId xmlns:r="http://schemas.openxmlformats.org/officeDocument/2006/relationships" r:id="R70e43edd41eb4ec0"/>
  </p:notesMasterIdLst>
  <p:sldIdLst>
    <p:sldId xmlns:r="http://schemas.openxmlformats.org/officeDocument/2006/relationships" id="256" r:id="R1ef6ca996646460d"/>
    <p:sldId xmlns:r="http://schemas.openxmlformats.org/officeDocument/2006/relationships" id="257" r:id="R2ebf9a6a23094247"/>
    <p:sldId xmlns:r="http://schemas.openxmlformats.org/officeDocument/2006/relationships" id="258" r:id="R6c2c56ffc3d84f4f"/>
    <p:sldId xmlns:r="http://schemas.openxmlformats.org/officeDocument/2006/relationships" id="259" r:id="R3bdd22d61c9c46c2"/>
    <p:sldId xmlns:r="http://schemas.openxmlformats.org/officeDocument/2006/relationships" id="260" r:id="Rc2843376565e4723"/>
    <p:sldId xmlns:r="http://schemas.openxmlformats.org/officeDocument/2006/relationships" id="261" r:id="R8820d2cf748041cc"/>
    <p:sldId xmlns:r="http://schemas.openxmlformats.org/officeDocument/2006/relationships" id="262" r:id="Rdf441fd5977540b4"/>
    <p:sldId xmlns:r="http://schemas.openxmlformats.org/officeDocument/2006/relationships" id="263" r:id="Rdf6b8adff070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28aa55d384b00" /><Relationship Type="http://schemas.openxmlformats.org/officeDocument/2006/relationships/slideMaster" Target="/ppt/slideMasters/slideMaster1.xml" Id="R8170a9dfcbe74d1f" /><Relationship Type="http://schemas.openxmlformats.org/officeDocument/2006/relationships/notesMaster" Target="/ppt/notesMasters/notesMaster1.xml" Id="R70e43edd41eb4ec0" /><Relationship Type="http://schemas.openxmlformats.org/officeDocument/2006/relationships/presProps" Target="/ppt/presProps.xml" Id="Rdd3f3088afcb4e56" /><Relationship Type="http://schemas.openxmlformats.org/officeDocument/2006/relationships/tableStyles" Target="/ppt/tableStyles.xml" Id="Rf1ab44bac7ae4f75" /><Relationship Type="http://schemas.openxmlformats.org/officeDocument/2006/relationships/slide" Target="/ppt/slides/slide1.xml" Id="R1ef6ca996646460d" /><Relationship Type="http://schemas.openxmlformats.org/officeDocument/2006/relationships/slide" Target="/ppt/slides/slide2.xml" Id="R2ebf9a6a23094247" /><Relationship Type="http://schemas.openxmlformats.org/officeDocument/2006/relationships/slide" Target="/ppt/slides/slide3.xml" Id="R6c2c56ffc3d84f4f" /><Relationship Type="http://schemas.openxmlformats.org/officeDocument/2006/relationships/slide" Target="/ppt/slides/slide4.xml" Id="R3bdd22d61c9c46c2" /><Relationship Type="http://schemas.openxmlformats.org/officeDocument/2006/relationships/slide" Target="/ppt/slides/slide5.xml" Id="Rc2843376565e4723" /><Relationship Type="http://schemas.openxmlformats.org/officeDocument/2006/relationships/slide" Target="/ppt/slides/slide6.xml" Id="R8820d2cf748041cc" /><Relationship Type="http://schemas.openxmlformats.org/officeDocument/2006/relationships/slide" Target="/ppt/slides/slide7.xml" Id="Rdf441fd5977540b4" /><Relationship Type="http://schemas.openxmlformats.org/officeDocument/2006/relationships/slide" Target="/ppt/slides/slide8.xml" Id="Rdf6b8adff070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fc074895e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62bb1e78f46ae" /><Relationship Type="http://schemas.openxmlformats.org/officeDocument/2006/relationships/notesMaster" Target="/ppt/notesMasters/notesMaster1.xml" Id="R43f9dc0aa667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81befa8f343c0" /><Relationship Type="http://schemas.openxmlformats.org/officeDocument/2006/relationships/notesMaster" Target="/ppt/notesMasters/notesMaster1.xml" Id="R06f2b03a0a9d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09634d89154f98" /><Relationship Type="http://schemas.openxmlformats.org/officeDocument/2006/relationships/notesMaster" Target="/ppt/notesMasters/notesMaster1.xml" Id="R7a8bbd9392244c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6fe1c170d48c7" /><Relationship Type="http://schemas.openxmlformats.org/officeDocument/2006/relationships/notesMaster" Target="/ppt/notesMasters/notesMaster1.xml" Id="R3795f93c306b40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19dbdd58744fd3" /><Relationship Type="http://schemas.openxmlformats.org/officeDocument/2006/relationships/notesMaster" Target="/ppt/notesMasters/notesMaster1.xml" Id="R4318212803e2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7ab6525524d9d" /><Relationship Type="http://schemas.openxmlformats.org/officeDocument/2006/relationships/notesMaster" Target="/ppt/notesMasters/notesMaster1.xml" Id="R7abb16923a0d4a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f51ebd89ed419f" /><Relationship Type="http://schemas.openxmlformats.org/officeDocument/2006/relationships/notesMaster" Target="/ppt/notesMasters/notesMaster1.xml" Id="R12503d2821cd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adfaf55144421" /><Relationship Type="http://schemas.openxmlformats.org/officeDocument/2006/relationships/notesMaster" Target="/ppt/notesMasters/notesMaster1.xml" Id="R63f0df5bbf63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核心概念：治理目标与风险偏好。结合要点解释定义、适用边界和验证方式。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核心概念：组织与责任。结合要点解释定义、适用边界和验证方式。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核心概念：制度和技术协同。结合要点解释定义、适用边界和验证方式。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核心概念：度量与持续改进。结合要点解释定义、适用边界和验证方式。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3. 正式题库 7.1 课时内容</a:t>
            </a:r>
          </a:p>
          <a:p xmlns:a="http://schemas.openxmlformats.org/drawingml/2006/main">
            <a:r>
              <a:t>backend/app/resources/content/question-bank-v1.json#lesson_theory_7_1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24b0d845b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bb66407cdf4cd2" /><Relationship Type="http://schemas.openxmlformats.org/officeDocument/2006/relationships/slideLayout" Target="/ppt/slideLayouts/slideLayout1.xml" Id="Rdd8d073d4ef6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d073d4ef6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dba3b7b9348ad" /><Relationship Type="http://schemas.openxmlformats.org/officeDocument/2006/relationships/image" Target="/ppt/media/image.png" Id="Rc6c9f888a0684bc7" /><Relationship Type="http://schemas.openxmlformats.org/officeDocument/2006/relationships/notesSlide" Target="/ppt/notesSlides/notesSlide1.xml" Id="R835fbe5058db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10edbee7d43a9" /><Relationship Type="http://schemas.openxmlformats.org/officeDocument/2006/relationships/notesSlide" Target="/ppt/notesSlides/notesSlide2.xml" Id="R1061adce8ec143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8371577544477" /><Relationship Type="http://schemas.openxmlformats.org/officeDocument/2006/relationships/notesSlide" Target="/ppt/notesSlides/notesSlide3.xml" Id="R2f7c3fb9b1e34d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4a138d8448b9" /><Relationship Type="http://schemas.openxmlformats.org/officeDocument/2006/relationships/notesSlide" Target="/ppt/notesSlides/notesSlide4.xml" Id="Rbec2160c39b6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7300bf67e4de0" /><Relationship Type="http://schemas.openxmlformats.org/officeDocument/2006/relationships/notesSlide" Target="/ppt/notesSlides/notesSlide5.xml" Id="R5b790dce16fd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cbac325c4391" /><Relationship Type="http://schemas.openxmlformats.org/officeDocument/2006/relationships/notesSlide" Target="/ppt/notesSlides/notesSlide6.xml" Id="R490843bd43d343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c21f862014ea1" /><Relationship Type="http://schemas.openxmlformats.org/officeDocument/2006/relationships/notesSlide" Target="/ppt/notesSlides/notesSlide7.xml" Id="R1f6482aa148749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cf9a9c8c74d27" /><Relationship Type="http://schemas.openxmlformats.org/officeDocument/2006/relationships/notesSlide" Target="/ppt/notesSlides/notesSlide8.xml" Id="R8ea6fd072fc6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9f888a0684b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63D1-AF87-4DE6-93D0-245FBBC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7 章  ·  7.1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0E610-6496-4D5F-8FCF-7A90E67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数据安全治理的概念、目标与体系框架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7E97F-B5AF-42CE-9FA6-03601A27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4D6C-4EE7-42AC-9135-CC302B9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567668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0136A-B1A6-4259-9D48-FE2E8683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18809-CF11-4646-BA39-C3166BD1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7.1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921B-01ED-45D4-B527-86ED48D2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89C9F-6621-43A1-BEAF-AB7278D9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能够说明数据安全治理如何协调数据利用价值、风险和合规要求。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能够构建组织责任、制度流程、技术控制和监督改进组成的治理框架。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E908F-D231-4790-BF06-A75B1414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28020-F0A3-4C11-9C4F-87485DC8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治理目标与风险偏好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组织与责任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制度和技术协同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度量与持续改进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4B59E-7DA7-43EE-842E-5EFB820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D9180-C4C4-4D7B-B30A-A56A73B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8831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1A3CF-02C2-4086-A41C-DCA6911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81A13-B7DB-463E-B5A5-3311E40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治理目标与风险偏好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4A081-40C8-46A4-9568-0B48CAB1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数据安全治理的目标是在可接受风险内支持数据合规、可信和持续利用，而不是消除一切风险。风险偏好由管理层明确哪些损失可以承受、哪些行为必须禁止，并转化为可执行边界。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C71E6-5ECF-403A-AB2A-92FE0B72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目标同时覆盖价值利用、权益保护和业务连续性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风险偏好需按数据和业务场景细化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超出容忍度的风险必须处置或升级决策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目标变化时同步调整指标和控制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2FCEC-AEFC-471E-8668-EA93CEE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308B6-0C69-4FFD-B011-E5CB611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39717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5E3C-A0A1-42F0-8558-3ABF8E9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A066D-67A8-4EF2-9331-7B8B731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组织与责任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5A698-BC5B-4228-99F8-BB794CCB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治理组织把决策、执行、监督和问责分配给明确主体，避免安全工作无人负责或重复负责。业务负责人掌握用途和价值，安全、法务、技术与审计分别提供专业约束并相互制衡。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55824-9C67-446A-96D8-56BC1EC3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建立跨部门决策和争议升级机制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数据所有者对分类、用途和共享负责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系统责任人落实技术和运行控制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审计或监督角色保持适当独立性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BAAB5-D977-4A3A-B27E-A5F8EC6C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8BDF-EB9E-4022-8D4C-079C4ED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40384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47B5B-F2DB-4135-87FF-4CD8CC82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3AAED-7770-433D-85F1-AE668C0F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制度和技术协同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28FA8-F741-415D-9E74-ED936A3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制度规定允许与禁止的行为、审批路径和责任，技术控制把规则固化到身份、权限、加密、审计和数据处理流程。只有制度没有配置会落空，只有工具没有规则则难以判断控制目标。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0AA4D-D998-474B-89FA-7401AB2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制度条款映射到具体系统策略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例外审批设置期限和补偿措施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技术告警触发规定的响应流程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控制变更同步更新制度与培训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AD42B-4D34-4CC8-8DA5-D590639C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3AD2D-63CA-40B2-BC06-EB156BCB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17370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45D69-D7E5-4F8A-ADC8-B34482A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6C218-F16D-4E2A-9D36-5FE0B23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度量与持续改进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ED1F5-9B9F-4BCD-B07C-1F5D86B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度量用可解释指标观察治理目标、控制执行和风险变化，持续改进根据结果调整责任、流程和技术。指标数量并不代表有效，关键是能指导决策并追踪整改是否降低风险。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D080-B212-4776-8467-DD16795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区分覆盖率、有效性和风险结果指标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指标给出数据来源、口径和责任人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异常趋势触发根因分析而非只报数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改进措施完成后复测控制效果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090EC-251A-482B-B87E-C743AAE4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A8C06-9461-4264-854A-F7BE56A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54759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8A8B-2EDD-4BBB-B11D-D4F4C56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BDEB1-7BB8-4255-9428-CC62FC91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2E977-10FF-41E4-8753-3A2D7BD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学校建立数据治理委员会，由业务负责人解释数据用途，安全和法务提供控制要求，审计部门按指标复核执行效果。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89D6-6CC7-49EA-AC31-659F72C7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D167-B56B-4C3A-A482-594EBA13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08979-0B3A-4894-9085-34478698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04F5F-037F-4AD3-A832-7F102BCC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57910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E4218-E2C2-486F-A874-8743CEB4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219A6-6454-42A3-A87A-B3313D0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为什么数据安全治理不能只由技术部门负责？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6826A-DDCD-4E6B-8720-966827C6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30E51-185B-4B1D-A3B5-973DB8ED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业务部门掌握数据语义和使用目的，治理还涉及法务、合规、审计与管理责任，必须跨职能协同。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60178-9A0D-4A90-AB27-D613A2C7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7.1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092DA-D6F8-4193-8A26-B0FA9F6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99891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2026-09-21T18:11:43.6530000Z</dcterms:created>
  <dcterms:modified xsi:type="dcterms:W3CDTF">2026-09-21T18:11:43.6530000Z</dcterms:modified>
</coreProperties>
</file>