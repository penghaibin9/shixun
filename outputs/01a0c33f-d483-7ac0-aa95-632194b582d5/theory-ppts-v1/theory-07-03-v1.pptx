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d3fb0bf2b540c1" /><Relationship Type="http://schemas.openxmlformats.org/officeDocument/2006/relationships/extended-properties" Target="/docProps/app.xml" Id="Rb6d34363e4d54007" /><Relationship Type="http://schemas.openxmlformats.org/officeDocument/2006/relationships/officeDocument" Target="/ppt/presentation.xml" Id="R5906976d109046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ae9bbf8aea4714"/>
  </p:sldMasterIdLst>
  <p:notesMasterIdLst>
    <p:notesMasterId xmlns:r="http://schemas.openxmlformats.org/officeDocument/2006/relationships" r:id="R534303abee914c0e"/>
  </p:notesMasterIdLst>
  <p:sldIdLst>
    <p:sldId xmlns:r="http://schemas.openxmlformats.org/officeDocument/2006/relationships" id="256" r:id="R75ea98c999cf4e79"/>
    <p:sldId xmlns:r="http://schemas.openxmlformats.org/officeDocument/2006/relationships" id="257" r:id="R39fa1a70a0824764"/>
    <p:sldId xmlns:r="http://schemas.openxmlformats.org/officeDocument/2006/relationships" id="258" r:id="R38ed36da496b42eb"/>
    <p:sldId xmlns:r="http://schemas.openxmlformats.org/officeDocument/2006/relationships" id="259" r:id="R64b5336644c043a3"/>
    <p:sldId xmlns:r="http://schemas.openxmlformats.org/officeDocument/2006/relationships" id="260" r:id="R938e5bcf7fc64f6e"/>
    <p:sldId xmlns:r="http://schemas.openxmlformats.org/officeDocument/2006/relationships" id="261" r:id="R3cf361cd3cac422e"/>
    <p:sldId xmlns:r="http://schemas.openxmlformats.org/officeDocument/2006/relationships" id="262" r:id="Rb87cef802d17433e"/>
    <p:sldId xmlns:r="http://schemas.openxmlformats.org/officeDocument/2006/relationships" id="263" r:id="Rb99261e797da44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8154aefa154631" /><Relationship Type="http://schemas.openxmlformats.org/officeDocument/2006/relationships/slideMaster" Target="/ppt/slideMasters/slideMaster1.xml" Id="R96ae9bbf8aea4714" /><Relationship Type="http://schemas.openxmlformats.org/officeDocument/2006/relationships/notesMaster" Target="/ppt/notesMasters/notesMaster1.xml" Id="R534303abee914c0e" /><Relationship Type="http://schemas.openxmlformats.org/officeDocument/2006/relationships/presProps" Target="/ppt/presProps.xml" Id="R0e967458b8e24dca" /><Relationship Type="http://schemas.openxmlformats.org/officeDocument/2006/relationships/tableStyles" Target="/ppt/tableStyles.xml" Id="Rc7e90a150f3143df" /><Relationship Type="http://schemas.openxmlformats.org/officeDocument/2006/relationships/slide" Target="/ppt/slides/slide1.xml" Id="R75ea98c999cf4e79" /><Relationship Type="http://schemas.openxmlformats.org/officeDocument/2006/relationships/slide" Target="/ppt/slides/slide2.xml" Id="R39fa1a70a0824764" /><Relationship Type="http://schemas.openxmlformats.org/officeDocument/2006/relationships/slide" Target="/ppt/slides/slide3.xml" Id="R38ed36da496b42eb" /><Relationship Type="http://schemas.openxmlformats.org/officeDocument/2006/relationships/slide" Target="/ppt/slides/slide4.xml" Id="R64b5336644c043a3" /><Relationship Type="http://schemas.openxmlformats.org/officeDocument/2006/relationships/slide" Target="/ppt/slides/slide5.xml" Id="R938e5bcf7fc64f6e" /><Relationship Type="http://schemas.openxmlformats.org/officeDocument/2006/relationships/slide" Target="/ppt/slides/slide6.xml" Id="R3cf361cd3cac422e" /><Relationship Type="http://schemas.openxmlformats.org/officeDocument/2006/relationships/slide" Target="/ppt/slides/slide7.xml" Id="Rb87cef802d17433e" /><Relationship Type="http://schemas.openxmlformats.org/officeDocument/2006/relationships/slide" Target="/ppt/slides/slide8.xml" Id="Rb99261e797da44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4a25acd00644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59f4e7726a44e4" /><Relationship Type="http://schemas.openxmlformats.org/officeDocument/2006/relationships/notesMaster" Target="/ppt/notesMasters/notesMaster1.xml" Id="R1a7ae09b9b264e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f4dea750d54ae7" /><Relationship Type="http://schemas.openxmlformats.org/officeDocument/2006/relationships/notesMaster" Target="/ppt/notesMasters/notesMaster1.xml" Id="R84364cd5a92c48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90451fb38e4d19" /><Relationship Type="http://schemas.openxmlformats.org/officeDocument/2006/relationships/notesMaster" Target="/ppt/notesMasters/notesMaster1.xml" Id="Rafb2a132973e4d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44d6c60ee443f7" /><Relationship Type="http://schemas.openxmlformats.org/officeDocument/2006/relationships/notesMaster" Target="/ppt/notesMasters/notesMaster1.xml" Id="Rda984647ad4542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da65b6daf8441d" /><Relationship Type="http://schemas.openxmlformats.org/officeDocument/2006/relationships/notesMaster" Target="/ppt/notesMasters/notesMaster1.xml" Id="Rdb8bf02712de4e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1ba74e18254fe5" /><Relationship Type="http://schemas.openxmlformats.org/officeDocument/2006/relationships/notesMaster" Target="/ppt/notesMasters/notesMaster1.xml" Id="R7f1e0c90d44c46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b8ff66637f45d0" /><Relationship Type="http://schemas.openxmlformats.org/officeDocument/2006/relationships/notesMaster" Target="/ppt/notesMasters/notesMaster1.xml" Id="R673f7d7109af43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4ca6f81f1a4904" /><Relationship Type="http://schemas.openxmlformats.org/officeDocument/2006/relationships/notesMaster" Target="/ppt/notesMasters/notesMaster1.xml" Id="R67438abf7b5c40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NIST（美国国家标准与技术研究院）SP（特别出版物） 800-82 工业控制系统安全指南</a:t>
            </a:r>
          </a:p>
          <a:p xmlns:a="http://schemas.openxmlformats.org/drawingml/2006/main">
            <a:r>
              <a:t>https://csrc.nist.gov/pubs/sp/800/82/r3/final</a:t>
            </a:r>
          </a:p>
          <a:p xmlns:a="http://schemas.openxmlformats.org/drawingml/2006/main">
            <a:r>
              <a:t>3. 正式题库 7.3 课时内容</a:t>
            </a:r>
          </a:p>
          <a:p xmlns:a="http://schemas.openxmlformats.org/drawingml/2006/main">
            <a:r>
              <a:t>backend/app/resources/content/question-bank-v1.json#lesson_theory_7_3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NIST（美国国家标准与技术研究院）SP（特别出版物） 800-82 工业控制系统安全指南</a:t>
            </a:r>
          </a:p>
          <a:p xmlns:a="http://schemas.openxmlformats.org/drawingml/2006/main">
            <a:r>
              <a:t>https://csrc.nist.gov/pubs/sp/800/82/r3/final</a:t>
            </a:r>
          </a:p>
          <a:p xmlns:a="http://schemas.openxmlformats.org/drawingml/2006/main">
            <a:r>
              <a:t>3. 正式题库 7.3 课时内容</a:t>
            </a:r>
          </a:p>
          <a:p xmlns:a="http://schemas.openxmlformats.org/drawingml/2006/main">
            <a:r>
              <a:t>backend/app/resources/content/question-bank-v1.json#lesson_theory_7_3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核心概念：医疗健康敏感信息。结合要点解释定义、适用边界和验证方式。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NIST（美国国家标准与技术研究院）SP（特别出版物） 800-82 工业控制系统安全指南</a:t>
            </a:r>
          </a:p>
          <a:p xmlns:a="http://schemas.openxmlformats.org/drawingml/2006/main">
            <a:r>
              <a:t>https://csrc.nist.gov/pubs/sp/800/82/r3/final</a:t>
            </a:r>
          </a:p>
          <a:p xmlns:a="http://schemas.openxmlformats.org/drawingml/2006/main">
            <a:r>
              <a:t>3. 正式题库 7.3 课时内容</a:t>
            </a:r>
          </a:p>
          <a:p xmlns:a="http://schemas.openxmlformats.org/drawingml/2006/main">
            <a:r>
              <a:t>backend/app/resources/content/question-bank-v1.json#lesson_theory_7_3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核心概念：政务共享与用途控制。结合要点解释定义、适用边界和验证方式。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NIST（美国国家标准与技术研究院）SP（特别出版物） 800-82 工业控制系统安全指南</a:t>
            </a:r>
          </a:p>
          <a:p xmlns:a="http://schemas.openxmlformats.org/drawingml/2006/main">
            <a:r>
              <a:t>https://csrc.nist.gov/pubs/sp/800/82/r3/final</a:t>
            </a:r>
          </a:p>
          <a:p xmlns:a="http://schemas.openxmlformats.org/drawingml/2006/main">
            <a:r>
              <a:t>3. 正式题库 7.3 课时内容</a:t>
            </a:r>
          </a:p>
          <a:p xmlns:a="http://schemas.openxmlformats.org/drawingml/2006/main">
            <a:r>
              <a:t>backend/app/resources/content/question-bank-v1.json#lesson_theory_7_3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核心概念：工业控制连续性。结合要点解释定义、适用边界和验证方式。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NIST（美国国家标准与技术研究院）SP（特别出版物） 800-82 工业控制系统安全指南</a:t>
            </a:r>
          </a:p>
          <a:p xmlns:a="http://schemas.openxmlformats.org/drawingml/2006/main">
            <a:r>
              <a:t>https://csrc.nist.gov/pubs/sp/800/82/r3/final</a:t>
            </a:r>
          </a:p>
          <a:p xmlns:a="http://schemas.openxmlformats.org/drawingml/2006/main">
            <a:r>
              <a:t>3. 正式题库 7.3 课时内容</a:t>
            </a:r>
          </a:p>
          <a:p xmlns:a="http://schemas.openxmlformats.org/drawingml/2006/main">
            <a:r>
              <a:t>backend/app/resources/content/question-bank-v1.json#lesson_theory_7_3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核心概念：行业化风险评估。结合要点解释定义、适用边界和验证方式。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NIST（美国国家标准与技术研究院）SP（特别出版物） 800-82 工业控制系统安全指南</a:t>
            </a:r>
          </a:p>
          <a:p xmlns:a="http://schemas.openxmlformats.org/drawingml/2006/main">
            <a:r>
              <a:t>https://csrc.nist.gov/pubs/sp/800/82/r3/final</a:t>
            </a:r>
          </a:p>
          <a:p xmlns:a="http://schemas.openxmlformats.org/drawingml/2006/main">
            <a:r>
              <a:t>3. 正式题库 7.3 课时内容</a:t>
            </a:r>
          </a:p>
          <a:p xmlns:a="http://schemas.openxmlformats.org/drawingml/2006/main">
            <a:r>
              <a:t>backend/app/resources/content/question-bank-v1.json#lesson_theory_7_3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NIST（美国国家标准与技术研究院）SP（特别出版物） 800-82 工业控制系统安全指南</a:t>
            </a:r>
          </a:p>
          <a:p xmlns:a="http://schemas.openxmlformats.org/drawingml/2006/main">
            <a:r>
              <a:t>https://csrc.nist.gov/pubs/sp/800/82/r3/final</a:t>
            </a:r>
          </a:p>
          <a:p xmlns:a="http://schemas.openxmlformats.org/drawingml/2006/main">
            <a:r>
              <a:t>3. 正式题库 7.3 课时内容</a:t>
            </a:r>
          </a:p>
          <a:p xmlns:a="http://schemas.openxmlformats.org/drawingml/2006/main">
            <a:r>
              <a:t>backend/app/resources/content/question-bank-v1.json#lesson_theory_7_3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NIST（美国国家标准与技术研究院）SP（特别出版物） 800-82 工业控制系统安全指南</a:t>
            </a:r>
          </a:p>
          <a:p xmlns:a="http://schemas.openxmlformats.org/drawingml/2006/main">
            <a:r>
              <a:t>https://csrc.nist.gov/pubs/sp/800/82/r3/final</a:t>
            </a:r>
          </a:p>
          <a:p xmlns:a="http://schemas.openxmlformats.org/drawingml/2006/main">
            <a:r>
              <a:t>3. 正式题库 7.3 课时内容</a:t>
            </a:r>
          </a:p>
          <a:p xmlns:a="http://schemas.openxmlformats.org/drawingml/2006/main">
            <a:r>
              <a:t>backend/app/resources/content/question-bank-v1.json#lesson_theory_7_3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592a34f6d43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751b1a3a2643f3" /><Relationship Type="http://schemas.openxmlformats.org/officeDocument/2006/relationships/slideLayout" Target="/ppt/slideLayouts/slideLayout1.xml" Id="Ra6403bc39ef442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403bc39ef442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cfd20d6db455a" /><Relationship Type="http://schemas.openxmlformats.org/officeDocument/2006/relationships/image" Target="/ppt/media/image.png" Id="R6774de2636e94ad8" /><Relationship Type="http://schemas.openxmlformats.org/officeDocument/2006/relationships/notesSlide" Target="/ppt/notesSlides/notesSlide1.xml" Id="Rd7b20a77eebf43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69c5204614d9c" /><Relationship Type="http://schemas.openxmlformats.org/officeDocument/2006/relationships/notesSlide" Target="/ppt/notesSlides/notesSlide2.xml" Id="Rf1164612adee4e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11813d90d4af3" /><Relationship Type="http://schemas.openxmlformats.org/officeDocument/2006/relationships/notesSlide" Target="/ppt/notesSlides/notesSlide3.xml" Id="R3e8466056f9940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2436351c643f5" /><Relationship Type="http://schemas.openxmlformats.org/officeDocument/2006/relationships/notesSlide" Target="/ppt/notesSlides/notesSlide4.xml" Id="Rced6b61a6e9c48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0aa870e134e4c" /><Relationship Type="http://schemas.openxmlformats.org/officeDocument/2006/relationships/notesSlide" Target="/ppt/notesSlides/notesSlide5.xml" Id="R19b9299e88194b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fe7d27fdd4fdd" /><Relationship Type="http://schemas.openxmlformats.org/officeDocument/2006/relationships/notesSlide" Target="/ppt/notesSlides/notesSlide6.xml" Id="R2e150c432fb04c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5b216052b4458" /><Relationship Type="http://schemas.openxmlformats.org/officeDocument/2006/relationships/notesSlide" Target="/ppt/notesSlides/notesSlide7.xml" Id="Rbec11b4e659146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85e376ba342b2" /><Relationship Type="http://schemas.openxmlformats.org/officeDocument/2006/relationships/notesSlide" Target="/ppt/notesSlides/notesSlide8.xml" Id="R0235ce72dc0e40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4de2636e94ad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05E49-E560-4303-BCE6-7D2DE25B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7 章  ·  7.3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90D55-83B4-4AB7-9772-FEDCAC87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行业数据安全治理实践（医疗/政务/工业领域案例）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47FB9-F389-49B2-ADB0-4909DA1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AF16E-804B-43A4-92EE-FE482921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162079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45632-BAEC-458E-A838-09B55A25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126E5-04BF-420D-A307-248D4C7D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7.3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1091C-2BF0-4469-99F3-E044C195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CA69C-9F61-497D-AAD7-8355EC11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能够比较医疗、政务和工业领域在数据类型、连续性和责任边界上的差异。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能够针对行业约束调整分类分级、共享、访问、审计和应急措施。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1D361-BBA9-463D-931B-31A5A8CC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27E2F-5AC9-4CBD-95DB-F1D367A2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医疗健康敏感信息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政务共享与用途控制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工业控制连续性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行业化风险评估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489ED-9ED5-4413-95C1-5B7EDFDB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7.3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97ABB-9C22-4F77-877F-948E03C4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8512142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E9021-DE67-43CB-B66D-AFA421DB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8472C-8A7D-4114-B717-3BD1245A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医疗健康敏感信息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CACFD-54AA-4916-BD2B-A461BD85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医疗健康数据能够揭示疾病、诊疗和生理状态，泄露后可能造成歧视、诈骗或人身权益损害。治理既要限制非必要访问，也要保障诊疗连续性和依法使用所需的及时可用。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F5452-DAD1-49A2-A7DA-FF71F209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病历、检验、影像和基因数据纳入重点保护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按诊疗关系和岗位限定访问范围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科研使用优先去标识并评估重识别风险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紧急访问采用受控破例并事后审计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03BD4-607E-4BF5-AC71-9BEA4F36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54A55-B1BF-4F98-97A5-0F637004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8177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B2C4A-2A04-4B35-8D0C-43504D3C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D7A7E-B3C0-468C-BB5C-C4066484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政务共享与用途控制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233BE-73C6-4D07-899F-4AC25666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政务数据共享旨在减少重复采集和提升公共服务，但共享不等于无边界使用。目录、授权、接口、用途和保存期限必须共同约束接收部门的处理活动。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C943D-8F55-4549-A0CB-F988AD66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共享前确认法定职责和必要字段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通过受控接口代替整库复制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禁止将数据转用于未批准的考核或画像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定期复核接收方权限和继续持有必要性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72FE0-76A5-4656-A289-6489AA79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84C75-E544-45D4-A63B-E6233A99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563901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EB2E5-44A4-46D6-8D32-B595DEDA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08034-E82E-4F18-A25F-0EACFD6B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工业控制连续性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D49A9-B847-451B-B8B7-1A550EA3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工业控制系统与物理设备和安全生产直接相连，实时性、确定性和高可用往往优先于频繁变更。安全措施需经过兼容与停机风险评估，避免补丁或扫描影响生产过程。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5DA42-6B4B-4D8F-92A9-2C5A91A7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把控制网络与办公网络分区隔离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远程维护采用审批、强认证和全程记录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在仿真或备用环境验证更新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准备手动控制和安全停机方案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B8DB9-1E08-4106-842A-5DC3A23B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9B082-E081-436D-9FBA-7F6BCBFB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667475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4E9BF-BC2B-4570-8E04-D9EBEACD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401A3-DDA4-4062-B985-17140EC4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行业化风险评估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6E8CD-07DA-4B28-821B-0524719A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行业化评估在通用机密性、完整性和可用性基础上，加入本行业法律责任、业务流程和后果模型。医疗关注个人权益，政务关注公共管理与共享责任，工业还要评价物理安全和连续生产。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71084-548D-4F78-A54E-10E5A7E7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使用行业真实事件和资产类型构建情景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影响等级反映生命健康与公共利益后果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控制选择适配系统生命周期和运营限制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跨行业复用方案前重新验证适用性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84122-2451-4537-9D63-08672ADB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F1234-8607-448D-AEF0-248B152D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421749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0F6A0-D8D8-4308-B3FA-4D66E8DF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48FCA-0623-4575-83FD-88633546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23DC4-8A64-4123-BC66-ED132D4E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医疗场景强调诊疗隐私，政务共享强调目录与授权，工业场景则要求安全控制不能破坏实时生产；三类方案均保留责任与审计证据。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1E336-5AEE-48F0-87B1-6B0E8854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79046-1770-4C18-854E-4319D815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EB384-1193-4C8F-B98F-039D378A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7.3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295AE-EC4A-428B-B6D2-0A240C16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558674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50BA1-02D0-4EDC-8D89-C0A57347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48362-86F5-466C-914C-5B45437B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工业数据治理为何特别关注生产连续性？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EC6D2-CED9-4AF0-A899-F0658D04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AF0F7-2EE7-42D0-BBE1-FBC2BB0F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工业控制与物理过程紧密耦合，安全措施若造成时延或停机，可能直接影响生产和人身安全。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9C509-4C04-4B3B-A550-A55E3EF6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7.3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492A8-89DA-4DDF-B45D-12684A50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1850810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2026-09-21T18:11:50.3420000Z</dcterms:created>
  <dcterms:modified xsi:type="dcterms:W3CDTF">2026-09-21T18:11:50.3420000Z</dcterms:modified>
</coreProperties>
</file>