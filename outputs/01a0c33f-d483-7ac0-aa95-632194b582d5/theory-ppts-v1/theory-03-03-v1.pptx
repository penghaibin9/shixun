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ec58badbeb4211" /><Relationship Type="http://schemas.openxmlformats.org/officeDocument/2006/relationships/extended-properties" Target="/docProps/app.xml" Id="Ra96b65b8d7184d2b" /><Relationship Type="http://schemas.openxmlformats.org/officeDocument/2006/relationships/officeDocument" Target="/ppt/presentation.xml" Id="R262d49935ca648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5d13e6712b4886"/>
  </p:sldMasterIdLst>
  <p:notesMasterIdLst>
    <p:notesMasterId xmlns:r="http://schemas.openxmlformats.org/officeDocument/2006/relationships" r:id="R523e8cd4a55f44db"/>
  </p:notesMasterIdLst>
  <p:sldIdLst>
    <p:sldId xmlns:r="http://schemas.openxmlformats.org/officeDocument/2006/relationships" id="256" r:id="R7f63c421cef54499"/>
    <p:sldId xmlns:r="http://schemas.openxmlformats.org/officeDocument/2006/relationships" id="257" r:id="Ra8caf5bb53ce473b"/>
    <p:sldId xmlns:r="http://schemas.openxmlformats.org/officeDocument/2006/relationships" id="258" r:id="R15ba297b30cc491b"/>
    <p:sldId xmlns:r="http://schemas.openxmlformats.org/officeDocument/2006/relationships" id="259" r:id="R4ce18f262b9a4296"/>
    <p:sldId xmlns:r="http://schemas.openxmlformats.org/officeDocument/2006/relationships" id="260" r:id="Rc857430b0c894f7f"/>
    <p:sldId xmlns:r="http://schemas.openxmlformats.org/officeDocument/2006/relationships" id="261" r:id="R1d278d3f35534238"/>
    <p:sldId xmlns:r="http://schemas.openxmlformats.org/officeDocument/2006/relationships" id="262" r:id="Ra43677c3915c4192"/>
    <p:sldId xmlns:r="http://schemas.openxmlformats.org/officeDocument/2006/relationships" id="263" r:id="Ra6ccb5d8d15d409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fe5e3683564259" /><Relationship Type="http://schemas.openxmlformats.org/officeDocument/2006/relationships/slideMaster" Target="/ppt/slideMasters/slideMaster1.xml" Id="R6d5d13e6712b4886" /><Relationship Type="http://schemas.openxmlformats.org/officeDocument/2006/relationships/notesMaster" Target="/ppt/notesMasters/notesMaster1.xml" Id="R523e8cd4a55f44db" /><Relationship Type="http://schemas.openxmlformats.org/officeDocument/2006/relationships/presProps" Target="/ppt/presProps.xml" Id="R1800f8840b394352" /><Relationship Type="http://schemas.openxmlformats.org/officeDocument/2006/relationships/tableStyles" Target="/ppt/tableStyles.xml" Id="R96a6c03cd9a74742" /><Relationship Type="http://schemas.openxmlformats.org/officeDocument/2006/relationships/slide" Target="/ppt/slides/slide1.xml" Id="R7f63c421cef54499" /><Relationship Type="http://schemas.openxmlformats.org/officeDocument/2006/relationships/slide" Target="/ppt/slides/slide2.xml" Id="Ra8caf5bb53ce473b" /><Relationship Type="http://schemas.openxmlformats.org/officeDocument/2006/relationships/slide" Target="/ppt/slides/slide3.xml" Id="R15ba297b30cc491b" /><Relationship Type="http://schemas.openxmlformats.org/officeDocument/2006/relationships/slide" Target="/ppt/slides/slide4.xml" Id="R4ce18f262b9a4296" /><Relationship Type="http://schemas.openxmlformats.org/officeDocument/2006/relationships/slide" Target="/ppt/slides/slide5.xml" Id="Rc857430b0c894f7f" /><Relationship Type="http://schemas.openxmlformats.org/officeDocument/2006/relationships/slide" Target="/ppt/slides/slide6.xml" Id="R1d278d3f35534238" /><Relationship Type="http://schemas.openxmlformats.org/officeDocument/2006/relationships/slide" Target="/ppt/slides/slide7.xml" Id="Ra43677c3915c4192" /><Relationship Type="http://schemas.openxmlformats.org/officeDocument/2006/relationships/slide" Target="/ppt/slides/slide8.xml" Id="Ra6ccb5d8d15d40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71e90891cd46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c93c474bc842db" /><Relationship Type="http://schemas.openxmlformats.org/officeDocument/2006/relationships/notesMaster" Target="/ppt/notesMasters/notesMaster1.xml" Id="Rf56c38b4c2604a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c7e2db2fcb4fcd" /><Relationship Type="http://schemas.openxmlformats.org/officeDocument/2006/relationships/notesMaster" Target="/ppt/notesMasters/notesMaster1.xml" Id="R7a605d63ff3341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d09cdb2ae04499" /><Relationship Type="http://schemas.openxmlformats.org/officeDocument/2006/relationships/notesMaster" Target="/ppt/notesMasters/notesMaster1.xml" Id="R04ad5af2a24142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725c8ba5144c29" /><Relationship Type="http://schemas.openxmlformats.org/officeDocument/2006/relationships/notesMaster" Target="/ppt/notesMasters/notesMaster1.xml" Id="R11a9c46ba8ee48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509b030188426c" /><Relationship Type="http://schemas.openxmlformats.org/officeDocument/2006/relationships/notesMaster" Target="/ppt/notesMasters/notesMaster1.xml" Id="R1e0d8e9c174341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6121861d8147cd" /><Relationship Type="http://schemas.openxmlformats.org/officeDocument/2006/relationships/notesMaster" Target="/ppt/notesMasters/notesMaster1.xml" Id="Rf96760e895974b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9c696b4e274e0b" /><Relationship Type="http://schemas.openxmlformats.org/officeDocument/2006/relationships/notesMaster" Target="/ppt/notesMasters/notesMaster1.xml" Id="Rbed71f7410764e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e34dbe5e4c4ee4" /><Relationship Type="http://schemas.openxmlformats.org/officeDocument/2006/relationships/notesMaster" Target="/ppt/notesMasters/notesMaster1.xml" Id="Rb7dc733cece645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封面。说明本课在课程蓝图中的位置，并用一个真实业务问题导入主题。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NIST（美国国家标准与技术研究院）FIPS（联邦信息处理标准） 180-4 安全哈希标准</a:t>
            </a:r>
          </a:p>
          <a:p xmlns:a="http://schemas.openxmlformats.org/drawingml/2006/main">
            <a:r>
              <a:t>https://csrc.nist.gov/pubs/fips/180-4/upd1/final</a:t>
            </a:r>
          </a:p>
          <a:p xmlns:a="http://schemas.openxmlformats.org/drawingml/2006/main">
            <a:r>
              <a:t>2. 正式题库 3.3 课时内容</a:t>
            </a:r>
          </a:p>
          <a:p xmlns:a="http://schemas.openxmlformats.org/drawingml/2006/main">
            <a:r>
              <a:t>backend/app/resources/content/question-bank-v1.json#lesson_theory_3_3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学习目标与知识结构。先说明目标，再解释各知识点之间的依赖关系。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NIST（美国国家标准与技术研究院）FIPS（联邦信息处理标准） 180-4 安全哈希标准</a:t>
            </a:r>
          </a:p>
          <a:p xmlns:a="http://schemas.openxmlformats.org/drawingml/2006/main">
            <a:r>
              <a:t>https://csrc.nist.gov/pubs/fips/180-4/upd1/final</a:t>
            </a:r>
          </a:p>
          <a:p xmlns:a="http://schemas.openxmlformats.org/drawingml/2006/main">
            <a:r>
              <a:t>2. 正式题库 3.3 课时内容</a:t>
            </a:r>
          </a:p>
          <a:p xmlns:a="http://schemas.openxmlformats.org/drawingml/2006/main">
            <a:r>
              <a:t>backend/app/resources/content/question-bank-v1.json#lesson_theory_3_3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核心概念：消息摘要。结合要点解释定义、适用边界和验证方式。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NIST（美国国家标准与技术研究院）FIPS（联邦信息处理标准） 180-4 安全哈希标准</a:t>
            </a:r>
          </a:p>
          <a:p xmlns:a="http://schemas.openxmlformats.org/drawingml/2006/main">
            <a:r>
              <a:t>https://csrc.nist.gov/pubs/fips/180-4/upd1/final</a:t>
            </a:r>
          </a:p>
          <a:p xmlns:a="http://schemas.openxmlformats.org/drawingml/2006/main">
            <a:r>
              <a:t>2. 正式题库 3.3 课时内容</a:t>
            </a:r>
          </a:p>
          <a:p xmlns:a="http://schemas.openxmlformats.org/drawingml/2006/main">
            <a:r>
              <a:t>backend/app/resources/content/question-bank-v1.json#lesson_theory_3_3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核心概念：抗原像与抗碰撞。结合要点解释定义、适用边界和验证方式。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NIST（美国国家标准与技术研究院）FIPS（联邦信息处理标准） 180-4 安全哈希标准</a:t>
            </a:r>
          </a:p>
          <a:p xmlns:a="http://schemas.openxmlformats.org/drawingml/2006/main">
            <a:r>
              <a:t>https://csrc.nist.gov/pubs/fips/180-4/upd1/final</a:t>
            </a:r>
          </a:p>
          <a:p xmlns:a="http://schemas.openxmlformats.org/drawingml/2006/main">
            <a:r>
              <a:t>2. 正式题库 3.3 课时内容</a:t>
            </a:r>
          </a:p>
          <a:p xmlns:a="http://schemas.openxmlformats.org/drawingml/2006/main">
            <a:r>
              <a:t>backend/app/resources/content/question-bank-v1.json#lesson_theory_3_3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核心概念：SHA（安全哈希算法）系列。结合要点解释定义、适用边界和验证方式。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NIST（美国国家标准与技术研究院）FIPS（联邦信息处理标准） 180-4 安全哈希标准</a:t>
            </a:r>
          </a:p>
          <a:p xmlns:a="http://schemas.openxmlformats.org/drawingml/2006/main">
            <a:r>
              <a:t>https://csrc.nist.gov/pubs/fips/180-4/upd1/final</a:t>
            </a:r>
          </a:p>
          <a:p xmlns:a="http://schemas.openxmlformats.org/drawingml/2006/main">
            <a:r>
              <a:t>2. 正式题库 3.3 课时内容</a:t>
            </a:r>
          </a:p>
          <a:p xmlns:a="http://schemas.openxmlformats.org/drawingml/2006/main">
            <a:r>
              <a:t>backend/app/resources/content/question-bank-v1.json#lesson_theory_3_3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核心概念：可信摘要来源。结合要点解释定义、适用边界和验证方式。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NIST（美国国家标准与技术研究院）FIPS（联邦信息处理标准） 180-4 安全哈希标准</a:t>
            </a:r>
          </a:p>
          <a:p xmlns:a="http://schemas.openxmlformats.org/drawingml/2006/main">
            <a:r>
              <a:t>https://csrc.nist.gov/pubs/fips/180-4/upd1/final</a:t>
            </a:r>
          </a:p>
          <a:p xmlns:a="http://schemas.openxmlformats.org/drawingml/2006/main">
            <a:r>
              <a:t>2. 正式题库 3.3 课时内容</a:t>
            </a:r>
          </a:p>
          <a:p xmlns:a="http://schemas.openxmlformats.org/drawingml/2006/main">
            <a:r>
              <a:t>backend/app/resources/content/question-bank-v1.json#lesson_theory_3_3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业务案例。引导学生先识别事实，再提出控制方案和可验证证据。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NIST（美国国家标准与技术研究院）FIPS（联邦信息处理标准） 180-4 安全哈希标准</a:t>
            </a:r>
          </a:p>
          <a:p xmlns:a="http://schemas.openxmlformats.org/drawingml/2006/main">
            <a:r>
              <a:t>https://csrc.nist.gov/pubs/fips/180-4/upd1/final</a:t>
            </a:r>
          </a:p>
          <a:p xmlns:a="http://schemas.openxmlformats.org/drawingml/2006/main">
            <a:r>
              <a:t>2. 正式题库 3.3 课时内容</a:t>
            </a:r>
          </a:p>
          <a:p xmlns:a="http://schemas.openxmlformats.org/drawingml/2006/main">
            <a:r>
              <a:t>backend/app/resources/content/question-bank-v1.json#lesson_theory_3_3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知识检查。先让学生独立回答，再展示参考答案并回到本课学习目标。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1. NIST（美国国家标准与技术研究院）FIPS（联邦信息处理标准） 180-4 安全哈希标准</a:t>
            </a:r>
          </a:p>
          <a:p xmlns:a="http://schemas.openxmlformats.org/drawingml/2006/main">
            <a:r>
              <a:t>https://csrc.nist.gov/pubs/fips/180-4/upd1/final</a:t>
            </a:r>
          </a:p>
          <a:p xmlns:a="http://schemas.openxmlformats.org/drawingml/2006/main">
            <a:r>
              <a:t>2. 正式题库 3.3 课时内容</a:t>
            </a:r>
          </a:p>
          <a:p xmlns:a="http://schemas.openxmlformats.org/drawingml/2006/main">
            <a:r>
              <a:t>backend/app/resources/content/question-bank-v1.json#lesson_theory_3_3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版权说明：课件文字为项目原创教学编排；封面抽象图由图像生成工具为本项目生成，不代表真实系统、设备或现场。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204bb0638841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5e2e42ccda4ef3" /><Relationship Type="http://schemas.openxmlformats.org/officeDocument/2006/relationships/slideLayout" Target="/ppt/slideLayouts/slideLayout1.xml" Id="R9a990811cd064d7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990811cd064d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ca91fc26e459d" /><Relationship Type="http://schemas.openxmlformats.org/officeDocument/2006/relationships/image" Target="/ppt/media/image.png" Id="R66fc8e9af3024e86" /><Relationship Type="http://schemas.openxmlformats.org/officeDocument/2006/relationships/notesSlide" Target="/ppt/notesSlides/notesSlide1.xml" Id="R46ee22a9ecc442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5730c1047487a" /><Relationship Type="http://schemas.openxmlformats.org/officeDocument/2006/relationships/notesSlide" Target="/ppt/notesSlides/notesSlide2.xml" Id="R43e551a8645341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f910c91e494f54" /><Relationship Type="http://schemas.openxmlformats.org/officeDocument/2006/relationships/notesSlide" Target="/ppt/notesSlides/notesSlide3.xml" Id="R7945b95efddf4f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9beb251c44b65" /><Relationship Type="http://schemas.openxmlformats.org/officeDocument/2006/relationships/notesSlide" Target="/ppt/notesSlides/notesSlide4.xml" Id="R88854035261448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44c5d0a374c0a" /><Relationship Type="http://schemas.openxmlformats.org/officeDocument/2006/relationships/notesSlide" Target="/ppt/notesSlides/notesSlide5.xml" Id="R00b29da1bbe143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cd46d8ef745c4" /><Relationship Type="http://schemas.openxmlformats.org/officeDocument/2006/relationships/notesSlide" Target="/ppt/notesSlides/notesSlide6.xml" Id="R6ffc430b22f046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90a35b0c24bd0" /><Relationship Type="http://schemas.openxmlformats.org/officeDocument/2006/relationships/notesSlide" Target="/ppt/notesSlides/notesSlide7.xml" Id="Rca1b4b7984c446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3a84009864924" /><Relationship Type="http://schemas.openxmlformats.org/officeDocument/2006/relationships/notesSlide" Target="/ppt/notesSlides/notesSlide8.xml" Id="R4629a781bec544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fc8e9af3024e8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D0848-6C76-4EA0-A9D5-652BD6E2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第 3 章  ·  3.3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1B9E1-2C7E-482E-BB80-8B4776DF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571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哈希算法与完整性校验：MD5（消息摘要算法第5版）、SHA（安全散列算法） 系列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1C9A1-11F6-41A3-8DF1-C9027E99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数据安全技术基础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59F5C-8191-45BB-AA9F-974CE0A4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跃科网络空间安全实训平台</a:t>
            </a:r>
          </a:p>
        </p:txBody>
      </p:sp>
    </p:spTree>
    <p:extLst>
      <p:ext uri="{BB962C8B-B14F-4D97-AF65-F5344CB8AC3E}">
        <p14:creationId xmlns:p14="http://schemas.microsoft.com/office/powerpoint/2010/main" val="774265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45967-18BB-40F6-894C-7FB35D5A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本课目标与知识结构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327A7-A2F5-4884-85B2-B7818B84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1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3.3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89A70-C31C-4537-9F2A-94C92F0C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531870-8B19-4CA6-BDA4-44BF537E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能够说明密码学哈希的固定长度、单向性和雪崩效应。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能够用可信摘要校验文件完整性，并解释 MD5（消息摘要算法5）的碰撞风险。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22BF7-AD98-4017-AC63-B101FCE1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知识结构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F9F46-02A5-4C62-A0AD-909B5CFF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消息摘要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抗原像与抗碰撞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SHA（安全哈希算法）系列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可信摘要来源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6C4AC-1E59-4305-B524-F53A6F97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3.3  数据安全技术基础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7B8AF-0361-4AB3-9AA4-35D2B951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7800928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77C28-F6BB-4BAD-A638-3B53A48C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01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4ADE29-BE2B-4229-8E51-5BFFC264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消息摘要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49717-DA80-4CA4-8918-8AE00EE9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密码学哈希把任意长度输入映射为固定长度摘要，同一输入应得到同一结果。摘要本身不含恢复原文的密钥，适合比较内容变化而不是保护内容机密。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95EE5-A4A6-4E47-84DC-CF126021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输入微小变化通常引起摘要显著变化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固定长度不意味着不同输入绝不会碰撞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摘要需要通过可信通道获得才有校验价值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不能用普通快速哈希直接保存口令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73E64E-8118-4ACB-A47F-810C7F16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E9BCE3-8A0D-450A-B7DD-6A0B0B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6887348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427C07-8283-47BF-948C-75868677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02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22992-B525-441B-A230-BB865D2E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抗原像与抗碰撞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A0241A-70B2-4FB0-80A5-52E63602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抗原像要求难以从摘要找到原文，抗第二原像要求难以为指定消息找到同摘要替代物，抗碰撞要求难以找到任意一对同摘要消息。三种性质解决不同攻击目标，算法评估不能只看输出位数。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D2159-A281-4F7E-B3E9-FEA19F090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碰撞攻击不要求先指定其中一条消息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第二原像攻击针对已知合法消息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安全强度会受算法结构缺陷影响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用途不同对三类性质的要求不同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E82EB-2FDA-4A87-8DDC-652BC2BE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EF4BA9-72A5-4CEB-B0E7-6C3F98545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14278695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3FDE8-8D2B-4CDE-AFC7-9FE9D9C5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03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75D24-C32E-4987-811B-522B10EB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SHA（安全哈希算法）系列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0C4F20-32A5-42B8-A4F5-64FFB12B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SHA（安全哈希算法）系列包含不同代际和输出长度的算法，SHA-256（256位安全哈希算法）等仍广泛用于完整性校验。选择时应区分已经弃用的旧成员和当前认可算法，而不是把系列名称视为统一安全级别。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52142-407B-4150-90DA-A37CA17C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SHA-1（安全哈希算法1）已不适合抗碰撞用途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SHA-256（256位安全散列算法） 输出256位摘要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算法名称和参数应与基准值完全一致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迁移旧摘要时要保存算法标识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24BCC-A319-46F6-984B-0646E2E0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DD425-BB2D-4430-8260-A301D0D0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05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6482496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C9D0B-20AC-4236-B5C8-357BFAFD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04  核心概念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87698-592C-4D2B-AB83-D4CBC4C4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981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可信摘要来源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26B57-F825-46A3-B44A-957B2157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1085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摘要只能证明当前文件与基准内容一致，基准若被攻击者一并替换就失去价值。可信来源应具备独立传输、签名认证或受保护的发布流程。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80212-781F-42CE-8E57-7AD5B6CA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103822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优先核对厂商签名或独立可信渠道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摘要页面与下载文件不宜处于同一失陷边界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比较时检查完整字符串而非部分字符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04  记录算法、版本和获取时间便于复核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F8D3C-53E7-4923-B308-0499F35A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E0A461-E9B1-4BB8-86E7-59F19849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06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7930551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95F4E-1D80-4B66-8B83-516D6C9C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57F5"/>
                </a:solidFill>
                <a:latin typeface="Microsoft YaHei"/>
                <a:ea typeface="Microsoft YaHei"/>
                <a:cs typeface="Microsoft YaHei"/>
              </a:rPr>
              <a:t>业务案例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02C1B-9C73-41A5-B07E-6FE01881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287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把概念放回真实决策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2FEA2-4261-41A0-ADA6-E8E680BF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33600"/>
            <a:ext cx="10858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软件下载页公布 SHA-256（256位安全哈希算法）摘要，用户下载后本地重新计算并比对，以发现传输错误或文件被替换。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EDCCED-74C6-4E0B-B915-1FB8DE43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481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46CD"/>
                </a:solidFill>
                <a:latin typeface="Microsoft YaHei"/>
                <a:ea typeface="Microsoft YaHei"/>
                <a:cs typeface="Microsoft YaHei"/>
              </a:rPr>
              <a:t>课堂讨论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4E390-55A1-4500-A443-B57B0D217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24400"/>
            <a:ext cx="10763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01  案例中的核心数据资产、威胁和责任主体分别是什么？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02  优先控制措施是什么，如何用日志、测试或指标验证效果？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03  哪些边界条件变化后，需要重新评估方案？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E4C71-BCAA-4757-B649-3A7F36A2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3.3  数据安全技术基础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81DB31-D40A-4E56-A1A2-44FF4768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07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8422078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21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68B86-8110-4EBE-958E-1AB79952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72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知识检查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8323D4-F977-4766-B229-CA0B052FF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76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为什么文件名相同不能证明文件完整一致？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9259F-41C0-4D2B-B75E-9E22DEFC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14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49968"/>
                </a:solidFill>
                <a:latin typeface="Microsoft YaHei"/>
                <a:ea typeface="Microsoft YaHei"/>
                <a:cs typeface="Microsoft YaHei"/>
              </a:rPr>
              <a:t>参考答案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BED032-80D3-40B3-95F9-0C6B4B7F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05300"/>
            <a:ext cx="1076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文件名不反映内容；应把实际内容计算出的摘要与可信来源提供的基准摘要比较。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DF6DC-CD48-453D-B83B-714A982B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3.3  数据安全技术基础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500A3-F8F2-4CEC-BF99-E0233521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419850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CE7FF"/>
                </a:solidFill>
                <a:latin typeface="Microsoft YaHei"/>
                <a:ea typeface="Microsoft YaHei"/>
                <a:cs typeface="Microsoft YaHei"/>
              </a:rPr>
              <a:t>08  来源与版权信息见演讲者备注</a:t>
            </a:r>
          </a:p>
        </p:txBody>
      </p:sp>
    </p:spTree>
    <p:extLst>
      <p:ext uri="{BB962C8B-B14F-4D97-AF65-F5344CB8AC3E}">
        <p14:creationId xmlns:p14="http://schemas.microsoft.com/office/powerpoint/2010/main" val="2503104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2026-09-21T18:10:26.2540000Z</dcterms:created>
  <dcterms:modified xsi:type="dcterms:W3CDTF">2026-09-21T18:10:26.2540000Z</dcterms:modified>
</coreProperties>
</file>