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43edb0eb343fd" /><Relationship Type="http://schemas.openxmlformats.org/officeDocument/2006/relationships/extended-properties" Target="/docProps/app.xml" Id="Rf170de9d38f349d9" /><Relationship Type="http://schemas.openxmlformats.org/officeDocument/2006/relationships/officeDocument" Target="/ppt/presentation.xml" Id="R2d974fdacd4e42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2e443475d4a71"/>
  </p:sldMasterIdLst>
  <p:notesMasterIdLst>
    <p:notesMasterId xmlns:r="http://schemas.openxmlformats.org/officeDocument/2006/relationships" r:id="Re9405fe715de4e3b"/>
  </p:notesMasterIdLst>
  <p:sldIdLst>
    <p:sldId xmlns:r="http://schemas.openxmlformats.org/officeDocument/2006/relationships" id="256" r:id="R21156e67382c4ab5"/>
    <p:sldId xmlns:r="http://schemas.openxmlformats.org/officeDocument/2006/relationships" id="257" r:id="Rc89c831fa5e047b7"/>
    <p:sldId xmlns:r="http://schemas.openxmlformats.org/officeDocument/2006/relationships" id="258" r:id="R5dd144dfd0684687"/>
    <p:sldId xmlns:r="http://schemas.openxmlformats.org/officeDocument/2006/relationships" id="259" r:id="R2f66f77c9d3642fd"/>
    <p:sldId xmlns:r="http://schemas.openxmlformats.org/officeDocument/2006/relationships" id="260" r:id="R17e4d45f818c4224"/>
    <p:sldId xmlns:r="http://schemas.openxmlformats.org/officeDocument/2006/relationships" id="261" r:id="R5ef9df9a4e294143"/>
    <p:sldId xmlns:r="http://schemas.openxmlformats.org/officeDocument/2006/relationships" id="262" r:id="R321d3c2ccb444cac"/>
    <p:sldId xmlns:r="http://schemas.openxmlformats.org/officeDocument/2006/relationships" id="263" r:id="Rc2807b776ab449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3340999eb4dc0" /><Relationship Type="http://schemas.openxmlformats.org/officeDocument/2006/relationships/slideMaster" Target="/ppt/slideMasters/slideMaster1.xml" Id="R3b82e443475d4a71" /><Relationship Type="http://schemas.openxmlformats.org/officeDocument/2006/relationships/notesMaster" Target="/ppt/notesMasters/notesMaster1.xml" Id="Re9405fe715de4e3b" /><Relationship Type="http://schemas.openxmlformats.org/officeDocument/2006/relationships/presProps" Target="/ppt/presProps.xml" Id="R20348e421e7f44a0" /><Relationship Type="http://schemas.openxmlformats.org/officeDocument/2006/relationships/tableStyles" Target="/ppt/tableStyles.xml" Id="Rc2e07c4f21494ce1" /><Relationship Type="http://schemas.openxmlformats.org/officeDocument/2006/relationships/slide" Target="/ppt/slides/slide1.xml" Id="R21156e67382c4ab5" /><Relationship Type="http://schemas.openxmlformats.org/officeDocument/2006/relationships/slide" Target="/ppt/slides/slide2.xml" Id="Rc89c831fa5e047b7" /><Relationship Type="http://schemas.openxmlformats.org/officeDocument/2006/relationships/slide" Target="/ppt/slides/slide3.xml" Id="R5dd144dfd0684687" /><Relationship Type="http://schemas.openxmlformats.org/officeDocument/2006/relationships/slide" Target="/ppt/slides/slide4.xml" Id="R2f66f77c9d3642fd" /><Relationship Type="http://schemas.openxmlformats.org/officeDocument/2006/relationships/slide" Target="/ppt/slides/slide5.xml" Id="R17e4d45f818c4224" /><Relationship Type="http://schemas.openxmlformats.org/officeDocument/2006/relationships/slide" Target="/ppt/slides/slide6.xml" Id="R5ef9df9a4e294143" /><Relationship Type="http://schemas.openxmlformats.org/officeDocument/2006/relationships/slide" Target="/ppt/slides/slide7.xml" Id="R321d3c2ccb444cac" /><Relationship Type="http://schemas.openxmlformats.org/officeDocument/2006/relationships/slide" Target="/ppt/slides/slide8.xml" Id="Rc2807b776ab4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e518c684b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f01a39da745f2" /><Relationship Type="http://schemas.openxmlformats.org/officeDocument/2006/relationships/notesMaster" Target="/ppt/notesMasters/notesMaster1.xml" Id="R7287b26af47142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c2d9420024f30" /><Relationship Type="http://schemas.openxmlformats.org/officeDocument/2006/relationships/notesMaster" Target="/ppt/notesMasters/notesMaster1.xml" Id="Re4f307c4ed874a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b158bc3ea406c" /><Relationship Type="http://schemas.openxmlformats.org/officeDocument/2006/relationships/notesMaster" Target="/ppt/notesMasters/notesMaster1.xml" Id="R1a1632ba5c2c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ac92c16cac4e51" /><Relationship Type="http://schemas.openxmlformats.org/officeDocument/2006/relationships/notesMaster" Target="/ppt/notesMasters/notesMaster1.xml" Id="R4bf8fc731d3f44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ae0a3eb09d44b4" /><Relationship Type="http://schemas.openxmlformats.org/officeDocument/2006/relationships/notesMaster" Target="/ppt/notesMasters/notesMaster1.xml" Id="Reba0fa1221c240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2b784a80d4f14" /><Relationship Type="http://schemas.openxmlformats.org/officeDocument/2006/relationships/notesMaster" Target="/ppt/notesMasters/notesMaster1.xml" Id="R97d23d43c9444d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d954330ba4f90" /><Relationship Type="http://schemas.openxmlformats.org/officeDocument/2006/relationships/notesMaster" Target="/ppt/notesMasters/notesMaster1.xml" Id="Rf61e7e2c77da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64365ed5e405e" /><Relationship Type="http://schemas.openxmlformats.org/officeDocument/2006/relationships/notesMaster" Target="/ppt/notesMasters/notesMaster1.xml" Id="R722cad2772d2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核心概念：数据库角色与授权。结合要点解释定义、适用边界和验证方式。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核心概念：视图和存储过程。结合要点解释定义、适用边界和验证方式。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核心概念：水平越权与垂直越权。结合要点解释定义、适用边界和验证方式。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核心概念：权限审计。结合要点解释定义、适用边界和验证方式。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NIST（美国国家标准与技术研究院）RBAC（基于角色的访问控制）项目</a:t>
            </a:r>
          </a:p>
          <a:p xmlns:a="http://schemas.openxmlformats.org/drawingml/2006/main">
            <a:r>
              <a:t>https://csrc.nist.gov/projects/role-based-access-control</a:t>
            </a:r>
          </a:p>
          <a:p xmlns:a="http://schemas.openxmlformats.org/drawingml/2006/main">
            <a:r>
              <a:t>2. 正式题库 4.7 课时内容</a:t>
            </a:r>
          </a:p>
          <a:p xmlns:a="http://schemas.openxmlformats.org/drawingml/2006/main">
            <a:r>
              <a:t>backend/app/resources/content/question-bank-v1.json#lesson_theory_4_7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5b43b146940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30b3bbdb845a9" /><Relationship Type="http://schemas.openxmlformats.org/officeDocument/2006/relationships/slideLayout" Target="/ppt/slideLayouts/slideLayout1.xml" Id="R7e4de35be4bc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4de35be4bc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fa5ec6a6d4c23" /><Relationship Type="http://schemas.openxmlformats.org/officeDocument/2006/relationships/image" Target="/ppt/media/image.png" Id="R9b50c0be66814502" /><Relationship Type="http://schemas.openxmlformats.org/officeDocument/2006/relationships/notesSlide" Target="/ppt/notesSlides/notesSlide1.xml" Id="R1ea81c6ab52245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26a10983642ad" /><Relationship Type="http://schemas.openxmlformats.org/officeDocument/2006/relationships/notesSlide" Target="/ppt/notesSlides/notesSlide2.xml" Id="R93dc1b1fc15a47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1ff9e6974975" /><Relationship Type="http://schemas.openxmlformats.org/officeDocument/2006/relationships/notesSlide" Target="/ppt/notesSlides/notesSlide3.xml" Id="R88c502cb98b3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b6876bd294837" /><Relationship Type="http://schemas.openxmlformats.org/officeDocument/2006/relationships/notesSlide" Target="/ppt/notesSlides/notesSlide4.xml" Id="Ra339516a5a65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b3a3551ea4baa" /><Relationship Type="http://schemas.openxmlformats.org/officeDocument/2006/relationships/notesSlide" Target="/ppt/notesSlides/notesSlide5.xml" Id="Ra45be5f1eb034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ebbd3017544e7" /><Relationship Type="http://schemas.openxmlformats.org/officeDocument/2006/relationships/notesSlide" Target="/ppt/notesSlides/notesSlide6.xml" Id="R604f3b5397c44b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cbbdcc0e74ad5" /><Relationship Type="http://schemas.openxmlformats.org/officeDocument/2006/relationships/notesSlide" Target="/ppt/notesSlides/notesSlide7.xml" Id="R6317cb229c6148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7b32fa074dca" /><Relationship Type="http://schemas.openxmlformats.org/officeDocument/2006/relationships/notesSlide" Target="/ppt/notesSlides/notesSlide8.xml" Id="Rfd8d36d066cb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0c0be668145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BC7B2-2443-4254-B59B-D0D11AF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612B-DBF4-4082-A2A0-6CAFC498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数据库访问控制实例与越权访问防范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88657-E984-4ABD-83CB-AA5C2CEA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EEF2B-19EB-4CB2-A088-E99940D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125907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54461-A386-4BBE-9916-7D9EED4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649A1-CB52-48AA-8981-A09CE5D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51C55-D59B-478D-A592-5B93CFCB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F0812-7B59-491C-8169-9C4015C4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能够通过账号、角色、视图和行列级策略限制数据库访问。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能够设计正向与负向测试发现水平越权、垂直越权和权限残留。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3BFC-FF12-4489-AECA-3EA340B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8E9C7-EE89-4791-A73D-CE02EAC5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数据库角色与授权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视图和存储过程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水平越权与垂直越权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权限审计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5C5B2-D3D6-40D8-B43A-2BD8FF0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62D62-1CCE-4A40-BDB9-347EC8E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44953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97828-1248-430B-BD80-DC5B6DB7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4935C-5608-4A5A-8578-D72A5E34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数据库角色与授权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D170B-2C8A-4DF1-AFDF-65D6307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数据库角色把 SELECT（查询）、INSERT（插入）等权限按职责组合，账号通过角色取得操作能力。生产应用应使用专用低权限账号，避免以数据库管理员身份运行日常请求。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F7B60-1BBE-483F-AAB4-30720B7D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区分应用、运维、审计和备份角色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授权到必要数据库、表或过程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禁止多人共享高权限数据库账号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变更角色前评估继承权限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99810-6B53-483B-BFFA-688F1DA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B92F-0FB4-4351-983F-C9D2B746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22657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75B05-79DB-4780-BC4B-43DB3ADC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8840C-4013-402C-9E42-8788DB7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视图和存储过程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5CCBD-62EF-44C4-8B37-A4C91028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视图可限制可见列和行，存储过程可封装经过审查的数据操作并控制直接表访问。它们不是天然安全边界，动态语句、所有者权限和底层授权配置错误仍可能造成越权。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3038E-F7EF-4067-8E80-8A344B4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通过视图隐藏敏感列和无关记录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过程参数使用绑定变量防止注入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限制调用权限并审查执行上下文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底层表权限不应绕过封装接口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F9D3-F7D3-41CD-BE91-582284E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75FC0-E022-4231-AB02-A8E40D9D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10956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6D29C-DEFD-40FA-B533-974E888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9B9F8-1B22-4469-817E-23DBA6BF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水平越权与垂直越权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2ECA-5BA8-4279-ADA2-4E2C04A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水平越权是同级用户访问他人数据，垂直越权是普通主体执行更高角色功能。两者通常源于服务端只校验是否登录，却未校验资源归属或具体操作权限。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6A33A-EF00-4CC3-B4FE-3DD65B7A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每次请求同时校验身份、动作和数据范围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不要信任客户端提交的用户或角色字段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用他人标识和管理接口构造负向测试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批量接口逐项执行归属检查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E9D58-FE5D-4F1B-A335-B7E68F9C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C3D79-ED0C-4165-B277-2DB8441A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80385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E26AA-9D9E-4DEE-9665-8CC42B78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614EC-4C92-4187-A44F-C73449DF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权限审计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A9084-6CFD-4312-A79A-60439A45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权限审计既检查当前授权快照，也检查谁在何时因何原因授予、使用和回收权限。有效审计应能识别过宽授权、权限累积、长期未用和异常高风险操作。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C84FA-2FF9-4093-BA80-44E4E97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保留授权申请、批准和执行记录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关联账号、角色、对象和数据范围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定期对比岗位基线发现漂移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审计人员不应拥有修改被审计记录的权限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2211A-4925-4747-8681-6B817948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C8099-EEAF-439F-85EE-106145A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39229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A8A02-068F-4992-B3C4-F884619E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5926-96D3-4A25-A29E-AF33E88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88615-A187-46A6-85FA-B8CF6CA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教师账号只能查询本人课程，学生账号只能读取本人记录；测试既验证授权查询成功，也验证访问他人标识时被服务端拒绝。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B5062-1B35-4C02-876A-C60A1835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218E3-ECFC-49A6-8DEC-0D5301F7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D592E-78CB-4461-AFEF-AF07A6B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71D43-CD8F-4FB0-ACC6-B8FD59E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54911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DFF9B-6251-4483-A887-F9813F52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9C574-3CE6-43B9-BF14-3C0D9811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权限测试为何必须包含负向用例？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EC40D-2721-4ED1-A37B-1A518554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6749-D170-4FF6-9993-664EF887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授权路径成功只能证明功能可用，未授权访问被拒绝才证明权限边界有效。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591B-81AF-4025-A867-756F9583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4.7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CD19-E960-4D58-A702-E81D07BE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44484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2026-09-21T18:11:00.1080000Z</dcterms:created>
  <dcterms:modified xsi:type="dcterms:W3CDTF">2026-09-21T18:11:00.1080000Z</dcterms:modified>
</coreProperties>
</file>