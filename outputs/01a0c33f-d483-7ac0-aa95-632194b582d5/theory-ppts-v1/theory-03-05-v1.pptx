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20df96602c4b53" /><Relationship Type="http://schemas.openxmlformats.org/officeDocument/2006/relationships/extended-properties" Target="/docProps/app.xml" Id="Rd9300ad027f446eb" /><Relationship Type="http://schemas.openxmlformats.org/officeDocument/2006/relationships/officeDocument" Target="/ppt/presentation.xml" Id="R739493628a6e40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672394060b45e5"/>
  </p:sldMasterIdLst>
  <p:notesMasterIdLst>
    <p:notesMasterId xmlns:r="http://schemas.openxmlformats.org/officeDocument/2006/relationships" r:id="R5f9a05fc82184801"/>
  </p:notesMasterIdLst>
  <p:sldIdLst>
    <p:sldId xmlns:r="http://schemas.openxmlformats.org/officeDocument/2006/relationships" id="256" r:id="R59d75c50f61549fe"/>
    <p:sldId xmlns:r="http://schemas.openxmlformats.org/officeDocument/2006/relationships" id="257" r:id="Rdc14bf2db0eb4139"/>
    <p:sldId xmlns:r="http://schemas.openxmlformats.org/officeDocument/2006/relationships" id="258" r:id="Re163e804aa464c92"/>
    <p:sldId xmlns:r="http://schemas.openxmlformats.org/officeDocument/2006/relationships" id="259" r:id="Rbfd7738b595843ce"/>
    <p:sldId xmlns:r="http://schemas.openxmlformats.org/officeDocument/2006/relationships" id="260" r:id="Ra9db252e942e42e2"/>
    <p:sldId xmlns:r="http://schemas.openxmlformats.org/officeDocument/2006/relationships" id="261" r:id="R6d35f3792ced4b7f"/>
    <p:sldId xmlns:r="http://schemas.openxmlformats.org/officeDocument/2006/relationships" id="262" r:id="Rddfbd67266ce4c1f"/>
    <p:sldId xmlns:r="http://schemas.openxmlformats.org/officeDocument/2006/relationships" id="263" r:id="R0293089fa5744d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10fda08a9d4573" /><Relationship Type="http://schemas.openxmlformats.org/officeDocument/2006/relationships/slideMaster" Target="/ppt/slideMasters/slideMaster1.xml" Id="Rf1672394060b45e5" /><Relationship Type="http://schemas.openxmlformats.org/officeDocument/2006/relationships/notesMaster" Target="/ppt/notesMasters/notesMaster1.xml" Id="R5f9a05fc82184801" /><Relationship Type="http://schemas.openxmlformats.org/officeDocument/2006/relationships/presProps" Target="/ppt/presProps.xml" Id="R42f4646193e845c6" /><Relationship Type="http://schemas.openxmlformats.org/officeDocument/2006/relationships/tableStyles" Target="/ppt/tableStyles.xml" Id="Rf3f12349a15340ac" /><Relationship Type="http://schemas.openxmlformats.org/officeDocument/2006/relationships/slide" Target="/ppt/slides/slide1.xml" Id="R59d75c50f61549fe" /><Relationship Type="http://schemas.openxmlformats.org/officeDocument/2006/relationships/slide" Target="/ppt/slides/slide2.xml" Id="Rdc14bf2db0eb4139" /><Relationship Type="http://schemas.openxmlformats.org/officeDocument/2006/relationships/slide" Target="/ppt/slides/slide3.xml" Id="Re163e804aa464c92" /><Relationship Type="http://schemas.openxmlformats.org/officeDocument/2006/relationships/slide" Target="/ppt/slides/slide4.xml" Id="Rbfd7738b595843ce" /><Relationship Type="http://schemas.openxmlformats.org/officeDocument/2006/relationships/slide" Target="/ppt/slides/slide5.xml" Id="Ra9db252e942e42e2" /><Relationship Type="http://schemas.openxmlformats.org/officeDocument/2006/relationships/slide" Target="/ppt/slides/slide6.xml" Id="R6d35f3792ced4b7f" /><Relationship Type="http://schemas.openxmlformats.org/officeDocument/2006/relationships/slide" Target="/ppt/slides/slide7.xml" Id="Rddfbd67266ce4c1f" /><Relationship Type="http://schemas.openxmlformats.org/officeDocument/2006/relationships/slide" Target="/ppt/slides/slide8.xml" Id="R0293089fa5744d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0494657a3c49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8c4529023d4b48" /><Relationship Type="http://schemas.openxmlformats.org/officeDocument/2006/relationships/notesMaster" Target="/ppt/notesMasters/notesMaster1.xml" Id="Rcae945cf4bd74e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f30f5a60ce4230" /><Relationship Type="http://schemas.openxmlformats.org/officeDocument/2006/relationships/notesMaster" Target="/ppt/notesMasters/notesMaster1.xml" Id="Rdffc7f1aa3094e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a271985e9f4e49" /><Relationship Type="http://schemas.openxmlformats.org/officeDocument/2006/relationships/notesMaster" Target="/ppt/notesMasters/notesMaster1.xml" Id="Rdcc17e43b42546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449ada96a24fed" /><Relationship Type="http://schemas.openxmlformats.org/officeDocument/2006/relationships/notesMaster" Target="/ppt/notesMasters/notesMaster1.xml" Id="Rb5a55a4cb65d4e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c631da7f904cbe" /><Relationship Type="http://schemas.openxmlformats.org/officeDocument/2006/relationships/notesMaster" Target="/ppt/notesMasters/notesMaster1.xml" Id="R4f5b8e80fede4f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5d150bb41c4333" /><Relationship Type="http://schemas.openxmlformats.org/officeDocument/2006/relationships/notesMaster" Target="/ppt/notesMasters/notesMaster1.xml" Id="R40e164b75eec47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cf7331ba514199" /><Relationship Type="http://schemas.openxmlformats.org/officeDocument/2006/relationships/notesMaster" Target="/ppt/notesMasters/notesMaster1.xml" Id="Rdb537fccceab45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1ee96736ea42be" /><Relationship Type="http://schemas.openxmlformats.org/officeDocument/2006/relationships/notesMaster" Target="/ppt/notesMasters/notesMaster1.xml" Id="Rf1d7b8a2ac7d44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封面。说明本课在课程蓝图中的位置，并用一个真实业务问题导入主题。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IETF（互联网工程任务组）RFC（征求意见稿标准） 4648 Base64（基础64编码）规范</a:t>
            </a:r>
          </a:p>
          <a:p xmlns:a="http://schemas.openxmlformats.org/drawingml/2006/main">
            <a:r>
              <a:t>https://www.rfc-editor.org/rfc/rfc4648</a:t>
            </a:r>
          </a:p>
          <a:p xmlns:a="http://schemas.openxmlformats.org/drawingml/2006/main">
            <a:r>
              <a:t>2. 正式题库 3.5 课时内容</a:t>
            </a:r>
          </a:p>
          <a:p xmlns:a="http://schemas.openxmlformats.org/drawingml/2006/main">
            <a:r>
              <a:t>backend/app/resources/content/question-bank-v1.json#lesson_theory_3_5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学习目标与知识结构。先说明目标，再解释各知识点之间的依赖关系。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IETF（互联网工程任务组）RFC（征求意见稿标准） 4648 Base64（基础64编码）规范</a:t>
            </a:r>
          </a:p>
          <a:p xmlns:a="http://schemas.openxmlformats.org/drawingml/2006/main">
            <a:r>
              <a:t>https://www.rfc-editor.org/rfc/rfc4648</a:t>
            </a:r>
          </a:p>
          <a:p xmlns:a="http://schemas.openxmlformats.org/drawingml/2006/main">
            <a:r>
              <a:t>2. 正式题库 3.5 课时内容</a:t>
            </a:r>
          </a:p>
          <a:p xmlns:a="http://schemas.openxmlformats.org/drawingml/2006/main">
            <a:r>
              <a:t>backend/app/resources/content/question-bank-v1.json#lesson_theory_3_5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核心概念：字符集与字节。结合要点解释定义、适用边界和验证方式。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IETF（互联网工程任务组）RFC（征求意见稿标准） 4648 Base64（基础64编码）规范</a:t>
            </a:r>
          </a:p>
          <a:p xmlns:a="http://schemas.openxmlformats.org/drawingml/2006/main">
            <a:r>
              <a:t>https://www.rfc-editor.org/rfc/rfc4648</a:t>
            </a:r>
          </a:p>
          <a:p xmlns:a="http://schemas.openxmlformats.org/drawingml/2006/main">
            <a:r>
              <a:t>2. 正式题库 3.5 课时内容</a:t>
            </a:r>
          </a:p>
          <a:p xmlns:a="http://schemas.openxmlformats.org/drawingml/2006/main">
            <a:r>
              <a:t>backend/app/resources/content/question-bank-v1.json#lesson_theory_3_5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核心概念：Base64（基础64编码）分组。结合要点解释定义、适用边界和验证方式。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IETF（互联网工程任务组）RFC（征求意见稿标准） 4648 Base64（基础64编码）规范</a:t>
            </a:r>
          </a:p>
          <a:p xmlns:a="http://schemas.openxmlformats.org/drawingml/2006/main">
            <a:r>
              <a:t>https://www.rfc-editor.org/rfc/rfc4648</a:t>
            </a:r>
          </a:p>
          <a:p xmlns:a="http://schemas.openxmlformats.org/drawingml/2006/main">
            <a:r>
              <a:t>2. 正式题库 3.5 课时内容</a:t>
            </a:r>
          </a:p>
          <a:p xmlns:a="http://schemas.openxmlformats.org/drawingml/2006/main">
            <a:r>
              <a:t>backend/app/resources/content/question-bank-v1.json#lesson_theory_3_5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核心概念：填充字符。结合要点解释定义、适用边界和验证方式。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IETF（互联网工程任务组）RFC（征求意见稿标准） 4648 Base64（基础64编码）规范</a:t>
            </a:r>
          </a:p>
          <a:p xmlns:a="http://schemas.openxmlformats.org/drawingml/2006/main">
            <a:r>
              <a:t>https://www.rfc-editor.org/rfc/rfc4648</a:t>
            </a:r>
          </a:p>
          <a:p xmlns:a="http://schemas.openxmlformats.org/drawingml/2006/main">
            <a:r>
              <a:t>2. 正式题库 3.5 课时内容</a:t>
            </a:r>
          </a:p>
          <a:p xmlns:a="http://schemas.openxmlformats.org/drawingml/2006/main">
            <a:r>
              <a:t>backend/app/resources/content/question-bank-v1.json#lesson_theory_3_5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核心概念：编码回环验证。结合要点解释定义、适用边界和验证方式。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IETF（互联网工程任务组）RFC（征求意见稿标准） 4648 Base64（基础64编码）规范</a:t>
            </a:r>
          </a:p>
          <a:p xmlns:a="http://schemas.openxmlformats.org/drawingml/2006/main">
            <a:r>
              <a:t>https://www.rfc-editor.org/rfc/rfc4648</a:t>
            </a:r>
          </a:p>
          <a:p xmlns:a="http://schemas.openxmlformats.org/drawingml/2006/main">
            <a:r>
              <a:t>2. 正式题库 3.5 课时内容</a:t>
            </a:r>
          </a:p>
          <a:p xmlns:a="http://schemas.openxmlformats.org/drawingml/2006/main">
            <a:r>
              <a:t>backend/app/resources/content/question-bank-v1.json#lesson_theory_3_5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业务案例。引导学生先识别事实，再提出控制方案和可验证证据。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IETF（互联网工程任务组）RFC（征求意见稿标准） 4648 Base64（基础64编码）规范</a:t>
            </a:r>
          </a:p>
          <a:p xmlns:a="http://schemas.openxmlformats.org/drawingml/2006/main">
            <a:r>
              <a:t>https://www.rfc-editor.org/rfc/rfc4648</a:t>
            </a:r>
          </a:p>
          <a:p xmlns:a="http://schemas.openxmlformats.org/drawingml/2006/main">
            <a:r>
              <a:t>2. 正式题库 3.5 课时内容</a:t>
            </a:r>
          </a:p>
          <a:p xmlns:a="http://schemas.openxmlformats.org/drawingml/2006/main">
            <a:r>
              <a:t>backend/app/resources/content/question-bank-v1.json#lesson_theory_3_5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知识检查。先让学生独立回答，再展示参考答案并回到本课学习目标。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IETF（互联网工程任务组）RFC（征求意见稿标准） 4648 Base64（基础64编码）规范</a:t>
            </a:r>
          </a:p>
          <a:p xmlns:a="http://schemas.openxmlformats.org/drawingml/2006/main">
            <a:r>
              <a:t>https://www.rfc-editor.org/rfc/rfc4648</a:t>
            </a:r>
          </a:p>
          <a:p xmlns:a="http://schemas.openxmlformats.org/drawingml/2006/main">
            <a:r>
              <a:t>2. 正式题库 3.5 课时内容</a:t>
            </a:r>
          </a:p>
          <a:p xmlns:a="http://schemas.openxmlformats.org/drawingml/2006/main">
            <a:r>
              <a:t>backend/app/resources/content/question-bank-v1.json#lesson_theory_3_5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dc5b0503df42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420c952e0e42af" /><Relationship Type="http://schemas.openxmlformats.org/officeDocument/2006/relationships/slideLayout" Target="/ppt/slideLayouts/slideLayout1.xml" Id="R7b5ed3f170a64a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5ed3f170a64a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853dc03fb408e" /><Relationship Type="http://schemas.openxmlformats.org/officeDocument/2006/relationships/image" Target="/ppt/media/image.png" Id="Rb83d0e8526fa4616" /><Relationship Type="http://schemas.openxmlformats.org/officeDocument/2006/relationships/notesSlide" Target="/ppt/notesSlides/notesSlide1.xml" Id="Rd4ecd264893d48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2767f0e674ea8" /><Relationship Type="http://schemas.openxmlformats.org/officeDocument/2006/relationships/notesSlide" Target="/ppt/notesSlides/notesSlide2.xml" Id="R235b19d6ceda45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2e8c1d22a4383" /><Relationship Type="http://schemas.openxmlformats.org/officeDocument/2006/relationships/notesSlide" Target="/ppt/notesSlides/notesSlide3.xml" Id="Rc1a0365f0ffd4d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bdb679dce4f15" /><Relationship Type="http://schemas.openxmlformats.org/officeDocument/2006/relationships/notesSlide" Target="/ppt/notesSlides/notesSlide4.xml" Id="Rd18dabea335e4d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08b9584314152" /><Relationship Type="http://schemas.openxmlformats.org/officeDocument/2006/relationships/notesSlide" Target="/ppt/notesSlides/notesSlide5.xml" Id="R5ca6ae137d7b45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2db085a0946d7" /><Relationship Type="http://schemas.openxmlformats.org/officeDocument/2006/relationships/notesSlide" Target="/ppt/notesSlides/notesSlide6.xml" Id="R1474932ff03a40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782cce4a54ba4" /><Relationship Type="http://schemas.openxmlformats.org/officeDocument/2006/relationships/notesSlide" Target="/ppt/notesSlides/notesSlide7.xml" Id="R21cd494cd9d549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32dbe3f034c6a" /><Relationship Type="http://schemas.openxmlformats.org/officeDocument/2006/relationships/notesSlide" Target="/ppt/notesSlides/notesSlide8.xml" Id="R34f1a1e8081a45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3d0e8526fa461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5EF84-7EE8-449D-9350-C27BEAEB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第 3 章  ·  3.5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25AA28-2E39-48F6-968A-F1C5826B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数据编码：Base64（基础64编码） 等编码方法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2B6CA-F3B3-40E3-9A63-4005015C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数据安全技术基础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F9C1E5-4508-44A2-93E9-A8613B26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跃科网络空间安全实训平台</a:t>
            </a:r>
          </a:p>
        </p:txBody>
      </p:sp>
    </p:spTree>
    <p:extLst>
      <p:ext uri="{BB962C8B-B14F-4D97-AF65-F5344CB8AC3E}">
        <p14:creationId xmlns:p14="http://schemas.microsoft.com/office/powerpoint/2010/main" val="3627816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280926-B4E9-4E3E-9BE9-CBB2D688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本课目标与知识结构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17D5B-2185-49C3-BEB2-3FBC261B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3.5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5B4D6-FFE7-404F-9E43-B157DA5B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27824-047D-43A7-87F1-230D36F9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能够解释 Base64（基础64编码）把二进制数据转换为可打印文本的机制。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能够区分编码、加密与哈希，避免把可逆编码误作保密措施。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90F14-5D16-4953-8D91-F58AAFA2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知识结构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BB285-FD4E-4E0B-839B-CB6DC123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143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字符集与字节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Base64（基础64编码）分组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03  填充字符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04  编码回环验证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C1191D-D4BD-4D81-92FD-FA2EB08B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3.5  数据安全技术基础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FDCBAE-21CC-4E82-A622-D75B06A1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4827283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E8AAC-5BD5-4146-ACE9-05E79880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01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DBC24-9ABC-497A-98FF-E8A363E4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字符集与字节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DAE27-E82E-4232-898E-549B9808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字符集规定字符如何映射为字节，Base64（基础64编码）处理的是字节而不是抽象文字。编解码双方字符集不一致时，即使 Base64（基础64编码） 过程正确也会出现乱码。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06E00-A0B2-4D50-9105-71894727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先用明确字符集把文本编码为字节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UTF-8（八位统一码转换格式）对中文使用多字节表示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字节长度通常不等于字符数量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解码后须用原字符集还原文本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33EE6-CE35-4E94-89BA-FEED940C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3.5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614B7-07E7-40C9-A414-0C72B95A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0304176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10251-A588-45DF-A2BE-16AC9FFC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02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BD019-86B5-4179-ADA0-B76F5E98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Base64（基础64编码）分组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CDE11-5ED3-4132-86C4-BE31517A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Base64（基础64编码）把每3个输入字节组成24位，再拆成4组6位并映射为可打印字符。编码结果通常增长约三分之一，且不提供机密性。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2394A-4942-4E8B-AB5B-87B1FDB5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每组6位可表示64个索引值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二进制内容可安全通过文本通道传输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换行和字母表变体需由协议约定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看到可打印文本不代表内容已加密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263150-8070-471C-96CC-4D1DCBD4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3.5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1EE23-015A-4424-AC30-98030BDB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9430276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F9953-E46C-4E68-9F32-6E9562E0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03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99CDB-97E2-4EC4-AD46-53BE8504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填充字符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2B56F-F7F9-4EEA-9C9A-4DC52411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当输入字节数不是3的倍数时，标准 Base64（基础64编码）可在末尾使用等号表示缺失字节。某些协议允许省略填充，但接收方必须明确采用的变体和长度规则。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BCE00-7D72-43CE-A836-2DA2EDD9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一个剩余字节通常对应两个等号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两个剩余字节通常对应一个等号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填充位必须为零并受严格校验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不要把等号误认为加密或签名标志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2A0B0-78B5-4316-AF08-917783D7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3.5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0260B-A928-4F40-B6AA-B1D8CAD9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298706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91571-B44F-4A15-81CA-4B7979DB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04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1D83E5-5CD9-4F02-A089-131FB2BA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编码回环验证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95BF2-CE5C-4D81-93DA-D05660F8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回环验证把原始字节编码后再解码，并逐字节比较是否完全一致。它能发现字符集、换行、填充和传输截断问题，但不能证明内容真实来源。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CAA6E-6033-4EE8-AE11-1864FEB2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比较原始和还原后的字节摘要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覆盖空输入、中文和二进制样本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测试带填充和不带填充的边界长度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来源真实性仍需签名或认证机制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67E1F-71AC-486D-8414-CE214DD1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3.5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2B77A-9076-4B17-A399-CB42657D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3912103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1A3E5-480E-432C-B1B8-3AA50697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业务案例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4C06C-A380-4BAD-BC61-E164C963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把概念放回真实决策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8BDA8-4E6A-4D38-9982-2ACF0B15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邮件系统用 Base64（基础64编码）传输二进制附件，任何接收者都可解码，因此敏感附件仍需单独加密和权限控制。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BFC32-DDA3-47E8-9046-4D6C6A31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课堂讨论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A2F8BD-5ED8-4A16-B4F5-9565C207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案例中的核心数据资产、威胁和责任主体分别是什么？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优先控制措施是什么，如何用日志、测试或指标验证效果？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哪些边界条件变化后，需要重新评估方案？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FAB0C-DEA1-49B3-A419-B34556D4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3.5  数据安全技术基础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F72E3B-A034-4C9B-A65A-BE90745E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565197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E7E5B-D8B8-43C1-9E04-2F18258E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知识检查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C62DC-CF68-47E9-A674-BCC2C62C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76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Base64（基础64编码）为什么不能保护口令机密性？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4BA9E-4D0C-41B1-8B55-9A250DD9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rPr>
              <a:t>参考答案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63DDE-503C-4014-82AB-2F6BF262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它不使用秘密密钥且可以直接逆向解码，设计目标只是数据表示与传输。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CCC36A-1B72-4774-8BF0-77DBA2CA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3.5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E77BB-8A80-4DD0-BE5C-2A56A977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08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0635358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2026-09-21T18:10:33.0340000Z</dcterms:created>
  <dcterms:modified xsi:type="dcterms:W3CDTF">2026-09-21T18:10:33.0340000Z</dcterms:modified>
</coreProperties>
</file>