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e087babf840a6" /><Relationship Type="http://schemas.openxmlformats.org/officeDocument/2006/relationships/extended-properties" Target="/docProps/app.xml" Id="R54485070d455495b" /><Relationship Type="http://schemas.openxmlformats.org/officeDocument/2006/relationships/officeDocument" Target="/ppt/presentation.xml" Id="Rddb5a3099a43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364a33af24358"/>
  </p:sldMasterIdLst>
  <p:notesMasterIdLst>
    <p:notesMasterId xmlns:r="http://schemas.openxmlformats.org/officeDocument/2006/relationships" r:id="Rb937f379f0994dcb"/>
  </p:notesMasterIdLst>
  <p:sldIdLst>
    <p:sldId xmlns:r="http://schemas.openxmlformats.org/officeDocument/2006/relationships" id="256" r:id="R00c6b184a6124116"/>
    <p:sldId xmlns:r="http://schemas.openxmlformats.org/officeDocument/2006/relationships" id="257" r:id="Rcc434d497258485b"/>
    <p:sldId xmlns:r="http://schemas.openxmlformats.org/officeDocument/2006/relationships" id="258" r:id="R1fbc05e473ae473b"/>
    <p:sldId xmlns:r="http://schemas.openxmlformats.org/officeDocument/2006/relationships" id="259" r:id="R1e0f1b8aac1a45aa"/>
    <p:sldId xmlns:r="http://schemas.openxmlformats.org/officeDocument/2006/relationships" id="260" r:id="Rbe1f784abaf04813"/>
    <p:sldId xmlns:r="http://schemas.openxmlformats.org/officeDocument/2006/relationships" id="261" r:id="R1dedf816f05a43d6"/>
    <p:sldId xmlns:r="http://schemas.openxmlformats.org/officeDocument/2006/relationships" id="262" r:id="Re4bd9133923b40ee"/>
    <p:sldId xmlns:r="http://schemas.openxmlformats.org/officeDocument/2006/relationships" id="263" r:id="R6d67ebe1cc5f43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192c409a4b4272" /><Relationship Type="http://schemas.openxmlformats.org/officeDocument/2006/relationships/slideMaster" Target="/ppt/slideMasters/slideMaster1.xml" Id="Rf1c364a33af24358" /><Relationship Type="http://schemas.openxmlformats.org/officeDocument/2006/relationships/notesMaster" Target="/ppt/notesMasters/notesMaster1.xml" Id="Rb937f379f0994dcb" /><Relationship Type="http://schemas.openxmlformats.org/officeDocument/2006/relationships/presProps" Target="/ppt/presProps.xml" Id="R3fd3c186d47a4509" /><Relationship Type="http://schemas.openxmlformats.org/officeDocument/2006/relationships/tableStyles" Target="/ppt/tableStyles.xml" Id="R24bad8353e154e58" /><Relationship Type="http://schemas.openxmlformats.org/officeDocument/2006/relationships/slide" Target="/ppt/slides/slide1.xml" Id="R00c6b184a6124116" /><Relationship Type="http://schemas.openxmlformats.org/officeDocument/2006/relationships/slide" Target="/ppt/slides/slide2.xml" Id="Rcc434d497258485b" /><Relationship Type="http://schemas.openxmlformats.org/officeDocument/2006/relationships/slide" Target="/ppt/slides/slide3.xml" Id="R1fbc05e473ae473b" /><Relationship Type="http://schemas.openxmlformats.org/officeDocument/2006/relationships/slide" Target="/ppt/slides/slide4.xml" Id="R1e0f1b8aac1a45aa" /><Relationship Type="http://schemas.openxmlformats.org/officeDocument/2006/relationships/slide" Target="/ppt/slides/slide5.xml" Id="Rbe1f784abaf04813" /><Relationship Type="http://schemas.openxmlformats.org/officeDocument/2006/relationships/slide" Target="/ppt/slides/slide6.xml" Id="R1dedf816f05a43d6" /><Relationship Type="http://schemas.openxmlformats.org/officeDocument/2006/relationships/slide" Target="/ppt/slides/slide7.xml" Id="Re4bd9133923b40ee" /><Relationship Type="http://schemas.openxmlformats.org/officeDocument/2006/relationships/slide" Target="/ppt/slides/slide8.xml" Id="R6d67ebe1cc5f43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3fe14db53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52ab3dff24f17" /><Relationship Type="http://schemas.openxmlformats.org/officeDocument/2006/relationships/notesMaster" Target="/ppt/notesMasters/notesMaster1.xml" Id="Rd17611ea1b90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494b32f5ba49e3" /><Relationship Type="http://schemas.openxmlformats.org/officeDocument/2006/relationships/notesMaster" Target="/ppt/notesMasters/notesMaster1.xml" Id="R34f9a9cb672046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3d69d2e60a4de0" /><Relationship Type="http://schemas.openxmlformats.org/officeDocument/2006/relationships/notesMaster" Target="/ppt/notesMasters/notesMaster1.xml" Id="R6e9ac1da6914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4fb55fc434e3c" /><Relationship Type="http://schemas.openxmlformats.org/officeDocument/2006/relationships/notesMaster" Target="/ppt/notesMasters/notesMaster1.xml" Id="R5edf802258a04f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b22fd06048476b" /><Relationship Type="http://schemas.openxmlformats.org/officeDocument/2006/relationships/notesMaster" Target="/ppt/notesMasters/notesMaster1.xml" Id="Ra1254699b77141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0ba740d02842d9" /><Relationship Type="http://schemas.openxmlformats.org/officeDocument/2006/relationships/notesMaster" Target="/ppt/notesMasters/notesMaster1.xml" Id="Rf8cd731bde6d42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e804ce4ee9479e" /><Relationship Type="http://schemas.openxmlformats.org/officeDocument/2006/relationships/notesMaster" Target="/ppt/notesMasters/notesMaster1.xml" Id="Rf82d0f4b9e59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d6c719105f4dde" /><Relationship Type="http://schemas.openxmlformats.org/officeDocument/2006/relationships/notesMaster" Target="/ppt/notesMasters/notesMaster1.xml" Id="R57b5f29b022648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核心概念：对称密钥。结合要点解释定义、适用边界和验证方式。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核心概念：分组密码。结合要点解释定义、适用边界和验证方式。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核心概念：初始化向量。结合要点解释定义、适用边界和验证方式。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核心概念：工作模式与填充。结合要点解释定义、适用边界和验证方式。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197 AES（高级加密标准）</a:t>
            </a:r>
          </a:p>
          <a:p xmlns:a="http://schemas.openxmlformats.org/drawingml/2006/main">
            <a:r>
              <a:t>https://csrc.nist.gov/pubs/fips/197/final</a:t>
            </a:r>
          </a:p>
          <a:p xmlns:a="http://schemas.openxmlformats.org/drawingml/2006/main">
            <a:r>
              <a:t>2. NIST（美国国家标准与技术研究院）SP（特别出版物） 800-38A 分组密码工作模式</a:t>
            </a:r>
          </a:p>
          <a:p xmlns:a="http://schemas.openxmlformats.org/drawingml/2006/main">
            <a:r>
              <a:t>https://csrc.nist.gov/pubs/sp/800/38/a/final</a:t>
            </a:r>
          </a:p>
          <a:p xmlns:a="http://schemas.openxmlformats.org/drawingml/2006/main">
            <a:r>
              <a:t>3. 正式题库 3.1 课时内容</a:t>
            </a:r>
          </a:p>
          <a:p xmlns:a="http://schemas.openxmlformats.org/drawingml/2006/main">
            <a:r>
              <a:t>backend/app/resources/content/question-bank-v1.json#lesson_theory_3_1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65cb43f9e41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0412d75d040e7" /><Relationship Type="http://schemas.openxmlformats.org/officeDocument/2006/relationships/slideLayout" Target="/ppt/slideLayouts/slideLayout1.xml" Id="R22ebd5ac95504a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bd5ac95504a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a5bca5beb4a47" /><Relationship Type="http://schemas.openxmlformats.org/officeDocument/2006/relationships/image" Target="/ppt/media/image.png" Id="Rb6ad65f9e3aa4ff9" /><Relationship Type="http://schemas.openxmlformats.org/officeDocument/2006/relationships/notesSlide" Target="/ppt/notesSlides/notesSlide1.xml" Id="R0f27aaff283841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fd7ed9dba45e3" /><Relationship Type="http://schemas.openxmlformats.org/officeDocument/2006/relationships/notesSlide" Target="/ppt/notesSlides/notesSlide2.xml" Id="Rd685ee79fb8249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782b3fbdf4c7d" /><Relationship Type="http://schemas.openxmlformats.org/officeDocument/2006/relationships/notesSlide" Target="/ppt/notesSlides/notesSlide3.xml" Id="R6226726179634d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9ec3e30e34905" /><Relationship Type="http://schemas.openxmlformats.org/officeDocument/2006/relationships/notesSlide" Target="/ppt/notesSlides/notesSlide4.xml" Id="R8bdbe27dda314c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f5130ed99443a" /><Relationship Type="http://schemas.openxmlformats.org/officeDocument/2006/relationships/notesSlide" Target="/ppt/notesSlides/notesSlide5.xml" Id="R4453e921467c4e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48281ac294211" /><Relationship Type="http://schemas.openxmlformats.org/officeDocument/2006/relationships/notesSlide" Target="/ppt/notesSlides/notesSlide6.xml" Id="R96a110db9efb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ae26b98974f7b" /><Relationship Type="http://schemas.openxmlformats.org/officeDocument/2006/relationships/notesSlide" Target="/ppt/notesSlides/notesSlide7.xml" Id="R5ff48467138a47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a6667c60642bd" /><Relationship Type="http://schemas.openxmlformats.org/officeDocument/2006/relationships/notesSlide" Target="/ppt/notesSlides/notesSlide8.xml" Id="R63942f5f6bd347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d65f9e3aa4ff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C2EEA-876B-49F1-B442-9A1EA0A7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3 章  ·  3.1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90CB8-57FC-4406-9E74-60CDB8F7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对称加密算法：AES（高级加密标准）、DES（数据加密标准） 原理与加密模式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0DCC1-8382-46C7-AF4C-4495F86D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27086-D363-48AD-8FD7-61E44273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2077362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40E6E-6A4C-4BC1-BD75-35B7411B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0EAB8-3F37-4342-9575-578387CA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C731C-079C-4609-9D62-C439C5B1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295C7-83DC-4F11-9B22-5C6098D5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能够说明 AES（高级加密标准）与 DES（数据加密标准）的分组、密钥和安全强度差异。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能够比较 ECB（电子密码本模式）与 CBC（密码分组链接模式）的工作方式和适用风险。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5DA18-329F-4A96-85B9-242D4D51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87CE0-A42C-4051-8E1B-4B658BE0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对称密钥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分组密码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初始化向量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工作模式与填充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42F3D-1A80-4085-AEC3-A46E1BCB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3.1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E0F74-0D82-412F-8ED0-69ADCEC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54327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B3431-EB47-45D7-A14C-1FCE360F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B67EC-0DF2-4E8A-BC61-B2102B8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对称密钥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A9E31-4C24-4914-A62C-7FF209F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对称加密由通信双方共享同一秘密密钥完成加密和解密，计算效率适合大批量数据。安全难点从算法本身转向密钥生成、分发、保存、轮换和销毁。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DFD90-61B7-4E77-936F-E5C409D6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密钥不得与密文放在同一无保护位置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不同用途和环境应避免复用同一密钥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共享方数量增加会放大密钥泄露面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密钥泄露后需轮换并评估历史数据影响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8CC90-2569-46CB-9604-278AAA6B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EEBA2-6924-4E06-9206-0167D3B4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97097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2927E-3A96-404A-9F10-762BBB3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0648D-0589-40EE-AD95-C21B224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分组密码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70338-29A5-4F8B-B85C-E02DF35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分组密码把固定长度明文块与密钥变换为等长密文块，AES（高级加密标准）的分组长度固定为128位。长消息必须结合工作模式处理，不能直接重复调用裸分组变换。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71F0E-ADE1-4B70-AAC8-D6E3FE72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分组长度不同于密钥长度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最后一块可能需要填充或特殊处理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相同算法在不同模式下泄露特征不同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DES（数据加密标准）的56位有效密钥已不足够安全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5D3BF-4A49-420D-A30A-E10B8C11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08FBA-1F6F-4FF4-8366-5BCBAE6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89770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E5D54-AAB7-43C5-88CD-CACA50AC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C166C-E9D6-4233-81EC-15F2ADA8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初始化向量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2007A-387A-4890-A82B-E562EABF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初始化向量为首个分组引入变化，使相同密钥下的相同明文不必产生相同密文。它通常不要求保密，但必须满足对应模式的唯一性或不可预测性要求。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02F2B-BEB2-476D-B23C-14556B9E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初始化向量长度要符合算法模式要求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禁止固定写死后跨消息重复使用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初始化向量应与密文一起可靠传输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错误生成可能泄露明文间关系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71608-5A2D-489E-A21C-1D889E8D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7C883-E6BA-4F3B-8B80-D0EF83D4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091559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2E88B-544B-4ABF-91EF-E05519A8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70F89-8231-4E8C-A1C8-3D886CF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工作模式与填充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F06AE-9EB7-4F6B-92BC-7CD851F9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工作模式规定多个分组如何关联并提供机密性，有些现代模式还能同时校验完整性。填充只解决分组长度对齐，不提供安全性，解密端必须使用完全一致的模式和参数。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2ABEF-AAAD-4005-B81D-0505E423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ECB（电子密码本模式）会暴露重复块结构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CBC（密码分组链接模式）需要正确初始化向量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优先使用经验证的认证加密模式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填充错误不应向外泄露可区分信息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88912-E605-4D5E-A4B0-02E22FA3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972C8-364C-4676-A137-EC10C75E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663650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6DB27-78F8-4A90-9EE9-66F4AED0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F9C7E-74A5-4DFA-A702-63D64E14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B70FE-E592-4CE5-B589-DCDD69BF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对重复图案使用 ECB（电子密码本模式）时密文仍可能暴露结构，改用带随机初始化向量的安全模式后重复特征不再直接对应。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B6515-2FBF-4DAB-9C17-44E6C990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C97BA-2686-4842-BA4F-791A2032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9872C-9BAB-4120-A37D-14BF92F5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3.1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4B680-20C5-49FF-845D-DA218091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50007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C935E-E109-418D-8F35-85E6AE1F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D08A5-9C5D-47FD-98EA-97636AEB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 DES（数据加密标准）不适合继续保护现代敏感数据？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CEA1-C5AD-4AE7-8726-C6F87C4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00C34-9B56-4A62-A709-CA7B229C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其有效密钥长度只有56位，已不足以抵抗现实的穷举攻击。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D5510-9E91-4D0C-A519-D7CF1CA9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3.1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B0EDD-56E6-48CA-82E9-CCCEF78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975212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2026-09-21T18:10:19.3860000Z</dcterms:created>
  <dcterms:modified xsi:type="dcterms:W3CDTF">2026-09-21T18:10:19.3860000Z</dcterms:modified>
</coreProperties>
</file>