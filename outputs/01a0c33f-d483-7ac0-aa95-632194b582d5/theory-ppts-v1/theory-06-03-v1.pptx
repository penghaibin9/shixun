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2e5e61243b44e2" /><Relationship Type="http://schemas.openxmlformats.org/officeDocument/2006/relationships/extended-properties" Target="/docProps/app.xml" Id="Rfbae848016a441b1" /><Relationship Type="http://schemas.openxmlformats.org/officeDocument/2006/relationships/officeDocument" Target="/ppt/presentation.xml" Id="R18724e4fe809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d86852c352452c"/>
  </p:sldMasterIdLst>
  <p:notesMasterIdLst>
    <p:notesMasterId xmlns:r="http://schemas.openxmlformats.org/officeDocument/2006/relationships" r:id="R5a01663668f84faa"/>
  </p:notesMasterIdLst>
  <p:sldIdLst>
    <p:sldId xmlns:r="http://schemas.openxmlformats.org/officeDocument/2006/relationships" id="256" r:id="Rb39462da088146d6"/>
    <p:sldId xmlns:r="http://schemas.openxmlformats.org/officeDocument/2006/relationships" id="257" r:id="R5672f29182104a31"/>
    <p:sldId xmlns:r="http://schemas.openxmlformats.org/officeDocument/2006/relationships" id="258" r:id="R35cb62988988441e"/>
    <p:sldId xmlns:r="http://schemas.openxmlformats.org/officeDocument/2006/relationships" id="259" r:id="R43dc5cf9560a44cd"/>
    <p:sldId xmlns:r="http://schemas.openxmlformats.org/officeDocument/2006/relationships" id="260" r:id="Rfe341d324af049f9"/>
    <p:sldId xmlns:r="http://schemas.openxmlformats.org/officeDocument/2006/relationships" id="261" r:id="R51ce57c66baf4406"/>
    <p:sldId xmlns:r="http://schemas.openxmlformats.org/officeDocument/2006/relationships" id="262" r:id="R68bbd626953f47b0"/>
    <p:sldId xmlns:r="http://schemas.openxmlformats.org/officeDocument/2006/relationships" id="263" r:id="Reb8da0234f744b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b1ef70cce4eb8" /><Relationship Type="http://schemas.openxmlformats.org/officeDocument/2006/relationships/slideMaster" Target="/ppt/slideMasters/slideMaster1.xml" Id="R1ad86852c352452c" /><Relationship Type="http://schemas.openxmlformats.org/officeDocument/2006/relationships/notesMaster" Target="/ppt/notesMasters/notesMaster1.xml" Id="R5a01663668f84faa" /><Relationship Type="http://schemas.openxmlformats.org/officeDocument/2006/relationships/presProps" Target="/ppt/presProps.xml" Id="Ra8b4e14d62fe47a5" /><Relationship Type="http://schemas.openxmlformats.org/officeDocument/2006/relationships/tableStyles" Target="/ppt/tableStyles.xml" Id="R00d1b2209c024728" /><Relationship Type="http://schemas.openxmlformats.org/officeDocument/2006/relationships/slide" Target="/ppt/slides/slide1.xml" Id="Rb39462da088146d6" /><Relationship Type="http://schemas.openxmlformats.org/officeDocument/2006/relationships/slide" Target="/ppt/slides/slide2.xml" Id="R5672f29182104a31" /><Relationship Type="http://schemas.openxmlformats.org/officeDocument/2006/relationships/slide" Target="/ppt/slides/slide3.xml" Id="R35cb62988988441e" /><Relationship Type="http://schemas.openxmlformats.org/officeDocument/2006/relationships/slide" Target="/ppt/slides/slide4.xml" Id="R43dc5cf9560a44cd" /><Relationship Type="http://schemas.openxmlformats.org/officeDocument/2006/relationships/slide" Target="/ppt/slides/slide5.xml" Id="Rfe341d324af049f9" /><Relationship Type="http://schemas.openxmlformats.org/officeDocument/2006/relationships/slide" Target="/ppt/slides/slide6.xml" Id="R51ce57c66baf4406" /><Relationship Type="http://schemas.openxmlformats.org/officeDocument/2006/relationships/slide" Target="/ppt/slides/slide7.xml" Id="R68bbd626953f47b0" /><Relationship Type="http://schemas.openxmlformats.org/officeDocument/2006/relationships/slide" Target="/ppt/slides/slide8.xml" Id="Reb8da0234f744b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c740517e2a4f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41f06473314b48" /><Relationship Type="http://schemas.openxmlformats.org/officeDocument/2006/relationships/notesMaster" Target="/ppt/notesMasters/notesMaster1.xml" Id="R74e8916bd78d4d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65ceb1eb924c86" /><Relationship Type="http://schemas.openxmlformats.org/officeDocument/2006/relationships/notesMaster" Target="/ppt/notesMasters/notesMaster1.xml" Id="R5604e12e1b18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053ddac12a410e" /><Relationship Type="http://schemas.openxmlformats.org/officeDocument/2006/relationships/notesMaster" Target="/ppt/notesMasters/notesMaster1.xml" Id="Re5e40bbd6b584a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4c171d36b4feb" /><Relationship Type="http://schemas.openxmlformats.org/officeDocument/2006/relationships/notesMaster" Target="/ppt/notesMasters/notesMaster1.xml" Id="R47f57d63c6944b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208f5ea84048bc" /><Relationship Type="http://schemas.openxmlformats.org/officeDocument/2006/relationships/notesMaster" Target="/ppt/notesMasters/notesMaster1.xml" Id="R193ebbf6bf1e4f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011e66ff9c44a1" /><Relationship Type="http://schemas.openxmlformats.org/officeDocument/2006/relationships/notesMaster" Target="/ppt/notesMasters/notesMaster1.xml" Id="R1c434146f45f4b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a5c87138d5457e" /><Relationship Type="http://schemas.openxmlformats.org/officeDocument/2006/relationships/notesMaster" Target="/ppt/notesMasters/notesMaster1.xml" Id="Re53fa2cb93e24f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53834d97104391" /><Relationship Type="http://schemas.openxmlformats.org/officeDocument/2006/relationships/notesMaster" Target="/ppt/notesMasters/notesMaster1.xml" Id="Ra1a691f3902d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800-88 介质净化指南</a:t>
            </a:r>
          </a:p>
          <a:p xmlns:a="http://schemas.openxmlformats.org/drawingml/2006/main">
            <a:r>
              <a:t>https://csrc.nist.gov/pubs/sp/800/88/r1/final</a:t>
            </a:r>
          </a:p>
          <a:p xmlns:a="http://schemas.openxmlformats.org/drawingml/2006/main">
            <a:r>
              <a:t>2. 正式题库 6.3 课时内容</a:t>
            </a:r>
          </a:p>
          <a:p xmlns:a="http://schemas.openxmlformats.org/drawingml/2006/main">
            <a:r>
              <a:t>backend/app/resources/content/question-bank-v1.json#lesson_theory_6_3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800-88 介质净化指南</a:t>
            </a:r>
          </a:p>
          <a:p xmlns:a="http://schemas.openxmlformats.org/drawingml/2006/main">
            <a:r>
              <a:t>https://csrc.nist.gov/pubs/sp/800/88/r1/final</a:t>
            </a:r>
          </a:p>
          <a:p xmlns:a="http://schemas.openxmlformats.org/drawingml/2006/main">
            <a:r>
              <a:t>2. 正式题库 6.3 课时内容</a:t>
            </a:r>
          </a:p>
          <a:p xmlns:a="http://schemas.openxmlformats.org/drawingml/2006/main">
            <a:r>
              <a:t>backend/app/resources/content/question-bank-v1.json#lesson_theory_6_3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核心概念：逻辑清除。结合要点解释定义、适用边界和验证方式。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800-88 介质净化指南</a:t>
            </a:r>
          </a:p>
          <a:p xmlns:a="http://schemas.openxmlformats.org/drawingml/2006/main">
            <a:r>
              <a:t>https://csrc.nist.gov/pubs/sp/800/88/r1/final</a:t>
            </a:r>
          </a:p>
          <a:p xmlns:a="http://schemas.openxmlformats.org/drawingml/2006/main">
            <a:r>
              <a:t>2. 正式题库 6.3 课时内容</a:t>
            </a:r>
          </a:p>
          <a:p xmlns:a="http://schemas.openxmlformats.org/drawingml/2006/main">
            <a:r>
              <a:t>backend/app/resources/content/question-bank-v1.json#lesson_theory_6_3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核心概念：介质净化。结合要点解释定义、适用边界和验证方式。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800-88 介质净化指南</a:t>
            </a:r>
          </a:p>
          <a:p xmlns:a="http://schemas.openxmlformats.org/drawingml/2006/main">
            <a:r>
              <a:t>https://csrc.nist.gov/pubs/sp/800/88/r1/final</a:t>
            </a:r>
          </a:p>
          <a:p xmlns:a="http://schemas.openxmlformats.org/drawingml/2006/main">
            <a:r>
              <a:t>2. 正式题库 6.3 课时内容</a:t>
            </a:r>
          </a:p>
          <a:p xmlns:a="http://schemas.openxmlformats.org/drawingml/2006/main">
            <a:r>
              <a:t>backend/app/resources/content/question-bank-v1.json#lesson_theory_6_3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核心概念：物理销毁。结合要点解释定义、适用边界和验证方式。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800-88 介质净化指南</a:t>
            </a:r>
          </a:p>
          <a:p xmlns:a="http://schemas.openxmlformats.org/drawingml/2006/main">
            <a:r>
              <a:t>https://csrc.nist.gov/pubs/sp/800/88/r1/final</a:t>
            </a:r>
          </a:p>
          <a:p xmlns:a="http://schemas.openxmlformats.org/drawingml/2006/main">
            <a:r>
              <a:t>2. 正式题库 6.3 课时内容</a:t>
            </a:r>
          </a:p>
          <a:p xmlns:a="http://schemas.openxmlformats.org/drawingml/2006/main">
            <a:r>
              <a:t>backend/app/resources/content/question-bank-v1.json#lesson_theory_6_3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核心概念：结果验证与销毁证明。结合要点解释定义、适用边界和验证方式。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800-88 介质净化指南</a:t>
            </a:r>
          </a:p>
          <a:p xmlns:a="http://schemas.openxmlformats.org/drawingml/2006/main">
            <a:r>
              <a:t>https://csrc.nist.gov/pubs/sp/800/88/r1/final</a:t>
            </a:r>
          </a:p>
          <a:p xmlns:a="http://schemas.openxmlformats.org/drawingml/2006/main">
            <a:r>
              <a:t>2. 正式题库 6.3 课时内容</a:t>
            </a:r>
          </a:p>
          <a:p xmlns:a="http://schemas.openxmlformats.org/drawingml/2006/main">
            <a:r>
              <a:t>backend/app/resources/content/question-bank-v1.json#lesson_theory_6_3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800-88 介质净化指南</a:t>
            </a:r>
          </a:p>
          <a:p xmlns:a="http://schemas.openxmlformats.org/drawingml/2006/main">
            <a:r>
              <a:t>https://csrc.nist.gov/pubs/sp/800/88/r1/final</a:t>
            </a:r>
          </a:p>
          <a:p xmlns:a="http://schemas.openxmlformats.org/drawingml/2006/main">
            <a:r>
              <a:t>2. 正式题库 6.3 课时内容</a:t>
            </a:r>
          </a:p>
          <a:p xmlns:a="http://schemas.openxmlformats.org/drawingml/2006/main">
            <a:r>
              <a:t>backend/app/resources/content/question-bank-v1.json#lesson_theory_6_3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800-88 介质净化指南</a:t>
            </a:r>
          </a:p>
          <a:p xmlns:a="http://schemas.openxmlformats.org/drawingml/2006/main">
            <a:r>
              <a:t>https://csrc.nist.gov/pubs/sp/800/88/r1/final</a:t>
            </a:r>
          </a:p>
          <a:p xmlns:a="http://schemas.openxmlformats.org/drawingml/2006/main">
            <a:r>
              <a:t>2. 正式题库 6.3 课时内容</a:t>
            </a:r>
          </a:p>
          <a:p xmlns:a="http://schemas.openxmlformats.org/drawingml/2006/main">
            <a:r>
              <a:t>backend/app/resources/content/question-bank-v1.json#lesson_theory_6_3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31a228743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ba4c9045394966" /><Relationship Type="http://schemas.openxmlformats.org/officeDocument/2006/relationships/slideLayout" Target="/ppt/slideLayouts/slideLayout1.xml" Id="Raacff05a2b564e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ff05a2b56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316fd5fb2408d" /><Relationship Type="http://schemas.openxmlformats.org/officeDocument/2006/relationships/image" Target="/ppt/media/image.png" Id="Rc56e2210bc2a4ed1" /><Relationship Type="http://schemas.openxmlformats.org/officeDocument/2006/relationships/notesSlide" Target="/ppt/notesSlides/notesSlide1.xml" Id="Rb8cb803d114840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9046b59384d65" /><Relationship Type="http://schemas.openxmlformats.org/officeDocument/2006/relationships/notesSlide" Target="/ppt/notesSlides/notesSlide2.xml" Id="R68ec81dbccc743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ff36fef144f1f" /><Relationship Type="http://schemas.openxmlformats.org/officeDocument/2006/relationships/notesSlide" Target="/ppt/notesSlides/notesSlide3.xml" Id="Rca1275067f9044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51147f5c2493a" /><Relationship Type="http://schemas.openxmlformats.org/officeDocument/2006/relationships/notesSlide" Target="/ppt/notesSlides/notesSlide4.xml" Id="Rfc5e71984b954d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0838f32f9497e" /><Relationship Type="http://schemas.openxmlformats.org/officeDocument/2006/relationships/notesSlide" Target="/ppt/notesSlides/notesSlide5.xml" Id="R34fe648a612a48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d1cdde44b4e69" /><Relationship Type="http://schemas.openxmlformats.org/officeDocument/2006/relationships/notesSlide" Target="/ppt/notesSlides/notesSlide6.xml" Id="Rb9d1e2c37fcd4b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48f4f0b074a7a" /><Relationship Type="http://schemas.openxmlformats.org/officeDocument/2006/relationships/notesSlide" Target="/ppt/notesSlides/notesSlide7.xml" Id="R14891575cd194b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bf78aeca24504" /><Relationship Type="http://schemas.openxmlformats.org/officeDocument/2006/relationships/notesSlide" Target="/ppt/notesSlides/notesSlide8.xml" Id="R3aa17c1b256445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e2210bc2a4ed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7414C-47A7-487F-839C-C7404C0F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6 章  ·  6.3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CAED2-25EA-4C93-979E-4BEA03A6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数据销毁分类：物理销毁法与逻辑销毁法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0B690-0592-4F23-A2A5-67F9980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20F2B-574F-429D-B431-34BF8FDE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2066885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80F68-6FE9-41F9-AAAE-C6552BC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A3AFD-A266-4129-9D33-443C0F4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6.3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65125-82B2-4DC9-9A14-71433FC7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78C2C-6945-4995-825A-FCFE7321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能够区分清除、净化和物理销毁，并根据介质与复用需求选择方法。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能够建立审批、执行、验证和记录完整的数据销毁证据链。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69026-632C-4DEE-90EF-227C952C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6A8B0-ED03-4E85-B7BC-8C4E46F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逻辑清除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介质净化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物理销毁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结果验证与销毁证明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DD025-AA81-4CC9-9F7C-83DABFAC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6.3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8F26A-9F33-4837-BD0A-CEB38215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9840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A4EC5-A069-42E8-8FC8-E3DDA87B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819E6-6018-4035-A254-0BB5C4C9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逻辑清除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5ED7B-78B8-4B75-9BE2-DAB8242F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逻辑清除通过覆盖、设备安全擦除或恢复出厂机制去除可访问数据，同时保留介质继续使用。普通删除和快速格式化通常只修改索引，不能作为可靠清除。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2E7AF-CCF5-4760-8048-CD696F7F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根据磁性盘、闪存等介质类型选择方法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使用设备支持的安全擦除命令需核验结果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加密介质可结合密码学清除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清除后抽样尝试恢复验证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3703F-7525-409B-9580-0BDE7B1D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D21FF-E5BF-49EF-A9B1-61C2AD8B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1669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A4AB6-D3FF-4B14-B04E-5E4CB7F5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FFFB-2D0F-4E42-93B7-26C36392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介质净化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DEC0F-1767-4A20-852B-4657F390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介质净化是根据数据敏感性和介质去向选择清除、净除或销毁方法，使恢复风险降到可接受水平。方法必须考虑隐藏区、坏块、固态盘磨损均衡和设备故障状态。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87287-D233-498C-A344-F1C11F5B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先确认数据级别与介质是否复用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覆盖法不一定触达固态盘所有物理单元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损坏介质可能只能物理销毁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采用可验证且适合介质的标准流程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51F73-8EE5-4E46-B9C7-D0F09916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01CFD-94A7-4A44-A90C-EE4E6615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637308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F59E5-3171-444A-BD47-396E1B91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22F64-7146-490D-B800-52094FDC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物理销毁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E44CA-CC9A-46FE-879B-F85A34EC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物理销毁通过粉碎、熔毁或其他破坏方式使介质无法再使用，适合报废或无法可靠清除的高风险介质。破坏程度必须与介质结构匹配，简单折弯或打孔可能留下可读区域。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419A0-7103-40F6-A4A5-FCD8143A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硬盘、磁带和闪存采用不同设备与粒度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销毁前核对介质编号和审批范围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过程防止遗失、调包和碎片泄露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委托服务需核验资质与现场证据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1D88A-88B1-4726-9BFB-BEF5F09E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EBEEF-851D-48E2-8D8B-9428E5E7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89590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F0161-C3FF-4D00-B3B4-EF84403E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A5CEE-7D95-4676-8521-6846ED7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结果验证与销毁证明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B6CA2-3765-49A2-A89B-133641AE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销毁完成需要技术验证和管理记录共同证明，而不是只依赖执行命令成功。证明应能把具体介质、方法、时间、人员和验证结果连成完整链路。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5A282-3A05-46AB-89B9-B1D497D1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记录资产编号、序列号和数据级别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双人核对执行对象避免误销毁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保存设备日志、照片或检测结果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失败介质进入隔离并重新处置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5E336-4DEA-4893-98B3-2C0C61F2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4960C-5B77-459E-B700-5CA73751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78337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F0D03-913C-4FFE-AE2B-0D5C9DA8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431A1-FA90-42F8-9312-4C27E6DB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A1E14-088E-4339-9AD8-9592366D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待复用固态硬盘采用制造商支持的安全擦除并抽检验证；报废且含高敏感数据的介质则经审批后物理破坏并记录编号。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AC525-EB45-49F2-96BC-E33DA85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5384-C4A0-4EB9-9245-3A73151B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A37CA-652C-4A21-81EA-1C62596D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6.3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7522B-3F1E-4479-AE86-1117B64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60382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5FEBE-D69F-4F08-AC48-DC7BDA52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31BA3-6D64-4422-98DD-A54F4805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把文件移入回收站为什么不算安全销毁？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490D2-55AD-4C15-AD0B-FBA94A5F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0BBB0-B7C6-4AE3-80CD-3721A6EE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普通删除通常只移除目录引用，底层数据仍可能通过恢复工具读取。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7522A-C691-4BF3-8236-39A1E47C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6.3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BDF5F-9CF8-42E5-A495-26732DD2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85556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2026-09-21T18:11:33.7120000Z</dcterms:created>
  <dcterms:modified xsi:type="dcterms:W3CDTF">2026-09-21T18:11:33.7120000Z</dcterms:modified>
</coreProperties>
</file>