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2de97e63fc14a11" /><Relationship Type="http://schemas.openxmlformats.org/officeDocument/2006/relationships/extended-properties" Target="/docProps/app.xml" Id="R2b947935bf6d401a" /><Relationship Type="http://schemas.openxmlformats.org/officeDocument/2006/relationships/officeDocument" Target="/ppt/presentation.xml" Id="Rad319ed616844761" /></Relationships>
</file>

<file path=ppt/presentation.xml><?xml version="1.0" encoding="utf-8"?>
<p:presentation xmlns:p="http://schemas.openxmlformats.org/presentationml/2006/main">
  <p:sldMasterIdLst>
    <p:sldMasterId xmlns:r="http://schemas.openxmlformats.org/officeDocument/2006/relationships" id="2147483648" r:id="R2e3f6052bdd44133"/>
  </p:sldMasterIdLst>
  <p:notesMasterIdLst>
    <p:notesMasterId xmlns:r="http://schemas.openxmlformats.org/officeDocument/2006/relationships" r:id="R34687e3df3c94df6"/>
  </p:notesMasterIdLst>
  <p:sldIdLst>
    <p:sldId xmlns:r="http://schemas.openxmlformats.org/officeDocument/2006/relationships" id="256" r:id="R2180a720b4154548"/>
    <p:sldId xmlns:r="http://schemas.openxmlformats.org/officeDocument/2006/relationships" id="257" r:id="R9b1c3e0e56a04056"/>
    <p:sldId xmlns:r="http://schemas.openxmlformats.org/officeDocument/2006/relationships" id="258" r:id="Re9eb0495100e4aef"/>
    <p:sldId xmlns:r="http://schemas.openxmlformats.org/officeDocument/2006/relationships" id="259" r:id="Rbf2e99a6ea414b9d"/>
    <p:sldId xmlns:r="http://schemas.openxmlformats.org/officeDocument/2006/relationships" id="260" r:id="Rd1749aabc09e4cb3"/>
    <p:sldId xmlns:r="http://schemas.openxmlformats.org/officeDocument/2006/relationships" id="261" r:id="R6834fea53b904017"/>
    <p:sldId xmlns:r="http://schemas.openxmlformats.org/officeDocument/2006/relationships" id="262" r:id="Rca8af66e71724c72"/>
    <p:sldId xmlns:r="http://schemas.openxmlformats.org/officeDocument/2006/relationships" id="263" r:id="Re2b5cc8ed113474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f545d7f5dbf4dfd" /><Relationship Type="http://schemas.openxmlformats.org/officeDocument/2006/relationships/slideMaster" Target="/ppt/slideMasters/slideMaster1.xml" Id="R2e3f6052bdd44133" /><Relationship Type="http://schemas.openxmlformats.org/officeDocument/2006/relationships/notesMaster" Target="/ppt/notesMasters/notesMaster1.xml" Id="R34687e3df3c94df6" /><Relationship Type="http://schemas.openxmlformats.org/officeDocument/2006/relationships/presProps" Target="/ppt/presProps.xml" Id="Rb648cc4b896f4dba" /><Relationship Type="http://schemas.openxmlformats.org/officeDocument/2006/relationships/tableStyles" Target="/ppt/tableStyles.xml" Id="R60723fa58b7f45ec" /><Relationship Type="http://schemas.openxmlformats.org/officeDocument/2006/relationships/slide" Target="/ppt/slides/slide1.xml" Id="R2180a720b4154548" /><Relationship Type="http://schemas.openxmlformats.org/officeDocument/2006/relationships/slide" Target="/ppt/slides/slide2.xml" Id="R9b1c3e0e56a04056" /><Relationship Type="http://schemas.openxmlformats.org/officeDocument/2006/relationships/slide" Target="/ppt/slides/slide3.xml" Id="Re9eb0495100e4aef" /><Relationship Type="http://schemas.openxmlformats.org/officeDocument/2006/relationships/slide" Target="/ppt/slides/slide4.xml" Id="Rbf2e99a6ea414b9d" /><Relationship Type="http://schemas.openxmlformats.org/officeDocument/2006/relationships/slide" Target="/ppt/slides/slide5.xml" Id="Rd1749aabc09e4cb3" /><Relationship Type="http://schemas.openxmlformats.org/officeDocument/2006/relationships/slide" Target="/ppt/slides/slide6.xml" Id="R6834fea53b904017" /><Relationship Type="http://schemas.openxmlformats.org/officeDocument/2006/relationships/slide" Target="/ppt/slides/slide7.xml" Id="Rca8af66e71724c72" /><Relationship Type="http://schemas.openxmlformats.org/officeDocument/2006/relationships/slide" Target="/ppt/slides/slide8.xml" Id="Re2b5cc8ed113474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a1426017819406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64d516dd3e5497e" /><Relationship Type="http://schemas.openxmlformats.org/officeDocument/2006/relationships/notesMaster" Target="/ppt/notesMasters/notesMaster1.xml" Id="Rf3440357faab4643" /></Relationships>
</file>

<file path=ppt/notesSlides/_rels/notesSlide2.xml.rels>&#65279;<?xml version="1.0" encoding="utf-8"?><Relationships xmlns="http://schemas.openxmlformats.org/package/2006/relationships"><Relationship Type="http://schemas.openxmlformats.org/officeDocument/2006/relationships/slide" Target="/ppt/slides/slide2.xml" Id="Ref809c9c3f874ccb" /><Relationship Type="http://schemas.openxmlformats.org/officeDocument/2006/relationships/notesMaster" Target="/ppt/notesMasters/notesMaster1.xml" Id="Rdf11b82d31a84c59" /></Relationships>
</file>

<file path=ppt/notesSlides/_rels/notesSlide3.xml.rels>&#65279;<?xml version="1.0" encoding="utf-8"?><Relationships xmlns="http://schemas.openxmlformats.org/package/2006/relationships"><Relationship Type="http://schemas.openxmlformats.org/officeDocument/2006/relationships/slide" Target="/ppt/slides/slide3.xml" Id="Rb3bc88575d5f456d" /><Relationship Type="http://schemas.openxmlformats.org/officeDocument/2006/relationships/notesMaster" Target="/ppt/notesMasters/notesMaster1.xml" Id="R9ef0089c405942fa" /></Relationships>
</file>

<file path=ppt/notesSlides/_rels/notesSlide4.xml.rels>&#65279;<?xml version="1.0" encoding="utf-8"?><Relationships xmlns="http://schemas.openxmlformats.org/package/2006/relationships"><Relationship Type="http://schemas.openxmlformats.org/officeDocument/2006/relationships/slide" Target="/ppt/slides/slide4.xml" Id="Rc991a1b3671c4aec" /><Relationship Type="http://schemas.openxmlformats.org/officeDocument/2006/relationships/notesMaster" Target="/ppt/notesMasters/notesMaster1.xml" Id="R7008b5335b8743c8" /></Relationships>
</file>

<file path=ppt/notesSlides/_rels/notesSlide5.xml.rels>&#65279;<?xml version="1.0" encoding="utf-8"?><Relationships xmlns="http://schemas.openxmlformats.org/package/2006/relationships"><Relationship Type="http://schemas.openxmlformats.org/officeDocument/2006/relationships/slide" Target="/ppt/slides/slide5.xml" Id="R317ccd05a6a64705" /><Relationship Type="http://schemas.openxmlformats.org/officeDocument/2006/relationships/notesMaster" Target="/ppt/notesMasters/notesMaster1.xml" Id="R36e16eca408e4bf3" /></Relationships>
</file>

<file path=ppt/notesSlides/_rels/notesSlide6.xml.rels>&#65279;<?xml version="1.0" encoding="utf-8"?><Relationships xmlns="http://schemas.openxmlformats.org/package/2006/relationships"><Relationship Type="http://schemas.openxmlformats.org/officeDocument/2006/relationships/slide" Target="/ppt/slides/slide6.xml" Id="R2559bf560522443f" /><Relationship Type="http://schemas.openxmlformats.org/officeDocument/2006/relationships/notesMaster" Target="/ppt/notesMasters/notesMaster1.xml" Id="Rcf206967b3a64982" /></Relationships>
</file>

<file path=ppt/notesSlides/_rels/notesSlide7.xml.rels>&#65279;<?xml version="1.0" encoding="utf-8"?><Relationships xmlns="http://schemas.openxmlformats.org/package/2006/relationships"><Relationship Type="http://schemas.openxmlformats.org/officeDocument/2006/relationships/slide" Target="/ppt/slides/slide7.xml" Id="R674d37db7be942fe" /><Relationship Type="http://schemas.openxmlformats.org/officeDocument/2006/relationships/notesMaster" Target="/ppt/notesMasters/notesMaster1.xml" Id="R71dd5ab6395349e4" /></Relationships>
</file>

<file path=ppt/notesSlides/_rels/notesSlide8.xml.rels>&#65279;<?xml version="1.0" encoding="utf-8"?><Relationships xmlns="http://schemas.openxmlformats.org/package/2006/relationships"><Relationship Type="http://schemas.openxmlformats.org/officeDocument/2006/relationships/slide" Target="/ppt/slides/slide8.xml" Id="Rf8bf33f204f7458f" /><Relationship Type="http://schemas.openxmlformats.org/officeDocument/2006/relationships/notesMaster" Target="/ppt/notesMasters/notesMaster1.xml" Id="R88aab932e9284d1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封面。说明本课在课程蓝图中的位置，并用一个真实业务问题导入主题。</a:t>
            </a:r>
          </a:p>
          <a:p xmlns:a="http://schemas.openxmlformats.org/drawingml/2006/main">
            <a:r>
              <a:t/>
            </a:r>
          </a:p>
          <a:p xmlns:a="http://schemas.openxmlformats.org/drawingml/2006/main">
            <a:r>
              <a:t>资料来源：</a:t>
            </a:r>
          </a:p>
          <a:p xmlns:a="http://schemas.openxmlformats.org/drawingml/2006/main">
            <a:r>
              <a:t>1. NIST（美国国家标准与技术研究院）SP（特别出版物） 800-57 密钥管理指南</a:t>
            </a:r>
          </a:p>
          <a:p xmlns:a="http://schemas.openxmlformats.org/drawingml/2006/main">
            <a:r>
              <a:t>https://csrc.nist.gov/pubs/sp/800/57/pt1/r5/final</a:t>
            </a:r>
          </a:p>
          <a:p xmlns:a="http://schemas.openxmlformats.org/drawingml/2006/main">
            <a:r>
              <a:t>2. 正式题库 6.4 课时内容</a:t>
            </a:r>
          </a:p>
          <a:p xmlns:a="http://schemas.openxmlformats.org/drawingml/2006/main">
            <a:r>
              <a:t>backend/app/resources/content/question-bank-v1.json#lesson_theory_6_4</a:t>
            </a:r>
          </a:p>
          <a:p xmlns:a="http://schemas.openxmlformats.org/drawingml/2006/main">
            <a:r>
              <a:t/>
            </a:r>
          </a:p>
          <a:p xmlns:a="http://schemas.openxmlformats.org/drawingml/2006/main">
            <a:r>
              <a:t>版权说明：课件文字为项目原创教学编排；封面抽象图由图像生成工具为本项目生成，不代表真实系统、设备或现场。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学习目标与知识结构。先说明目标，再解释各知识点之间的依赖关系。</a:t>
            </a:r>
          </a:p>
          <a:p xmlns:a="http://schemas.openxmlformats.org/drawingml/2006/main">
            <a:r>
              <a:t/>
            </a:r>
          </a:p>
          <a:p xmlns:a="http://schemas.openxmlformats.org/drawingml/2006/main">
            <a:r>
              <a:t>资料来源：</a:t>
            </a:r>
          </a:p>
          <a:p xmlns:a="http://schemas.openxmlformats.org/drawingml/2006/main">
            <a:r>
              <a:t>1. NIST（美国国家标准与技术研究院）SP（特别出版物） 800-57 密钥管理指南</a:t>
            </a:r>
          </a:p>
          <a:p xmlns:a="http://schemas.openxmlformats.org/drawingml/2006/main">
            <a:r>
              <a:t>https://csrc.nist.gov/pubs/sp/800/57/pt1/r5/final</a:t>
            </a:r>
          </a:p>
          <a:p xmlns:a="http://schemas.openxmlformats.org/drawingml/2006/main">
            <a:r>
              <a:t>2. 正式题库 6.4 课时内容</a:t>
            </a:r>
          </a:p>
          <a:p xmlns:a="http://schemas.openxmlformats.org/drawingml/2006/main">
            <a:r>
              <a:t>backend/app/resources/content/question-bank-v1.json#lesson_theory_6_4</a:t>
            </a:r>
          </a:p>
          <a:p xmlns:a="http://schemas.openxmlformats.org/drawingml/2006/main">
            <a:r>
              <a:t/>
            </a:r>
          </a:p>
          <a:p xmlns:a="http://schemas.openxmlformats.org/drawingml/2006/main">
            <a:r>
              <a:t>版权说明：课件文字为项目原创教学编排；封面抽象图由图像生成工具为本项目生成，不代表真实系统、设备或现场。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核心概念：密码学销毁。结合要点解释定义、适用边界和验证方式。</a:t>
            </a:r>
          </a:p>
          <a:p xmlns:a="http://schemas.openxmlformats.org/drawingml/2006/main">
            <a:r>
              <a:t/>
            </a:r>
          </a:p>
          <a:p xmlns:a="http://schemas.openxmlformats.org/drawingml/2006/main">
            <a:r>
              <a:t>资料来源：</a:t>
            </a:r>
          </a:p>
          <a:p xmlns:a="http://schemas.openxmlformats.org/drawingml/2006/main">
            <a:r>
              <a:t>1. NIST（美国国家标准与技术研究院）SP（特别出版物） 800-57 密钥管理指南</a:t>
            </a:r>
          </a:p>
          <a:p xmlns:a="http://schemas.openxmlformats.org/drawingml/2006/main">
            <a:r>
              <a:t>https://csrc.nist.gov/pubs/sp/800/57/pt1/r5/final</a:t>
            </a:r>
          </a:p>
          <a:p xmlns:a="http://schemas.openxmlformats.org/drawingml/2006/main">
            <a:r>
              <a:t>2. 正式题库 6.4 课时内容</a:t>
            </a:r>
          </a:p>
          <a:p xmlns:a="http://schemas.openxmlformats.org/drawingml/2006/main">
            <a:r>
              <a:t>backend/app/resources/content/question-bank-v1.json#lesson_theory_6_4</a:t>
            </a:r>
          </a:p>
          <a:p xmlns:a="http://schemas.openxmlformats.org/drawingml/2006/main">
            <a:r>
              <a:t/>
            </a:r>
          </a:p>
          <a:p xmlns:a="http://schemas.openxmlformats.org/drawingml/2006/main">
            <a:r>
              <a:t>版权说明：课件文字为项目原创教学编排；封面抽象图由图像生成工具为本项目生成，不代表真实系统、设备或现场。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核心概念：密钥副本与备份。结合要点解释定义、适用边界和验证方式。</a:t>
            </a:r>
          </a:p>
          <a:p xmlns:a="http://schemas.openxmlformats.org/drawingml/2006/main">
            <a:r>
              <a:t/>
            </a:r>
          </a:p>
          <a:p xmlns:a="http://schemas.openxmlformats.org/drawingml/2006/main">
            <a:r>
              <a:t>资料来源：</a:t>
            </a:r>
          </a:p>
          <a:p xmlns:a="http://schemas.openxmlformats.org/drawingml/2006/main">
            <a:r>
              <a:t>1. NIST（美国国家标准与技术研究院）SP（特别出版物） 800-57 密钥管理指南</a:t>
            </a:r>
          </a:p>
          <a:p xmlns:a="http://schemas.openxmlformats.org/drawingml/2006/main">
            <a:r>
              <a:t>https://csrc.nist.gov/pubs/sp/800/57/pt1/r5/final</a:t>
            </a:r>
          </a:p>
          <a:p xmlns:a="http://schemas.openxmlformats.org/drawingml/2006/main">
            <a:r>
              <a:t>2. 正式题库 6.4 课时内容</a:t>
            </a:r>
          </a:p>
          <a:p xmlns:a="http://schemas.openxmlformats.org/drawingml/2006/main">
            <a:r>
              <a:t>backend/app/resources/content/question-bank-v1.json#lesson_theory_6_4</a:t>
            </a:r>
          </a:p>
          <a:p xmlns:a="http://schemas.openxmlformats.org/drawingml/2006/main">
            <a:r>
              <a:t/>
            </a:r>
          </a:p>
          <a:p xmlns:a="http://schemas.openxmlformats.org/drawingml/2006/main">
            <a:r>
              <a:t>版权说明：课件文字为项目原创教学编排；封面抽象图由图像生成工具为本项目生成，不代表真实系统、设备或现场。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核心概念：可信时间。结合要点解释定义、适用边界和验证方式。</a:t>
            </a:r>
          </a:p>
          <a:p xmlns:a="http://schemas.openxmlformats.org/drawingml/2006/main">
            <a:r>
              <a:t/>
            </a:r>
          </a:p>
          <a:p xmlns:a="http://schemas.openxmlformats.org/drawingml/2006/main">
            <a:r>
              <a:t>资料来源：</a:t>
            </a:r>
          </a:p>
          <a:p xmlns:a="http://schemas.openxmlformats.org/drawingml/2006/main">
            <a:r>
              <a:t>1. NIST（美国国家标准与技术研究院）SP（特别出版物） 800-57 密钥管理指南</a:t>
            </a:r>
          </a:p>
          <a:p xmlns:a="http://schemas.openxmlformats.org/drawingml/2006/main">
            <a:r>
              <a:t>https://csrc.nist.gov/pubs/sp/800/57/pt1/r5/final</a:t>
            </a:r>
          </a:p>
          <a:p xmlns:a="http://schemas.openxmlformats.org/drawingml/2006/main">
            <a:r>
              <a:t>2. 正式题库 6.4 课时内容</a:t>
            </a:r>
          </a:p>
          <a:p xmlns:a="http://schemas.openxmlformats.org/drawingml/2006/main">
            <a:r>
              <a:t>backend/app/resources/content/question-bank-v1.json#lesson_theory_6_4</a:t>
            </a:r>
          </a:p>
          <a:p xmlns:a="http://schemas.openxmlformats.org/drawingml/2006/main">
            <a:r>
              <a:t/>
            </a:r>
          </a:p>
          <a:p xmlns:a="http://schemas.openxmlformats.org/drawingml/2006/main">
            <a:r>
              <a:t>版权说明：课件文字为项目原创教学编排；封面抽象图由图像生成工具为本项目生成，不代表真实系统、设备或现场。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核心概念：策略绕过与离线副本。结合要点解释定义、适用边界和验证方式。</a:t>
            </a:r>
          </a:p>
          <a:p xmlns:a="http://schemas.openxmlformats.org/drawingml/2006/main">
            <a:r>
              <a:t/>
            </a:r>
          </a:p>
          <a:p xmlns:a="http://schemas.openxmlformats.org/drawingml/2006/main">
            <a:r>
              <a:t>资料来源：</a:t>
            </a:r>
          </a:p>
          <a:p xmlns:a="http://schemas.openxmlformats.org/drawingml/2006/main">
            <a:r>
              <a:t>1. NIST（美国国家标准与技术研究院）SP（特别出版物） 800-57 密钥管理指南</a:t>
            </a:r>
          </a:p>
          <a:p xmlns:a="http://schemas.openxmlformats.org/drawingml/2006/main">
            <a:r>
              <a:t>https://csrc.nist.gov/pubs/sp/800/57/pt1/r5/final</a:t>
            </a:r>
          </a:p>
          <a:p xmlns:a="http://schemas.openxmlformats.org/drawingml/2006/main">
            <a:r>
              <a:t>2. 正式题库 6.4 课时内容</a:t>
            </a:r>
          </a:p>
          <a:p xmlns:a="http://schemas.openxmlformats.org/drawingml/2006/main">
            <a:r>
              <a:t>backend/app/resources/content/question-bank-v1.json#lesson_theory_6_4</a:t>
            </a:r>
          </a:p>
          <a:p xmlns:a="http://schemas.openxmlformats.org/drawingml/2006/main">
            <a:r>
              <a:t/>
            </a:r>
          </a:p>
          <a:p xmlns:a="http://schemas.openxmlformats.org/drawingml/2006/main">
            <a:r>
              <a:t>版权说明：课件文字为项目原创教学编排；封面抽象图由图像生成工具为本项目生成，不代表真实系统、设备或现场。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业务案例。引导学生先识别事实，再提出控制方案和可验证证据。</a:t>
            </a:r>
          </a:p>
          <a:p xmlns:a="http://schemas.openxmlformats.org/drawingml/2006/main">
            <a:r>
              <a:t/>
            </a:r>
          </a:p>
          <a:p xmlns:a="http://schemas.openxmlformats.org/drawingml/2006/main">
            <a:r>
              <a:t>资料来源：</a:t>
            </a:r>
          </a:p>
          <a:p xmlns:a="http://schemas.openxmlformats.org/drawingml/2006/main">
            <a:r>
              <a:t>1. NIST（美国国家标准与技术研究院）SP（特别出版物） 800-57 密钥管理指南</a:t>
            </a:r>
          </a:p>
          <a:p xmlns:a="http://schemas.openxmlformats.org/drawingml/2006/main">
            <a:r>
              <a:t>https://csrc.nist.gov/pubs/sp/800/57/pt1/r5/final</a:t>
            </a:r>
          </a:p>
          <a:p xmlns:a="http://schemas.openxmlformats.org/drawingml/2006/main">
            <a:r>
              <a:t>2. 正式题库 6.4 课时内容</a:t>
            </a:r>
          </a:p>
          <a:p xmlns:a="http://schemas.openxmlformats.org/drawingml/2006/main">
            <a:r>
              <a:t>backend/app/resources/content/question-bank-v1.json#lesson_theory_6_4</a:t>
            </a:r>
          </a:p>
          <a:p xmlns:a="http://schemas.openxmlformats.org/drawingml/2006/main">
            <a:r>
              <a:t/>
            </a:r>
          </a:p>
          <a:p xmlns:a="http://schemas.openxmlformats.org/drawingml/2006/main">
            <a:r>
              <a:t>版权说明：课件文字为项目原创教学编排；封面抽象图由图像生成工具为本项目生成，不代表真实系统、设备或现场。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知识检查。先让学生独立回答，再展示参考答案并回到本课学习目标。</a:t>
            </a:r>
          </a:p>
          <a:p xmlns:a="http://schemas.openxmlformats.org/drawingml/2006/main">
            <a:r>
              <a:t/>
            </a:r>
          </a:p>
          <a:p xmlns:a="http://schemas.openxmlformats.org/drawingml/2006/main">
            <a:r>
              <a:t>资料来源：</a:t>
            </a:r>
          </a:p>
          <a:p xmlns:a="http://schemas.openxmlformats.org/drawingml/2006/main">
            <a:r>
              <a:t>1. NIST（美国国家标准与技术研究院）SP（特别出版物） 800-57 密钥管理指南</a:t>
            </a:r>
          </a:p>
          <a:p xmlns:a="http://schemas.openxmlformats.org/drawingml/2006/main">
            <a:r>
              <a:t>https://csrc.nist.gov/pubs/sp/800/57/pt1/r5/final</a:t>
            </a:r>
          </a:p>
          <a:p xmlns:a="http://schemas.openxmlformats.org/drawingml/2006/main">
            <a:r>
              <a:t>2. 正式题库 6.4 课时内容</a:t>
            </a:r>
          </a:p>
          <a:p xmlns:a="http://schemas.openxmlformats.org/drawingml/2006/main">
            <a:r>
              <a:t>backend/app/resources/content/question-bank-v1.json#lesson_theory_6_4</a:t>
            </a:r>
          </a:p>
          <a:p xmlns:a="http://schemas.openxmlformats.org/drawingml/2006/main">
            <a:r>
              <a:t/>
            </a:r>
          </a:p>
          <a:p xmlns:a="http://schemas.openxmlformats.org/drawingml/2006/main">
            <a:r>
              <a:t>版权说明：课件文字为项目原创教学编排；封面抽象图由图像生成工具为本项目生成，不代表真实系统、设备或现场。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780e6eb505442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23477804bd04bdb" /><Relationship Type="http://schemas.openxmlformats.org/officeDocument/2006/relationships/slideLayout" Target="/ppt/slideLayouts/slideLayout1.xml" Id="Re9fed704431b4e9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9fed704431b4e9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70db1cf92444e37" /><Relationship Type="http://schemas.openxmlformats.org/officeDocument/2006/relationships/image" Target="/ppt/media/image.png" Id="Rdc9abc25023a47d0" /><Relationship Type="http://schemas.openxmlformats.org/officeDocument/2006/relationships/notesSlide" Target="/ppt/notesSlides/notesSlide1.xml" Id="R24598c5c4489428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f141c6a5f0340ba" /><Relationship Type="http://schemas.openxmlformats.org/officeDocument/2006/relationships/notesSlide" Target="/ppt/notesSlides/notesSlide2.xml" Id="Rf5326c0a985f4e8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57d78076e734277" /><Relationship Type="http://schemas.openxmlformats.org/officeDocument/2006/relationships/notesSlide" Target="/ppt/notesSlides/notesSlide3.xml" Id="Rca3f7985d2b441d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830cc67b66f4457" /><Relationship Type="http://schemas.openxmlformats.org/officeDocument/2006/relationships/notesSlide" Target="/ppt/notesSlides/notesSlide4.xml" Id="R61b9f7ba37d94f0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1bc9f44b0344381" /><Relationship Type="http://schemas.openxmlformats.org/officeDocument/2006/relationships/notesSlide" Target="/ppt/notesSlides/notesSlide5.xml" Id="R36c3b42eac7848b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0a9a9b07f664397" /><Relationship Type="http://schemas.openxmlformats.org/officeDocument/2006/relationships/notesSlide" Target="/ppt/notesSlides/notesSlide6.xml" Id="R9053f53a4b4f43a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61d17b9d2764f61" /><Relationship Type="http://schemas.openxmlformats.org/officeDocument/2006/relationships/notesSlide" Target="/ppt/notesSlides/notesSlide7.xml" Id="Ra858b25c50c841e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962aef5e27e4df3" /><Relationship Type="http://schemas.openxmlformats.org/officeDocument/2006/relationships/notesSlide" Target="/ppt/notesSlides/notesSlide8.xml" Id="R72f654f702f44225" /></Relationships>
</file>

<file path=ppt/slides/slide1.xml><?xml version="1.0" encoding="utf-8"?>
<p:sld xmlns:p="http://schemas.openxmlformats.org/presentationml/2006/main">
  <p:cSld>
    <p:bg>
      <p:bgPr>
        <a:solidFill xmlns:a="http://schemas.openxmlformats.org/drawingml/2006/main">
          <a:srgbClr val="10213F"/>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c9abc25023a47d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CEF9388-1FA5-4697-A320-5BB1D53BFFD1}"/>
              </a:ext>
            </a:extLst>
          </p:cNvPr>
          <p:cNvSpPr>
            <a:spLocks xmlns:a="http://schemas.openxmlformats.org/drawingml/2006/main" noGrp="1"/>
          </p:cNvSpPr>
          <p:nvPr/>
        </p:nvSpPr>
        <p:spPr>
          <a:xfrm xmlns:a="http://schemas.openxmlformats.org/drawingml/2006/main">
            <a:off x="666750" y="85725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DCE7FF"/>
                </a:solidFill>
                <a:latin typeface="Microsoft YaHei"/>
                <a:ea typeface="Microsoft YaHei"/>
                <a:cs typeface="Microsoft YaHei"/>
              </a:defRPr>
            </a:pPr>
            <a:r>
              <a:rPr sz="1350" b="1">
                <a:solidFill>
                  <a:srgbClr val="DCE7FF"/>
                </a:solidFill>
                <a:latin typeface="Microsoft YaHei"/>
                <a:ea typeface="Microsoft YaHei"/>
                <a:cs typeface="Microsoft YaHei"/>
              </a:rPr>
              <a:t>第 6 章  ·  6.4</a:t>
            </a:r>
          </a:p>
        </p:txBody>
      </p:sp>
      <p:sp>
        <p:nvSpPr>
          <p:cNvPr id="3" name="">
            <a:extLst xmlns:a="http://schemas.openxmlformats.org/drawingml/2006/main">
              <a:ext uri="{FF2B5EF4-FFF2-40B4-BE49-F238E27FC236}">
                <a16:creationId xmlns:a16="http://schemas.microsoft.com/office/drawing/2014/main" id="{FD98087A-E5E0-444B-B554-9D378B460A2D}"/>
              </a:ext>
            </a:extLst>
          </p:cNvPr>
          <p:cNvSpPr>
            <a:spLocks xmlns:a="http://schemas.openxmlformats.org/drawingml/2006/main" noGrp="1"/>
          </p:cNvSpPr>
          <p:nvPr/>
        </p:nvSpPr>
        <p:spPr>
          <a:xfrm xmlns:a="http://schemas.openxmlformats.org/drawingml/2006/main">
            <a:off x="666750" y="1619250"/>
            <a:ext cx="57150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Microsoft YaHei"/>
                <a:ea typeface="Microsoft YaHei"/>
                <a:cs typeface="Microsoft YaHei"/>
              </a:defRPr>
            </a:pPr>
            <a:r>
              <a:rPr sz="3150" b="1">
                <a:solidFill>
                  <a:srgbClr val="FFFFFF"/>
                </a:solidFill>
                <a:latin typeface="Microsoft YaHei"/>
                <a:ea typeface="Microsoft YaHei"/>
                <a:cs typeface="Microsoft YaHei"/>
              </a:rPr>
              <a:t>网络数据销毁技术：密钥销毁 / 时间过期自销毁</a:t>
            </a:r>
          </a:p>
        </p:txBody>
      </p:sp>
      <p:sp>
        <p:nvSpPr>
          <p:cNvPr id="4" name="">
            <a:extLst xmlns:a="http://schemas.openxmlformats.org/drawingml/2006/main">
              <a:ext uri="{FF2B5EF4-FFF2-40B4-BE49-F238E27FC236}">
                <a16:creationId xmlns:a16="http://schemas.microsoft.com/office/drawing/2014/main" id="{AD2A68B4-48DB-4F2D-A99D-12B9C74C75B3}"/>
              </a:ext>
            </a:extLst>
          </p:cNvPr>
          <p:cNvSpPr>
            <a:spLocks xmlns:a="http://schemas.openxmlformats.org/drawingml/2006/main" noGrp="1"/>
          </p:cNvSpPr>
          <p:nvPr/>
        </p:nvSpPr>
        <p:spPr>
          <a:xfrm xmlns:a="http://schemas.openxmlformats.org/drawingml/2006/main">
            <a:off x="666750" y="491490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CE7FF"/>
                </a:solidFill>
                <a:latin typeface="Microsoft YaHei"/>
                <a:ea typeface="Microsoft YaHei"/>
                <a:cs typeface="Microsoft YaHei"/>
              </a:defRPr>
            </a:pPr>
            <a:r>
              <a:rPr sz="1800" b="0">
                <a:solidFill>
                  <a:srgbClr val="DCE7FF"/>
                </a:solidFill>
                <a:latin typeface="Microsoft YaHei"/>
                <a:ea typeface="Microsoft YaHei"/>
                <a:cs typeface="Microsoft YaHei"/>
              </a:rPr>
              <a:t>数据安全技术基础</a:t>
            </a:r>
          </a:p>
        </p:txBody>
      </p:sp>
      <p:sp>
        <p:nvSpPr>
          <p:cNvPr id="5" name="">
            <a:extLst xmlns:a="http://schemas.openxmlformats.org/drawingml/2006/main">
              <a:ext uri="{FF2B5EF4-FFF2-40B4-BE49-F238E27FC236}">
                <a16:creationId xmlns:a16="http://schemas.microsoft.com/office/drawing/2014/main" id="{2C4F4EE6-97E5-429B-8760-A63AB983B7D3}"/>
              </a:ext>
            </a:extLst>
          </p:cNvPr>
          <p:cNvSpPr>
            <a:spLocks xmlns:a="http://schemas.openxmlformats.org/drawingml/2006/main" noGrp="1"/>
          </p:cNvSpPr>
          <p:nvPr/>
        </p:nvSpPr>
        <p:spPr>
          <a:xfrm xmlns:a="http://schemas.openxmlformats.org/drawingml/2006/main">
            <a:off x="666750" y="5581650"/>
            <a:ext cx="409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DCE7FF"/>
                </a:solidFill>
                <a:latin typeface="Microsoft YaHei"/>
                <a:ea typeface="Microsoft YaHei"/>
                <a:cs typeface="Microsoft YaHei"/>
              </a:defRPr>
            </a:pPr>
            <a:r>
              <a:rPr sz="1200" b="0">
                <a:solidFill>
                  <a:srgbClr val="DCE7FF"/>
                </a:solidFill>
                <a:latin typeface="Microsoft YaHei"/>
                <a:ea typeface="Microsoft YaHei"/>
                <a:cs typeface="Microsoft YaHei"/>
              </a:rPr>
              <a:t>跃科网络空间安全实训平台</a:t>
            </a:r>
          </a:p>
        </p:txBody>
      </p:sp>
    </p:spTree>
    <p:extLst>
      <p:ext uri="{BB962C8B-B14F-4D97-AF65-F5344CB8AC3E}">
        <p14:creationId xmlns:p14="http://schemas.microsoft.com/office/powerpoint/2010/main" val="1606739103"/>
      </p:ext>
    </p:extLst>
  </p:cSld>
</p:sld>
</file>

<file path=ppt/slides/slide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2419549-0D5D-4507-9116-C8B74BAE244C}"/>
              </a:ext>
            </a:extLst>
          </p:cNvPr>
          <p:cNvSpPr>
            <a:spLocks xmlns:a="http://schemas.openxmlformats.org/drawingml/2006/main" noGrp="1"/>
          </p:cNvSpPr>
          <p:nvPr/>
        </p:nvSpPr>
        <p:spPr>
          <a:xfrm xmlns:a="http://schemas.openxmlformats.org/drawingml/2006/main">
            <a:off x="609600" y="438150"/>
            <a:ext cx="876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2033"/>
                </a:solidFill>
                <a:latin typeface="Microsoft YaHei"/>
                <a:ea typeface="Microsoft YaHei"/>
                <a:cs typeface="Microsoft YaHei"/>
              </a:defRPr>
            </a:pPr>
            <a:r>
              <a:rPr sz="2550" b="1">
                <a:solidFill>
                  <a:srgbClr val="172033"/>
                </a:solidFill>
                <a:latin typeface="Microsoft YaHei"/>
                <a:ea typeface="Microsoft YaHei"/>
                <a:cs typeface="Microsoft YaHei"/>
              </a:rPr>
              <a:t>本课目标与知识结构</a:t>
            </a:r>
          </a:p>
        </p:txBody>
      </p:sp>
      <p:sp>
        <p:nvSpPr>
          <p:cNvPr id="2" name="">
            <a:extLst xmlns:a="http://schemas.openxmlformats.org/drawingml/2006/main">
              <a:ext uri="{FF2B5EF4-FFF2-40B4-BE49-F238E27FC236}">
                <a16:creationId xmlns:a16="http://schemas.microsoft.com/office/drawing/2014/main" id="{0EBAE986-B122-416C-B0DD-FE3D47BAF41B}"/>
              </a:ext>
            </a:extLst>
          </p:cNvPr>
          <p:cNvSpPr>
            <a:spLocks xmlns:a="http://schemas.openxmlformats.org/drawingml/2006/main" noGrp="1"/>
          </p:cNvSpPr>
          <p:nvPr/>
        </p:nvSpPr>
        <p:spPr>
          <a:xfrm xmlns:a="http://schemas.openxmlformats.org/drawingml/2006/main">
            <a:off x="9906000" y="361950"/>
            <a:ext cx="167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457F5"/>
                </a:solidFill>
                <a:latin typeface="Microsoft YaHei"/>
                <a:ea typeface="Microsoft YaHei"/>
                <a:cs typeface="Microsoft YaHei"/>
              </a:defRPr>
            </a:pPr>
            <a:r>
              <a:rPr sz="3150" b="1">
                <a:solidFill>
                  <a:srgbClr val="2457F5"/>
                </a:solidFill>
                <a:latin typeface="Microsoft YaHei"/>
                <a:ea typeface="Microsoft YaHei"/>
                <a:cs typeface="Microsoft YaHei"/>
              </a:rPr>
              <a:t>6.4</a:t>
            </a:r>
          </a:p>
        </p:txBody>
      </p:sp>
      <p:sp>
        <p:nvSpPr>
          <p:cNvPr id="3" name="">
            <a:extLst xmlns:a="http://schemas.openxmlformats.org/drawingml/2006/main">
              <a:ext uri="{FF2B5EF4-FFF2-40B4-BE49-F238E27FC236}">
                <a16:creationId xmlns:a16="http://schemas.microsoft.com/office/drawing/2014/main" id="{415FA348-FACE-439B-8F99-273586574460}"/>
              </a:ext>
            </a:extLst>
          </p:cNvPr>
          <p:cNvSpPr>
            <a:spLocks xmlns:a="http://schemas.openxmlformats.org/drawingml/2006/main" noGrp="1"/>
          </p:cNvSpPr>
          <p:nvPr/>
        </p:nvSpPr>
        <p:spPr>
          <a:xfrm xmlns:a="http://schemas.openxmlformats.org/drawingml/2006/main">
            <a:off x="685800" y="142875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846CD"/>
                </a:solidFill>
                <a:latin typeface="Microsoft YaHei"/>
                <a:ea typeface="Microsoft YaHei"/>
                <a:cs typeface="Microsoft YaHei"/>
              </a:defRPr>
            </a:pPr>
            <a:r>
              <a:rPr sz="1500" b="1">
                <a:solidFill>
                  <a:srgbClr val="1846CD"/>
                </a:solidFill>
                <a:latin typeface="Microsoft YaHei"/>
                <a:ea typeface="Microsoft YaHei"/>
                <a:cs typeface="Microsoft YaHei"/>
              </a:rPr>
              <a:t>学习目标</a:t>
            </a:r>
          </a:p>
        </p:txBody>
      </p:sp>
      <p:sp>
        <p:nvSpPr>
          <p:cNvPr id="4" name="">
            <a:extLst xmlns:a="http://schemas.openxmlformats.org/drawingml/2006/main">
              <a:ext uri="{FF2B5EF4-FFF2-40B4-BE49-F238E27FC236}">
                <a16:creationId xmlns:a16="http://schemas.microsoft.com/office/drawing/2014/main" id="{D62F9773-CE77-418A-8E3B-0C6966BAC7BC}"/>
              </a:ext>
            </a:extLst>
          </p:cNvPr>
          <p:cNvSpPr>
            <a:spLocks xmlns:a="http://schemas.openxmlformats.org/drawingml/2006/main" noGrp="1"/>
          </p:cNvSpPr>
          <p:nvPr/>
        </p:nvSpPr>
        <p:spPr>
          <a:xfrm xmlns:a="http://schemas.openxmlformats.org/drawingml/2006/main">
            <a:off x="685800" y="2000250"/>
            <a:ext cx="47625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2033"/>
                </a:solidFill>
                <a:latin typeface="Microsoft YaHei"/>
                <a:ea typeface="Microsoft YaHei"/>
                <a:cs typeface="Microsoft YaHei"/>
              </a:defRPr>
            </a:pPr>
            <a:r>
              <a:rPr sz="1800" b="0">
                <a:solidFill>
                  <a:srgbClr val="172033"/>
                </a:solidFill>
                <a:latin typeface="Microsoft YaHei"/>
                <a:ea typeface="Microsoft YaHei"/>
                <a:cs typeface="Microsoft YaHei"/>
              </a:rPr>
              <a:t>01  能够说明密码学销毁依赖强加密覆盖、唯一密钥和彻底密钥处置。</a:t>
            </a:r>
          </a:p>
          <a:p xmlns:a="http://schemas.openxmlformats.org/drawingml/2006/main">
            <a:r>
              <a:t/>
            </a:r>
          </a:p>
          <a:p xmlns:a="http://schemas.openxmlformats.org/drawingml/2006/main">
            <a:pPr>
              <a:defRPr sz="1800" b="0">
                <a:solidFill>
                  <a:srgbClr val="172033"/>
                </a:solidFill>
                <a:latin typeface="Microsoft YaHei"/>
                <a:ea typeface="Microsoft YaHei"/>
                <a:cs typeface="Microsoft YaHei"/>
              </a:defRPr>
            </a:pPr>
            <a:r>
              <a:rPr sz="1800" b="0">
                <a:solidFill>
                  <a:srgbClr val="172033"/>
                </a:solidFill>
                <a:latin typeface="Microsoft YaHei"/>
                <a:ea typeface="Microsoft YaHei"/>
                <a:cs typeface="Microsoft YaHei"/>
              </a:rPr>
              <a:t>02  能够识别时间过期自销毁对可信时间、强制执行点和离线副本控制的依赖。</a:t>
            </a:r>
          </a:p>
        </p:txBody>
      </p:sp>
      <p:sp>
        <p:nvSpPr>
          <p:cNvPr id="5" name="">
            <a:extLst xmlns:a="http://schemas.openxmlformats.org/drawingml/2006/main">
              <a:ext uri="{FF2B5EF4-FFF2-40B4-BE49-F238E27FC236}">
                <a16:creationId xmlns:a16="http://schemas.microsoft.com/office/drawing/2014/main" id="{CF6B8616-024D-4268-93F0-05B9AF7A2EB2}"/>
              </a:ext>
            </a:extLst>
          </p:cNvPr>
          <p:cNvSpPr>
            <a:spLocks xmlns:a="http://schemas.openxmlformats.org/drawingml/2006/main" noGrp="1"/>
          </p:cNvSpPr>
          <p:nvPr/>
        </p:nvSpPr>
        <p:spPr>
          <a:xfrm xmlns:a="http://schemas.openxmlformats.org/drawingml/2006/main">
            <a:off x="6191250" y="142875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846CD"/>
                </a:solidFill>
                <a:latin typeface="Microsoft YaHei"/>
                <a:ea typeface="Microsoft YaHei"/>
                <a:cs typeface="Microsoft YaHei"/>
              </a:defRPr>
            </a:pPr>
            <a:r>
              <a:rPr sz="1500" b="1">
                <a:solidFill>
                  <a:srgbClr val="1846CD"/>
                </a:solidFill>
                <a:latin typeface="Microsoft YaHei"/>
                <a:ea typeface="Microsoft YaHei"/>
                <a:cs typeface="Microsoft YaHei"/>
              </a:rPr>
              <a:t>知识结构</a:t>
            </a:r>
          </a:p>
        </p:txBody>
      </p:sp>
      <p:sp>
        <p:nvSpPr>
          <p:cNvPr id="6" name="">
            <a:extLst xmlns:a="http://schemas.openxmlformats.org/drawingml/2006/main">
              <a:ext uri="{FF2B5EF4-FFF2-40B4-BE49-F238E27FC236}">
                <a16:creationId xmlns:a16="http://schemas.microsoft.com/office/drawing/2014/main" id="{72BEDF5F-47A7-476B-B94F-CFE64365F6D4}"/>
              </a:ext>
            </a:extLst>
          </p:cNvPr>
          <p:cNvSpPr>
            <a:spLocks xmlns:a="http://schemas.openxmlformats.org/drawingml/2006/main" noGrp="1"/>
          </p:cNvSpPr>
          <p:nvPr/>
        </p:nvSpPr>
        <p:spPr>
          <a:xfrm xmlns:a="http://schemas.openxmlformats.org/drawingml/2006/main">
            <a:off x="6191250" y="2000250"/>
            <a:ext cx="514350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2033"/>
                </a:solidFill>
                <a:latin typeface="Microsoft YaHei"/>
                <a:ea typeface="Microsoft YaHei"/>
                <a:cs typeface="Microsoft YaHei"/>
              </a:defRPr>
            </a:pPr>
            <a:r>
              <a:rPr sz="1650" b="0">
                <a:solidFill>
                  <a:srgbClr val="172033"/>
                </a:solidFill>
                <a:latin typeface="Microsoft YaHei"/>
                <a:ea typeface="Microsoft YaHei"/>
                <a:cs typeface="Microsoft YaHei"/>
              </a:rPr>
              <a:t>01  密码学销毁</a:t>
            </a:r>
          </a:p>
          <a:p xmlns:a="http://schemas.openxmlformats.org/drawingml/2006/main">
            <a:r>
              <a:t/>
            </a:r>
          </a:p>
          <a:p xmlns:a="http://schemas.openxmlformats.org/drawingml/2006/main">
            <a:pPr>
              <a:defRPr sz="1650" b="0">
                <a:solidFill>
                  <a:srgbClr val="172033"/>
                </a:solidFill>
                <a:latin typeface="Microsoft YaHei"/>
                <a:ea typeface="Microsoft YaHei"/>
                <a:cs typeface="Microsoft YaHei"/>
              </a:defRPr>
            </a:pPr>
            <a:r>
              <a:rPr sz="1650" b="0">
                <a:solidFill>
                  <a:srgbClr val="172033"/>
                </a:solidFill>
                <a:latin typeface="Microsoft YaHei"/>
                <a:ea typeface="Microsoft YaHei"/>
                <a:cs typeface="Microsoft YaHei"/>
              </a:rPr>
              <a:t>02  密钥副本与备份</a:t>
            </a:r>
          </a:p>
          <a:p xmlns:a="http://schemas.openxmlformats.org/drawingml/2006/main">
            <a:r>
              <a:t/>
            </a:r>
          </a:p>
          <a:p xmlns:a="http://schemas.openxmlformats.org/drawingml/2006/main">
            <a:pPr>
              <a:defRPr sz="1650" b="0">
                <a:solidFill>
                  <a:srgbClr val="172033"/>
                </a:solidFill>
                <a:latin typeface="Microsoft YaHei"/>
                <a:ea typeface="Microsoft YaHei"/>
                <a:cs typeface="Microsoft YaHei"/>
              </a:defRPr>
            </a:pPr>
            <a:r>
              <a:rPr sz="1650" b="0">
                <a:solidFill>
                  <a:srgbClr val="172033"/>
                </a:solidFill>
                <a:latin typeface="Microsoft YaHei"/>
                <a:ea typeface="Microsoft YaHei"/>
                <a:cs typeface="Microsoft YaHei"/>
              </a:rPr>
              <a:t>03  可信时间</a:t>
            </a:r>
          </a:p>
          <a:p xmlns:a="http://schemas.openxmlformats.org/drawingml/2006/main">
            <a:r>
              <a:t/>
            </a:r>
          </a:p>
          <a:p xmlns:a="http://schemas.openxmlformats.org/drawingml/2006/main">
            <a:pPr>
              <a:defRPr sz="1650" b="0">
                <a:solidFill>
                  <a:srgbClr val="172033"/>
                </a:solidFill>
                <a:latin typeface="Microsoft YaHei"/>
                <a:ea typeface="Microsoft YaHei"/>
                <a:cs typeface="Microsoft YaHei"/>
              </a:defRPr>
            </a:pPr>
            <a:r>
              <a:rPr sz="1650" b="0">
                <a:solidFill>
                  <a:srgbClr val="172033"/>
                </a:solidFill>
                <a:latin typeface="Microsoft YaHei"/>
                <a:ea typeface="Microsoft YaHei"/>
                <a:cs typeface="Microsoft YaHei"/>
              </a:rPr>
              <a:t>04  策略绕过与离线副本</a:t>
            </a:r>
          </a:p>
        </p:txBody>
      </p:sp>
      <p:sp>
        <p:nvSpPr>
          <p:cNvPr id="7" name="">
            <a:extLst xmlns:a="http://schemas.openxmlformats.org/drawingml/2006/main">
              <a:ext uri="{FF2B5EF4-FFF2-40B4-BE49-F238E27FC236}">
                <a16:creationId xmlns:a16="http://schemas.microsoft.com/office/drawing/2014/main" id="{58A1B247-11DC-4B49-993C-72AE069E3AF2}"/>
              </a:ext>
            </a:extLst>
          </p:cNvPr>
          <p:cNvSpPr>
            <a:spLocks xmlns:a="http://schemas.openxmlformats.org/drawingml/2006/main" noGrp="1"/>
          </p:cNvSpPr>
          <p:nvPr/>
        </p:nvSpPr>
        <p:spPr>
          <a:xfrm xmlns:a="http://schemas.openxmlformats.org/drawingml/2006/main">
            <a:off x="609600" y="64198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6.4  数据安全技术基础</a:t>
            </a:r>
          </a:p>
        </p:txBody>
      </p:sp>
      <p:sp>
        <p:nvSpPr>
          <p:cNvPr id="8" name="">
            <a:extLst xmlns:a="http://schemas.openxmlformats.org/drawingml/2006/main">
              <a:ext uri="{FF2B5EF4-FFF2-40B4-BE49-F238E27FC236}">
                <a16:creationId xmlns:a16="http://schemas.microsoft.com/office/drawing/2014/main" id="{70286DDB-0C7B-4496-84DB-4EA0D5D61C5C}"/>
              </a:ext>
            </a:extLst>
          </p:cNvPr>
          <p:cNvSpPr>
            <a:spLocks xmlns:a="http://schemas.openxmlformats.org/drawingml/2006/main" noGrp="1"/>
          </p:cNvSpPr>
          <p:nvPr/>
        </p:nvSpPr>
        <p:spPr>
          <a:xfrm xmlns:a="http://schemas.openxmlformats.org/drawingml/2006/main">
            <a:off x="7239000" y="6419850"/>
            <a:ext cx="434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02  来源与版权信息见演讲者备注</a:t>
            </a:r>
          </a:p>
        </p:txBody>
      </p:sp>
    </p:spTree>
    <p:extLst>
      <p:ext uri="{BB962C8B-B14F-4D97-AF65-F5344CB8AC3E}">
        <p14:creationId xmlns:p14="http://schemas.microsoft.com/office/powerpoint/2010/main" val="65061972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9DF602F-C93E-4C37-9468-14CA641F4734}"/>
              </a:ext>
            </a:extLst>
          </p:cNvPr>
          <p:cNvSpPr>
            <a:spLocks xmlns:a="http://schemas.openxmlformats.org/drawingml/2006/main" noGrp="1"/>
          </p:cNvSpPr>
          <p:nvPr/>
        </p:nvSpPr>
        <p:spPr>
          <a:xfrm xmlns:a="http://schemas.openxmlformats.org/drawingml/2006/main">
            <a:off x="628650" y="43815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457F5"/>
                </a:solidFill>
                <a:latin typeface="Microsoft YaHei"/>
                <a:ea typeface="Microsoft YaHei"/>
                <a:cs typeface="Microsoft YaHei"/>
              </a:defRPr>
            </a:pPr>
            <a:r>
              <a:rPr sz="1275" b="1">
                <a:solidFill>
                  <a:srgbClr val="2457F5"/>
                </a:solidFill>
                <a:latin typeface="Microsoft YaHei"/>
                <a:ea typeface="Microsoft YaHei"/>
                <a:cs typeface="Microsoft YaHei"/>
              </a:rPr>
              <a:t>01  核心概念</a:t>
            </a:r>
          </a:p>
        </p:txBody>
      </p:sp>
      <p:sp>
        <p:nvSpPr>
          <p:cNvPr id="2" name="">
            <a:extLst xmlns:a="http://schemas.openxmlformats.org/drawingml/2006/main">
              <a:ext uri="{FF2B5EF4-FFF2-40B4-BE49-F238E27FC236}">
                <a16:creationId xmlns:a16="http://schemas.microsoft.com/office/drawing/2014/main" id="{3BBB812B-3814-45BA-829F-ECD3A024C66A}"/>
              </a:ext>
            </a:extLst>
          </p:cNvPr>
          <p:cNvSpPr>
            <a:spLocks xmlns:a="http://schemas.openxmlformats.org/drawingml/2006/main" noGrp="1"/>
          </p:cNvSpPr>
          <p:nvPr/>
        </p:nvSpPr>
        <p:spPr>
          <a:xfrm xmlns:a="http://schemas.openxmlformats.org/drawingml/2006/main">
            <a:off x="628650" y="1009650"/>
            <a:ext cx="9810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2033"/>
                </a:solidFill>
                <a:latin typeface="Microsoft YaHei"/>
                <a:ea typeface="Microsoft YaHei"/>
                <a:cs typeface="Microsoft YaHei"/>
              </a:defRPr>
            </a:pPr>
            <a:r>
              <a:rPr sz="2700" b="1">
                <a:solidFill>
                  <a:srgbClr val="172033"/>
                </a:solidFill>
                <a:latin typeface="Microsoft YaHei"/>
                <a:ea typeface="Microsoft YaHei"/>
                <a:cs typeface="Microsoft YaHei"/>
              </a:rPr>
              <a:t>密码学销毁</a:t>
            </a:r>
          </a:p>
        </p:txBody>
      </p:sp>
      <p:sp>
        <p:nvSpPr>
          <p:cNvPr id="3" name="">
            <a:extLst xmlns:a="http://schemas.openxmlformats.org/drawingml/2006/main">
              <a:ext uri="{FF2B5EF4-FFF2-40B4-BE49-F238E27FC236}">
                <a16:creationId xmlns:a16="http://schemas.microsoft.com/office/drawing/2014/main" id="{B2860959-229F-4802-9B28-D36D9C5ADD82}"/>
              </a:ext>
            </a:extLst>
          </p:cNvPr>
          <p:cNvSpPr>
            <a:spLocks xmlns:a="http://schemas.openxmlformats.org/drawingml/2006/main" noGrp="1"/>
          </p:cNvSpPr>
          <p:nvPr/>
        </p:nvSpPr>
        <p:spPr>
          <a:xfrm xmlns:a="http://schemas.openxmlformats.org/drawingml/2006/main">
            <a:off x="628650" y="2114550"/>
            <a:ext cx="10858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033"/>
                </a:solidFill>
                <a:latin typeface="Microsoft YaHei"/>
                <a:ea typeface="Microsoft YaHei"/>
                <a:cs typeface="Microsoft YaHei"/>
              </a:defRPr>
            </a:pPr>
            <a:r>
              <a:rPr sz="1875" b="0">
                <a:solidFill>
                  <a:srgbClr val="172033"/>
                </a:solidFill>
                <a:latin typeface="Microsoft YaHei"/>
                <a:ea typeface="Microsoft YaHei"/>
                <a:cs typeface="Microsoft YaHei"/>
              </a:rPr>
              <a:t>密码学销毁通过不可恢复地删除唯一解密密钥，使仍在介质上的密文失去可用性。它成立的前提是数据已用强算法完整加密，且不存在可用的明文或其他密钥副本。</a:t>
            </a:r>
          </a:p>
        </p:txBody>
      </p:sp>
      <p:sp>
        <p:nvSpPr>
          <p:cNvPr id="4" name="">
            <a:extLst xmlns:a="http://schemas.openxmlformats.org/drawingml/2006/main">
              <a:ext uri="{FF2B5EF4-FFF2-40B4-BE49-F238E27FC236}">
                <a16:creationId xmlns:a16="http://schemas.microsoft.com/office/drawing/2014/main" id="{51EDDCBB-8747-45DA-BEEE-6B642D19DDD2}"/>
              </a:ext>
            </a:extLst>
          </p:cNvPr>
          <p:cNvSpPr>
            <a:spLocks xmlns:a="http://schemas.openxmlformats.org/drawingml/2006/main" noGrp="1"/>
          </p:cNvSpPr>
          <p:nvPr/>
        </p:nvSpPr>
        <p:spPr>
          <a:xfrm xmlns:a="http://schemas.openxmlformats.org/drawingml/2006/main">
            <a:off x="800100" y="3714750"/>
            <a:ext cx="10382250"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01  每批数据使用可独立销毁的密钥</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02  确认密钥没有被导出或硬编码</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03  销毁后尝试解密验证不可用</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04  算法或密钥过弱会削弱销毁结论</a:t>
            </a:r>
          </a:p>
        </p:txBody>
      </p:sp>
      <p:sp>
        <p:nvSpPr>
          <p:cNvPr id="5" name="">
            <a:extLst xmlns:a="http://schemas.openxmlformats.org/drawingml/2006/main">
              <a:ext uri="{FF2B5EF4-FFF2-40B4-BE49-F238E27FC236}">
                <a16:creationId xmlns:a16="http://schemas.microsoft.com/office/drawing/2014/main" id="{B66E54A0-BF28-4CE4-963A-0E7831437C7E}"/>
              </a:ext>
            </a:extLst>
          </p:cNvPr>
          <p:cNvSpPr>
            <a:spLocks xmlns:a="http://schemas.openxmlformats.org/drawingml/2006/main" noGrp="1"/>
          </p:cNvSpPr>
          <p:nvPr/>
        </p:nvSpPr>
        <p:spPr>
          <a:xfrm xmlns:a="http://schemas.openxmlformats.org/drawingml/2006/main">
            <a:off x="609600" y="64198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6.4  数据安全技术基础</a:t>
            </a:r>
          </a:p>
        </p:txBody>
      </p:sp>
      <p:sp>
        <p:nvSpPr>
          <p:cNvPr id="6" name="">
            <a:extLst xmlns:a="http://schemas.openxmlformats.org/drawingml/2006/main">
              <a:ext uri="{FF2B5EF4-FFF2-40B4-BE49-F238E27FC236}">
                <a16:creationId xmlns:a16="http://schemas.microsoft.com/office/drawing/2014/main" id="{28CFF2DC-F8C0-490A-93AD-7D4F9685CA80}"/>
              </a:ext>
            </a:extLst>
          </p:cNvPr>
          <p:cNvSpPr>
            <a:spLocks xmlns:a="http://schemas.openxmlformats.org/drawingml/2006/main" noGrp="1"/>
          </p:cNvSpPr>
          <p:nvPr/>
        </p:nvSpPr>
        <p:spPr>
          <a:xfrm xmlns:a="http://schemas.openxmlformats.org/drawingml/2006/main">
            <a:off x="7239000" y="6419850"/>
            <a:ext cx="434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03  来源与版权信息见演讲者备注</a:t>
            </a:r>
          </a:p>
        </p:txBody>
      </p:sp>
    </p:spTree>
    <p:extLst>
      <p:ext uri="{BB962C8B-B14F-4D97-AF65-F5344CB8AC3E}">
        <p14:creationId xmlns:p14="http://schemas.microsoft.com/office/powerpoint/2010/main" val="2062637830"/>
      </p:ext>
    </p:extLst>
  </p:cSld>
</p:sld>
</file>

<file path=ppt/slides/slide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593D0B2-3D44-479F-8525-C824997E42B5}"/>
              </a:ext>
            </a:extLst>
          </p:cNvPr>
          <p:cNvSpPr>
            <a:spLocks xmlns:a="http://schemas.openxmlformats.org/drawingml/2006/main" noGrp="1"/>
          </p:cNvSpPr>
          <p:nvPr/>
        </p:nvSpPr>
        <p:spPr>
          <a:xfrm xmlns:a="http://schemas.openxmlformats.org/drawingml/2006/main">
            <a:off x="628650" y="43815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457F5"/>
                </a:solidFill>
                <a:latin typeface="Microsoft YaHei"/>
                <a:ea typeface="Microsoft YaHei"/>
                <a:cs typeface="Microsoft YaHei"/>
              </a:defRPr>
            </a:pPr>
            <a:r>
              <a:rPr sz="1275" b="1">
                <a:solidFill>
                  <a:srgbClr val="2457F5"/>
                </a:solidFill>
                <a:latin typeface="Microsoft YaHei"/>
                <a:ea typeface="Microsoft YaHei"/>
                <a:cs typeface="Microsoft YaHei"/>
              </a:rPr>
              <a:t>02  核心概念</a:t>
            </a:r>
          </a:p>
        </p:txBody>
      </p:sp>
      <p:sp>
        <p:nvSpPr>
          <p:cNvPr id="2" name="">
            <a:extLst xmlns:a="http://schemas.openxmlformats.org/drawingml/2006/main">
              <a:ext uri="{FF2B5EF4-FFF2-40B4-BE49-F238E27FC236}">
                <a16:creationId xmlns:a16="http://schemas.microsoft.com/office/drawing/2014/main" id="{3EC74C19-7BF9-4E54-A17F-5E8626BE9FAA}"/>
              </a:ext>
            </a:extLst>
          </p:cNvPr>
          <p:cNvSpPr>
            <a:spLocks xmlns:a="http://schemas.openxmlformats.org/drawingml/2006/main" noGrp="1"/>
          </p:cNvSpPr>
          <p:nvPr/>
        </p:nvSpPr>
        <p:spPr>
          <a:xfrm xmlns:a="http://schemas.openxmlformats.org/drawingml/2006/main">
            <a:off x="628650" y="1009650"/>
            <a:ext cx="9810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2033"/>
                </a:solidFill>
                <a:latin typeface="Microsoft YaHei"/>
                <a:ea typeface="Microsoft YaHei"/>
                <a:cs typeface="Microsoft YaHei"/>
              </a:defRPr>
            </a:pPr>
            <a:r>
              <a:rPr sz="2700" b="1">
                <a:solidFill>
                  <a:srgbClr val="172033"/>
                </a:solidFill>
                <a:latin typeface="Microsoft YaHei"/>
                <a:ea typeface="Microsoft YaHei"/>
                <a:cs typeface="Microsoft YaHei"/>
              </a:rPr>
              <a:t>密钥副本与备份</a:t>
            </a:r>
          </a:p>
        </p:txBody>
      </p:sp>
      <p:sp>
        <p:nvSpPr>
          <p:cNvPr id="3" name="">
            <a:extLst xmlns:a="http://schemas.openxmlformats.org/drawingml/2006/main">
              <a:ext uri="{FF2B5EF4-FFF2-40B4-BE49-F238E27FC236}">
                <a16:creationId xmlns:a16="http://schemas.microsoft.com/office/drawing/2014/main" id="{103BB0B2-9800-4AC0-8237-C302B60E6EF4}"/>
              </a:ext>
            </a:extLst>
          </p:cNvPr>
          <p:cNvSpPr>
            <a:spLocks xmlns:a="http://schemas.openxmlformats.org/drawingml/2006/main" noGrp="1"/>
          </p:cNvSpPr>
          <p:nvPr/>
        </p:nvSpPr>
        <p:spPr>
          <a:xfrm xmlns:a="http://schemas.openxmlformats.org/drawingml/2006/main">
            <a:off x="628650" y="2114550"/>
            <a:ext cx="10858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033"/>
                </a:solidFill>
                <a:latin typeface="Microsoft YaHei"/>
                <a:ea typeface="Microsoft YaHei"/>
                <a:cs typeface="Microsoft YaHei"/>
              </a:defRPr>
            </a:pPr>
            <a:r>
              <a:rPr sz="1875" b="0">
                <a:solidFill>
                  <a:srgbClr val="172033"/>
                </a:solidFill>
                <a:latin typeface="Microsoft YaHei"/>
                <a:ea typeface="Microsoft YaHei"/>
                <a:cs typeface="Microsoft YaHei"/>
              </a:rPr>
              <a:t>密钥可能存在于密钥管理系统、硬件模块、缓存、日志、灾备和离线备份中。只删除主系统中的一份记录无法完成销毁，必须沿整个密钥复制链逐项处置。</a:t>
            </a:r>
          </a:p>
        </p:txBody>
      </p:sp>
      <p:sp>
        <p:nvSpPr>
          <p:cNvPr id="4" name="">
            <a:extLst xmlns:a="http://schemas.openxmlformats.org/drawingml/2006/main">
              <a:ext uri="{FF2B5EF4-FFF2-40B4-BE49-F238E27FC236}">
                <a16:creationId xmlns:a16="http://schemas.microsoft.com/office/drawing/2014/main" id="{B2FAC78A-2498-4D1C-931F-DAAD342F43C9}"/>
              </a:ext>
            </a:extLst>
          </p:cNvPr>
          <p:cNvSpPr>
            <a:spLocks xmlns:a="http://schemas.openxmlformats.org/drawingml/2006/main" noGrp="1"/>
          </p:cNvSpPr>
          <p:nvPr/>
        </p:nvSpPr>
        <p:spPr>
          <a:xfrm xmlns:a="http://schemas.openxmlformats.org/drawingml/2006/main">
            <a:off x="800100" y="3714750"/>
            <a:ext cx="10382250"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01  建立密钥位置和副本资产清单</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02  备份保留期与数据销毁策略协调</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03  清除运行内存和应用缓存</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04  第三方托管密钥要求可核验销毁证明</a:t>
            </a:r>
          </a:p>
        </p:txBody>
      </p:sp>
      <p:sp>
        <p:nvSpPr>
          <p:cNvPr id="5" name="">
            <a:extLst xmlns:a="http://schemas.openxmlformats.org/drawingml/2006/main">
              <a:ext uri="{FF2B5EF4-FFF2-40B4-BE49-F238E27FC236}">
                <a16:creationId xmlns:a16="http://schemas.microsoft.com/office/drawing/2014/main" id="{BEB9B643-47A7-4F7E-9A79-EBAB196DA345}"/>
              </a:ext>
            </a:extLst>
          </p:cNvPr>
          <p:cNvSpPr>
            <a:spLocks xmlns:a="http://schemas.openxmlformats.org/drawingml/2006/main" noGrp="1"/>
          </p:cNvSpPr>
          <p:nvPr/>
        </p:nvSpPr>
        <p:spPr>
          <a:xfrm xmlns:a="http://schemas.openxmlformats.org/drawingml/2006/main">
            <a:off x="609600" y="64198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6.4  数据安全技术基础</a:t>
            </a:r>
          </a:p>
        </p:txBody>
      </p:sp>
      <p:sp>
        <p:nvSpPr>
          <p:cNvPr id="6" name="">
            <a:extLst xmlns:a="http://schemas.openxmlformats.org/drawingml/2006/main">
              <a:ext uri="{FF2B5EF4-FFF2-40B4-BE49-F238E27FC236}">
                <a16:creationId xmlns:a16="http://schemas.microsoft.com/office/drawing/2014/main" id="{A56E1283-40DD-472A-AC56-7BFECF121449}"/>
              </a:ext>
            </a:extLst>
          </p:cNvPr>
          <p:cNvSpPr>
            <a:spLocks xmlns:a="http://schemas.openxmlformats.org/drawingml/2006/main" noGrp="1"/>
          </p:cNvSpPr>
          <p:nvPr/>
        </p:nvSpPr>
        <p:spPr>
          <a:xfrm xmlns:a="http://schemas.openxmlformats.org/drawingml/2006/main">
            <a:off x="7239000" y="6419850"/>
            <a:ext cx="434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04  来源与版权信息见演讲者备注</a:t>
            </a:r>
          </a:p>
        </p:txBody>
      </p:sp>
    </p:spTree>
    <p:extLst>
      <p:ext uri="{BB962C8B-B14F-4D97-AF65-F5344CB8AC3E}">
        <p14:creationId xmlns:p14="http://schemas.microsoft.com/office/powerpoint/2010/main" val="185931709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28B5447-01A6-4D8B-BA9F-4E224EFF5A15}"/>
              </a:ext>
            </a:extLst>
          </p:cNvPr>
          <p:cNvSpPr>
            <a:spLocks xmlns:a="http://schemas.openxmlformats.org/drawingml/2006/main" noGrp="1"/>
          </p:cNvSpPr>
          <p:nvPr/>
        </p:nvSpPr>
        <p:spPr>
          <a:xfrm xmlns:a="http://schemas.openxmlformats.org/drawingml/2006/main">
            <a:off x="628650" y="43815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457F5"/>
                </a:solidFill>
                <a:latin typeface="Microsoft YaHei"/>
                <a:ea typeface="Microsoft YaHei"/>
                <a:cs typeface="Microsoft YaHei"/>
              </a:defRPr>
            </a:pPr>
            <a:r>
              <a:rPr sz="1275" b="1">
                <a:solidFill>
                  <a:srgbClr val="2457F5"/>
                </a:solidFill>
                <a:latin typeface="Microsoft YaHei"/>
                <a:ea typeface="Microsoft YaHei"/>
                <a:cs typeface="Microsoft YaHei"/>
              </a:rPr>
              <a:t>03  核心概念</a:t>
            </a:r>
          </a:p>
        </p:txBody>
      </p:sp>
      <p:sp>
        <p:nvSpPr>
          <p:cNvPr id="2" name="">
            <a:extLst xmlns:a="http://schemas.openxmlformats.org/drawingml/2006/main">
              <a:ext uri="{FF2B5EF4-FFF2-40B4-BE49-F238E27FC236}">
                <a16:creationId xmlns:a16="http://schemas.microsoft.com/office/drawing/2014/main" id="{BDA2D095-D2F6-4DB6-BDFD-1BA78591FB28}"/>
              </a:ext>
            </a:extLst>
          </p:cNvPr>
          <p:cNvSpPr>
            <a:spLocks xmlns:a="http://schemas.openxmlformats.org/drawingml/2006/main" noGrp="1"/>
          </p:cNvSpPr>
          <p:nvPr/>
        </p:nvSpPr>
        <p:spPr>
          <a:xfrm xmlns:a="http://schemas.openxmlformats.org/drawingml/2006/main">
            <a:off x="628650" y="1009650"/>
            <a:ext cx="9810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2033"/>
                </a:solidFill>
                <a:latin typeface="Microsoft YaHei"/>
                <a:ea typeface="Microsoft YaHei"/>
                <a:cs typeface="Microsoft YaHei"/>
              </a:defRPr>
            </a:pPr>
            <a:r>
              <a:rPr sz="2700" b="1">
                <a:solidFill>
                  <a:srgbClr val="172033"/>
                </a:solidFill>
                <a:latin typeface="Microsoft YaHei"/>
                <a:ea typeface="Microsoft YaHei"/>
                <a:cs typeface="Microsoft YaHei"/>
              </a:rPr>
              <a:t>可信时间</a:t>
            </a:r>
          </a:p>
        </p:txBody>
      </p:sp>
      <p:sp>
        <p:nvSpPr>
          <p:cNvPr id="3" name="">
            <a:extLst xmlns:a="http://schemas.openxmlformats.org/drawingml/2006/main">
              <a:ext uri="{FF2B5EF4-FFF2-40B4-BE49-F238E27FC236}">
                <a16:creationId xmlns:a16="http://schemas.microsoft.com/office/drawing/2014/main" id="{DD991B94-9609-43B1-84FA-F23401F6D233}"/>
              </a:ext>
            </a:extLst>
          </p:cNvPr>
          <p:cNvSpPr>
            <a:spLocks xmlns:a="http://schemas.openxmlformats.org/drawingml/2006/main" noGrp="1"/>
          </p:cNvSpPr>
          <p:nvPr/>
        </p:nvSpPr>
        <p:spPr>
          <a:xfrm xmlns:a="http://schemas.openxmlformats.org/drawingml/2006/main">
            <a:off x="628650" y="2114550"/>
            <a:ext cx="10858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033"/>
                </a:solidFill>
                <a:latin typeface="Microsoft YaHei"/>
                <a:ea typeface="Microsoft YaHei"/>
                <a:cs typeface="Microsoft YaHei"/>
              </a:defRPr>
            </a:pPr>
            <a:r>
              <a:rPr sz="1875" b="0">
                <a:solidFill>
                  <a:srgbClr val="172033"/>
                </a:solidFill>
                <a:latin typeface="Microsoft YaHei"/>
                <a:ea typeface="Microsoft YaHei"/>
                <a:cs typeface="Microsoft YaHei"/>
              </a:rPr>
              <a:t>时间过期策略依赖不可被普通用户随意修改的可信时间源和可靠计时。离线设备、时钟回拨或时间服务失陷都可能让数据在到期后继续可用。</a:t>
            </a:r>
          </a:p>
        </p:txBody>
      </p:sp>
      <p:sp>
        <p:nvSpPr>
          <p:cNvPr id="4" name="">
            <a:extLst xmlns:a="http://schemas.openxmlformats.org/drawingml/2006/main">
              <a:ext uri="{FF2B5EF4-FFF2-40B4-BE49-F238E27FC236}">
                <a16:creationId xmlns:a16="http://schemas.microsoft.com/office/drawing/2014/main" id="{F5D8012E-98A6-48C8-9081-7DB1586B0EE6}"/>
              </a:ext>
            </a:extLst>
          </p:cNvPr>
          <p:cNvSpPr>
            <a:spLocks xmlns:a="http://schemas.openxmlformats.org/drawingml/2006/main" noGrp="1"/>
          </p:cNvSpPr>
          <p:nvPr/>
        </p:nvSpPr>
        <p:spPr>
          <a:xfrm xmlns:a="http://schemas.openxmlformats.org/drawingml/2006/main">
            <a:off x="800100" y="3714750"/>
            <a:ext cx="10382250"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01  设备定期与认证时间源同步</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02  检测大幅时钟漂移和回拨</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03  离线令牌设置不可延长的本地期限</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04  时间异常时采用安全失败策略</a:t>
            </a:r>
          </a:p>
        </p:txBody>
      </p:sp>
      <p:sp>
        <p:nvSpPr>
          <p:cNvPr id="5" name="">
            <a:extLst xmlns:a="http://schemas.openxmlformats.org/drawingml/2006/main">
              <a:ext uri="{FF2B5EF4-FFF2-40B4-BE49-F238E27FC236}">
                <a16:creationId xmlns:a16="http://schemas.microsoft.com/office/drawing/2014/main" id="{528F461A-450B-4F03-90F6-A5DFFFC8B198}"/>
              </a:ext>
            </a:extLst>
          </p:cNvPr>
          <p:cNvSpPr>
            <a:spLocks xmlns:a="http://schemas.openxmlformats.org/drawingml/2006/main" noGrp="1"/>
          </p:cNvSpPr>
          <p:nvPr/>
        </p:nvSpPr>
        <p:spPr>
          <a:xfrm xmlns:a="http://schemas.openxmlformats.org/drawingml/2006/main">
            <a:off x="609600" y="64198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6.4  数据安全技术基础</a:t>
            </a:r>
          </a:p>
        </p:txBody>
      </p:sp>
      <p:sp>
        <p:nvSpPr>
          <p:cNvPr id="6" name="">
            <a:extLst xmlns:a="http://schemas.openxmlformats.org/drawingml/2006/main">
              <a:ext uri="{FF2B5EF4-FFF2-40B4-BE49-F238E27FC236}">
                <a16:creationId xmlns:a16="http://schemas.microsoft.com/office/drawing/2014/main" id="{CE1F1ECD-F126-46C6-8679-6C6DAF56B017}"/>
              </a:ext>
            </a:extLst>
          </p:cNvPr>
          <p:cNvSpPr>
            <a:spLocks xmlns:a="http://schemas.openxmlformats.org/drawingml/2006/main" noGrp="1"/>
          </p:cNvSpPr>
          <p:nvPr/>
        </p:nvSpPr>
        <p:spPr>
          <a:xfrm xmlns:a="http://schemas.openxmlformats.org/drawingml/2006/main">
            <a:off x="7239000" y="6419850"/>
            <a:ext cx="434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05  来源与版权信息见演讲者备注</a:t>
            </a:r>
          </a:p>
        </p:txBody>
      </p:sp>
    </p:spTree>
    <p:extLst>
      <p:ext uri="{BB962C8B-B14F-4D97-AF65-F5344CB8AC3E}">
        <p14:creationId xmlns:p14="http://schemas.microsoft.com/office/powerpoint/2010/main" val="1523736733"/>
      </p:ext>
    </p:extLst>
  </p:cSld>
</p:sld>
</file>

<file path=ppt/slides/slide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1A18B63-D56F-4CCA-9241-7C414D8A8321}"/>
              </a:ext>
            </a:extLst>
          </p:cNvPr>
          <p:cNvSpPr>
            <a:spLocks xmlns:a="http://schemas.openxmlformats.org/drawingml/2006/main" noGrp="1"/>
          </p:cNvSpPr>
          <p:nvPr/>
        </p:nvSpPr>
        <p:spPr>
          <a:xfrm xmlns:a="http://schemas.openxmlformats.org/drawingml/2006/main">
            <a:off x="628650" y="43815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457F5"/>
                </a:solidFill>
                <a:latin typeface="Microsoft YaHei"/>
                <a:ea typeface="Microsoft YaHei"/>
                <a:cs typeface="Microsoft YaHei"/>
              </a:defRPr>
            </a:pPr>
            <a:r>
              <a:rPr sz="1275" b="1">
                <a:solidFill>
                  <a:srgbClr val="2457F5"/>
                </a:solidFill>
                <a:latin typeface="Microsoft YaHei"/>
                <a:ea typeface="Microsoft YaHei"/>
                <a:cs typeface="Microsoft YaHei"/>
              </a:rPr>
              <a:t>04  核心概念</a:t>
            </a:r>
          </a:p>
        </p:txBody>
      </p:sp>
      <p:sp>
        <p:nvSpPr>
          <p:cNvPr id="2" name="">
            <a:extLst xmlns:a="http://schemas.openxmlformats.org/drawingml/2006/main">
              <a:ext uri="{FF2B5EF4-FFF2-40B4-BE49-F238E27FC236}">
                <a16:creationId xmlns:a16="http://schemas.microsoft.com/office/drawing/2014/main" id="{68C2BCDD-A492-4A30-B2BA-4B18124CDCE1}"/>
              </a:ext>
            </a:extLst>
          </p:cNvPr>
          <p:cNvSpPr>
            <a:spLocks xmlns:a="http://schemas.openxmlformats.org/drawingml/2006/main" noGrp="1"/>
          </p:cNvSpPr>
          <p:nvPr/>
        </p:nvSpPr>
        <p:spPr>
          <a:xfrm xmlns:a="http://schemas.openxmlformats.org/drawingml/2006/main">
            <a:off x="628650" y="1009650"/>
            <a:ext cx="9810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2033"/>
                </a:solidFill>
                <a:latin typeface="Microsoft YaHei"/>
                <a:ea typeface="Microsoft YaHei"/>
                <a:cs typeface="Microsoft YaHei"/>
              </a:defRPr>
            </a:pPr>
            <a:r>
              <a:rPr sz="2700" b="1">
                <a:solidFill>
                  <a:srgbClr val="172033"/>
                </a:solidFill>
                <a:latin typeface="Microsoft YaHei"/>
                <a:ea typeface="Microsoft YaHei"/>
                <a:cs typeface="Microsoft YaHei"/>
              </a:rPr>
              <a:t>策略绕过与离线副本</a:t>
            </a:r>
          </a:p>
        </p:txBody>
      </p:sp>
      <p:sp>
        <p:nvSpPr>
          <p:cNvPr id="3" name="">
            <a:extLst xmlns:a="http://schemas.openxmlformats.org/drawingml/2006/main">
              <a:ext uri="{FF2B5EF4-FFF2-40B4-BE49-F238E27FC236}">
                <a16:creationId xmlns:a16="http://schemas.microsoft.com/office/drawing/2014/main" id="{4264EF39-8158-497C-A3EF-0BA16A64FDEE}"/>
              </a:ext>
            </a:extLst>
          </p:cNvPr>
          <p:cNvSpPr>
            <a:spLocks xmlns:a="http://schemas.openxmlformats.org/drawingml/2006/main" noGrp="1"/>
          </p:cNvSpPr>
          <p:nvPr/>
        </p:nvSpPr>
        <p:spPr>
          <a:xfrm xmlns:a="http://schemas.openxmlformats.org/drawingml/2006/main">
            <a:off x="628650" y="2114550"/>
            <a:ext cx="10858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033"/>
                </a:solidFill>
                <a:latin typeface="Microsoft YaHei"/>
                <a:ea typeface="Microsoft YaHei"/>
                <a:cs typeface="Microsoft YaHei"/>
              </a:defRPr>
            </a:pPr>
            <a:r>
              <a:rPr sz="1875" b="0">
                <a:solidFill>
                  <a:srgbClr val="172033"/>
                </a:solidFill>
                <a:latin typeface="Microsoft YaHei"/>
                <a:ea typeface="Microsoft YaHei"/>
                <a:cs typeface="Microsoft YaHei"/>
              </a:rPr>
              <a:t>自销毁策略只对受控执行环境中的副本有效，截图、导出、缓存和备份可能绕过到期控制。设计时要把复制能力和解密权限纳入威胁模型，而不是依赖文件界面上的倒计时。</a:t>
            </a:r>
          </a:p>
        </p:txBody>
      </p:sp>
      <p:sp>
        <p:nvSpPr>
          <p:cNvPr id="4" name="">
            <a:extLst xmlns:a="http://schemas.openxmlformats.org/drawingml/2006/main">
              <a:ext uri="{FF2B5EF4-FFF2-40B4-BE49-F238E27FC236}">
                <a16:creationId xmlns:a16="http://schemas.microsoft.com/office/drawing/2014/main" id="{9E0B3652-BE52-45C8-9028-0040D8CB6B82}"/>
              </a:ext>
            </a:extLst>
          </p:cNvPr>
          <p:cNvSpPr>
            <a:spLocks xmlns:a="http://schemas.openxmlformats.org/drawingml/2006/main" noGrp="1"/>
          </p:cNvSpPr>
          <p:nvPr/>
        </p:nvSpPr>
        <p:spPr>
          <a:xfrm xmlns:a="http://schemas.openxmlformats.org/drawingml/2006/main">
            <a:off x="800100" y="3714750"/>
            <a:ext cx="10382250"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01  限制明文下载和复制入口</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02  缓存副本继承同一到期策略</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03  高风险内容采用受控查看而非直接交付</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04  到期后扫描并处置派生副本</a:t>
            </a:r>
          </a:p>
        </p:txBody>
      </p:sp>
      <p:sp>
        <p:nvSpPr>
          <p:cNvPr id="5" name="">
            <a:extLst xmlns:a="http://schemas.openxmlformats.org/drawingml/2006/main">
              <a:ext uri="{FF2B5EF4-FFF2-40B4-BE49-F238E27FC236}">
                <a16:creationId xmlns:a16="http://schemas.microsoft.com/office/drawing/2014/main" id="{59438582-930B-4F32-BB4E-1EE6FA761181}"/>
              </a:ext>
            </a:extLst>
          </p:cNvPr>
          <p:cNvSpPr>
            <a:spLocks xmlns:a="http://schemas.openxmlformats.org/drawingml/2006/main" noGrp="1"/>
          </p:cNvSpPr>
          <p:nvPr/>
        </p:nvSpPr>
        <p:spPr>
          <a:xfrm xmlns:a="http://schemas.openxmlformats.org/drawingml/2006/main">
            <a:off x="609600" y="64198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6.4  数据安全技术基础</a:t>
            </a:r>
          </a:p>
        </p:txBody>
      </p:sp>
      <p:sp>
        <p:nvSpPr>
          <p:cNvPr id="6" name="">
            <a:extLst xmlns:a="http://schemas.openxmlformats.org/drawingml/2006/main">
              <a:ext uri="{FF2B5EF4-FFF2-40B4-BE49-F238E27FC236}">
                <a16:creationId xmlns:a16="http://schemas.microsoft.com/office/drawing/2014/main" id="{F06946B9-B341-4491-AB62-94C54165C747}"/>
              </a:ext>
            </a:extLst>
          </p:cNvPr>
          <p:cNvSpPr>
            <a:spLocks xmlns:a="http://schemas.openxmlformats.org/drawingml/2006/main" noGrp="1"/>
          </p:cNvSpPr>
          <p:nvPr/>
        </p:nvSpPr>
        <p:spPr>
          <a:xfrm xmlns:a="http://schemas.openxmlformats.org/drawingml/2006/main">
            <a:off x="7239000" y="6419850"/>
            <a:ext cx="434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06  来源与版权信息见演讲者备注</a:t>
            </a:r>
          </a:p>
        </p:txBody>
      </p:sp>
    </p:spTree>
    <p:extLst>
      <p:ext uri="{BB962C8B-B14F-4D97-AF65-F5344CB8AC3E}">
        <p14:creationId xmlns:p14="http://schemas.microsoft.com/office/powerpoint/2010/main" val="2123181972"/>
      </p:ext>
    </p:extLst>
  </p:cSld>
</p:sld>
</file>

<file path=ppt/slides/slide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E110E21-4694-4DB9-A94A-321211CF569C}"/>
              </a:ext>
            </a:extLst>
          </p:cNvPr>
          <p:cNvSpPr>
            <a:spLocks xmlns:a="http://schemas.openxmlformats.org/drawingml/2006/main" noGrp="1"/>
          </p:cNvSpPr>
          <p:nvPr/>
        </p:nvSpPr>
        <p:spPr>
          <a:xfrm xmlns:a="http://schemas.openxmlformats.org/drawingml/2006/main">
            <a:off x="628650" y="438150"/>
            <a:ext cx="285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457F5"/>
                </a:solidFill>
                <a:latin typeface="Microsoft YaHei"/>
                <a:ea typeface="Microsoft YaHei"/>
                <a:cs typeface="Microsoft YaHei"/>
              </a:defRPr>
            </a:pPr>
            <a:r>
              <a:rPr sz="1500" b="1">
                <a:solidFill>
                  <a:srgbClr val="2457F5"/>
                </a:solidFill>
                <a:latin typeface="Microsoft YaHei"/>
                <a:ea typeface="Microsoft YaHei"/>
                <a:cs typeface="Microsoft YaHei"/>
              </a:rPr>
              <a:t>业务案例</a:t>
            </a:r>
          </a:p>
        </p:txBody>
      </p:sp>
      <p:sp>
        <p:nvSpPr>
          <p:cNvPr id="2" name="">
            <a:extLst xmlns:a="http://schemas.openxmlformats.org/drawingml/2006/main">
              <a:ext uri="{FF2B5EF4-FFF2-40B4-BE49-F238E27FC236}">
                <a16:creationId xmlns:a16="http://schemas.microsoft.com/office/drawing/2014/main" id="{240AE9F0-03BF-4B04-B91A-D87E9E3E7CED}"/>
              </a:ext>
            </a:extLst>
          </p:cNvPr>
          <p:cNvSpPr>
            <a:spLocks xmlns:a="http://schemas.openxmlformats.org/drawingml/2006/main" noGrp="1"/>
          </p:cNvSpPr>
          <p:nvPr/>
        </p:nvSpPr>
        <p:spPr>
          <a:xfrm xmlns:a="http://schemas.openxmlformats.org/drawingml/2006/main">
            <a:off x="628650" y="102870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2033"/>
                </a:solidFill>
                <a:latin typeface="Microsoft YaHei"/>
                <a:ea typeface="Microsoft YaHei"/>
                <a:cs typeface="Microsoft YaHei"/>
              </a:defRPr>
            </a:pPr>
            <a:r>
              <a:rPr sz="2700" b="1">
                <a:solidFill>
                  <a:srgbClr val="172033"/>
                </a:solidFill>
                <a:latin typeface="Microsoft YaHei"/>
                <a:ea typeface="Microsoft YaHei"/>
                <a:cs typeface="Microsoft YaHei"/>
              </a:rPr>
              <a:t>把概念放回真实决策</a:t>
            </a:r>
          </a:p>
        </p:txBody>
      </p:sp>
      <p:sp>
        <p:nvSpPr>
          <p:cNvPr id="3" name="">
            <a:extLst xmlns:a="http://schemas.openxmlformats.org/drawingml/2006/main">
              <a:ext uri="{FF2B5EF4-FFF2-40B4-BE49-F238E27FC236}">
                <a16:creationId xmlns:a16="http://schemas.microsoft.com/office/drawing/2014/main" id="{B51EF3CA-E370-4D8A-8EAB-091F6E0D458C}"/>
              </a:ext>
            </a:extLst>
          </p:cNvPr>
          <p:cNvSpPr>
            <a:spLocks xmlns:a="http://schemas.openxmlformats.org/drawingml/2006/main" noGrp="1"/>
          </p:cNvSpPr>
          <p:nvPr/>
        </p:nvSpPr>
        <p:spPr>
          <a:xfrm xmlns:a="http://schemas.openxmlformats.org/drawingml/2006/main">
            <a:off x="628650" y="2133600"/>
            <a:ext cx="108585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033"/>
                </a:solidFill>
                <a:latin typeface="Microsoft YaHei"/>
                <a:ea typeface="Microsoft YaHei"/>
                <a:cs typeface="Microsoft YaHei"/>
              </a:defRPr>
            </a:pPr>
            <a:r>
              <a:rPr sz="2025" b="0">
                <a:solidFill>
                  <a:srgbClr val="172033"/>
                </a:solidFill>
                <a:latin typeface="Microsoft YaHei"/>
                <a:ea typeface="Microsoft YaHei"/>
                <a:cs typeface="Microsoft YaHei"/>
              </a:rPr>
              <a:t>云端归档使用每批数据独立密钥，到期后同步销毁主密钥、备份和缓存副本；系统记录执行结果并抽样确认数据不可解密。</a:t>
            </a:r>
          </a:p>
        </p:txBody>
      </p:sp>
      <p:sp>
        <p:nvSpPr>
          <p:cNvPr id="4" name="">
            <a:extLst xmlns:a="http://schemas.openxmlformats.org/drawingml/2006/main">
              <a:ext uri="{FF2B5EF4-FFF2-40B4-BE49-F238E27FC236}">
                <a16:creationId xmlns:a16="http://schemas.microsoft.com/office/drawing/2014/main" id="{0836085E-C035-4355-BF94-F8C8CAA890EF}"/>
              </a:ext>
            </a:extLst>
          </p:cNvPr>
          <p:cNvSpPr>
            <a:spLocks xmlns:a="http://schemas.openxmlformats.org/drawingml/2006/main" noGrp="1"/>
          </p:cNvSpPr>
          <p:nvPr/>
        </p:nvSpPr>
        <p:spPr>
          <a:xfrm xmlns:a="http://schemas.openxmlformats.org/drawingml/2006/main">
            <a:off x="628650" y="42481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46CD"/>
                </a:solidFill>
                <a:latin typeface="Microsoft YaHei"/>
                <a:ea typeface="Microsoft YaHei"/>
                <a:cs typeface="Microsoft YaHei"/>
              </a:defRPr>
            </a:pPr>
            <a:r>
              <a:rPr sz="1425" b="1">
                <a:solidFill>
                  <a:srgbClr val="1846CD"/>
                </a:solidFill>
                <a:latin typeface="Microsoft YaHei"/>
                <a:ea typeface="Microsoft YaHei"/>
                <a:cs typeface="Microsoft YaHei"/>
              </a:rPr>
              <a:t>课堂讨论</a:t>
            </a:r>
          </a:p>
        </p:txBody>
      </p:sp>
      <p:sp>
        <p:nvSpPr>
          <p:cNvPr id="5" name="">
            <a:extLst xmlns:a="http://schemas.openxmlformats.org/drawingml/2006/main">
              <a:ext uri="{FF2B5EF4-FFF2-40B4-BE49-F238E27FC236}">
                <a16:creationId xmlns:a16="http://schemas.microsoft.com/office/drawing/2014/main" id="{22B1C1CF-6E8E-4241-9D46-C955F8B11A69}"/>
              </a:ext>
            </a:extLst>
          </p:cNvPr>
          <p:cNvSpPr>
            <a:spLocks xmlns:a="http://schemas.openxmlformats.org/drawingml/2006/main" noGrp="1"/>
          </p:cNvSpPr>
          <p:nvPr/>
        </p:nvSpPr>
        <p:spPr>
          <a:xfrm xmlns:a="http://schemas.openxmlformats.org/drawingml/2006/main">
            <a:off x="628650" y="4724400"/>
            <a:ext cx="1076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7085"/>
                </a:solidFill>
                <a:latin typeface="Microsoft YaHei"/>
                <a:ea typeface="Microsoft YaHei"/>
                <a:cs typeface="Microsoft YaHei"/>
              </a:defRPr>
            </a:pPr>
            <a:r>
              <a:rPr sz="1425" b="0">
                <a:solidFill>
                  <a:srgbClr val="667085"/>
                </a:solidFill>
                <a:latin typeface="Microsoft YaHei"/>
                <a:ea typeface="Microsoft YaHei"/>
                <a:cs typeface="Microsoft YaHei"/>
              </a:rPr>
              <a:t>01  案例中的核心数据资产、威胁和责任主体分别是什么？</a:t>
            </a:r>
          </a:p>
          <a:p xmlns:a="http://schemas.openxmlformats.org/drawingml/2006/main">
            <a:r>
              <a:t/>
            </a:r>
          </a:p>
          <a:p xmlns:a="http://schemas.openxmlformats.org/drawingml/2006/main">
            <a:pPr>
              <a:defRPr sz="1425" b="0">
                <a:solidFill>
                  <a:srgbClr val="667085"/>
                </a:solidFill>
                <a:latin typeface="Microsoft YaHei"/>
                <a:ea typeface="Microsoft YaHei"/>
                <a:cs typeface="Microsoft YaHei"/>
              </a:defRPr>
            </a:pPr>
            <a:r>
              <a:rPr sz="1425" b="0">
                <a:solidFill>
                  <a:srgbClr val="667085"/>
                </a:solidFill>
                <a:latin typeface="Microsoft YaHei"/>
                <a:ea typeface="Microsoft YaHei"/>
                <a:cs typeface="Microsoft YaHei"/>
              </a:rPr>
              <a:t>02  优先控制措施是什么，如何用日志、测试或指标验证效果？</a:t>
            </a:r>
          </a:p>
          <a:p xmlns:a="http://schemas.openxmlformats.org/drawingml/2006/main">
            <a:r>
              <a:t/>
            </a:r>
          </a:p>
          <a:p xmlns:a="http://schemas.openxmlformats.org/drawingml/2006/main">
            <a:pPr>
              <a:defRPr sz="1425" b="0">
                <a:solidFill>
                  <a:srgbClr val="667085"/>
                </a:solidFill>
                <a:latin typeface="Microsoft YaHei"/>
                <a:ea typeface="Microsoft YaHei"/>
                <a:cs typeface="Microsoft YaHei"/>
              </a:defRPr>
            </a:pPr>
            <a:r>
              <a:rPr sz="1425" b="0">
                <a:solidFill>
                  <a:srgbClr val="667085"/>
                </a:solidFill>
                <a:latin typeface="Microsoft YaHei"/>
                <a:ea typeface="Microsoft YaHei"/>
                <a:cs typeface="Microsoft YaHei"/>
              </a:rPr>
              <a:t>03  哪些边界条件变化后，需要重新评估方案？</a:t>
            </a:r>
          </a:p>
        </p:txBody>
      </p:sp>
      <p:sp>
        <p:nvSpPr>
          <p:cNvPr id="6" name="">
            <a:extLst xmlns:a="http://schemas.openxmlformats.org/drawingml/2006/main">
              <a:ext uri="{FF2B5EF4-FFF2-40B4-BE49-F238E27FC236}">
                <a16:creationId xmlns:a16="http://schemas.microsoft.com/office/drawing/2014/main" id="{779D5C8A-85D2-44E6-B39F-F66B2CB5C556}"/>
              </a:ext>
            </a:extLst>
          </p:cNvPr>
          <p:cNvSpPr>
            <a:spLocks xmlns:a="http://schemas.openxmlformats.org/drawingml/2006/main" noGrp="1"/>
          </p:cNvSpPr>
          <p:nvPr/>
        </p:nvSpPr>
        <p:spPr>
          <a:xfrm xmlns:a="http://schemas.openxmlformats.org/drawingml/2006/main">
            <a:off x="609600" y="64198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6.4  数据安全技术基础</a:t>
            </a:r>
          </a:p>
        </p:txBody>
      </p:sp>
      <p:sp>
        <p:nvSpPr>
          <p:cNvPr id="7" name="">
            <a:extLst xmlns:a="http://schemas.openxmlformats.org/drawingml/2006/main">
              <a:ext uri="{FF2B5EF4-FFF2-40B4-BE49-F238E27FC236}">
                <a16:creationId xmlns:a16="http://schemas.microsoft.com/office/drawing/2014/main" id="{B1DAC6BA-CF5D-43A0-BC79-814A04D5D625}"/>
              </a:ext>
            </a:extLst>
          </p:cNvPr>
          <p:cNvSpPr>
            <a:spLocks xmlns:a="http://schemas.openxmlformats.org/drawingml/2006/main" noGrp="1"/>
          </p:cNvSpPr>
          <p:nvPr/>
        </p:nvSpPr>
        <p:spPr>
          <a:xfrm xmlns:a="http://schemas.openxmlformats.org/drawingml/2006/main">
            <a:off x="7239000" y="6419850"/>
            <a:ext cx="434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07  来源与版权信息见演讲者备注</a:t>
            </a:r>
          </a:p>
        </p:txBody>
      </p:sp>
    </p:spTree>
    <p:extLst>
      <p:ext uri="{BB962C8B-B14F-4D97-AF65-F5344CB8AC3E}">
        <p14:creationId xmlns:p14="http://schemas.microsoft.com/office/powerpoint/2010/main" val="417518201"/>
      </p:ext>
    </p:extLst>
  </p:cSld>
</p:sld>
</file>

<file path=ppt/slides/slide8.xml><?xml version="1.0" encoding="utf-8"?>
<p:sld xmlns:p="http://schemas.openxmlformats.org/presentationml/2006/main">
  <p:cSld>
    <p:bg>
      <p:bgPr>
        <a:solidFill xmlns:a="http://schemas.openxmlformats.org/drawingml/2006/main">
          <a:srgbClr val="10213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AA82022-5D82-4989-8135-01004E2ED47B}"/>
              </a:ext>
            </a:extLst>
          </p:cNvPr>
          <p:cNvSpPr>
            <a:spLocks xmlns:a="http://schemas.openxmlformats.org/drawingml/2006/main" noGrp="1"/>
          </p:cNvSpPr>
          <p:nvPr/>
        </p:nvSpPr>
        <p:spPr>
          <a:xfrm xmlns:a="http://schemas.openxmlformats.org/drawingml/2006/main">
            <a:off x="628650" y="457200"/>
            <a:ext cx="285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DCE7FF"/>
                </a:solidFill>
                <a:latin typeface="Microsoft YaHei"/>
                <a:ea typeface="Microsoft YaHei"/>
                <a:cs typeface="Microsoft YaHei"/>
              </a:defRPr>
            </a:pPr>
            <a:r>
              <a:rPr sz="1500" b="1">
                <a:solidFill>
                  <a:srgbClr val="DCE7FF"/>
                </a:solidFill>
                <a:latin typeface="Microsoft YaHei"/>
                <a:ea typeface="Microsoft YaHei"/>
                <a:cs typeface="Microsoft YaHei"/>
              </a:rPr>
              <a:t>知识检查</a:t>
            </a:r>
          </a:p>
        </p:txBody>
      </p:sp>
      <p:sp>
        <p:nvSpPr>
          <p:cNvPr id="2" name="">
            <a:extLst xmlns:a="http://schemas.openxmlformats.org/drawingml/2006/main">
              <a:ext uri="{FF2B5EF4-FFF2-40B4-BE49-F238E27FC236}">
                <a16:creationId xmlns:a16="http://schemas.microsoft.com/office/drawing/2014/main" id="{C765892F-3DC5-4120-B05A-80331097DA62}"/>
              </a:ext>
            </a:extLst>
          </p:cNvPr>
          <p:cNvSpPr>
            <a:spLocks xmlns:a="http://schemas.openxmlformats.org/drawingml/2006/main" noGrp="1"/>
          </p:cNvSpPr>
          <p:nvPr/>
        </p:nvSpPr>
        <p:spPr>
          <a:xfrm xmlns:a="http://schemas.openxmlformats.org/drawingml/2006/main">
            <a:off x="628650" y="1352550"/>
            <a:ext cx="1076325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Microsoft YaHei"/>
                <a:ea typeface="Microsoft YaHei"/>
                <a:cs typeface="Microsoft YaHei"/>
              </a:defRPr>
            </a:pPr>
            <a:r>
              <a:rPr sz="2550" b="1">
                <a:solidFill>
                  <a:srgbClr val="FFFFFF"/>
                </a:solidFill>
                <a:latin typeface="Microsoft YaHei"/>
                <a:ea typeface="Microsoft YaHei"/>
                <a:cs typeface="Microsoft YaHei"/>
              </a:rPr>
              <a:t>只删除一份应用密钥文件为何不能证明密码学销毁完成？</a:t>
            </a:r>
          </a:p>
        </p:txBody>
      </p:sp>
      <p:sp>
        <p:nvSpPr>
          <p:cNvPr id="3" name="">
            <a:extLst xmlns:a="http://schemas.openxmlformats.org/drawingml/2006/main">
              <a:ext uri="{FF2B5EF4-FFF2-40B4-BE49-F238E27FC236}">
                <a16:creationId xmlns:a16="http://schemas.microsoft.com/office/drawing/2014/main" id="{F594427E-D067-4B3E-B92C-CF2E5EF1FD07}"/>
              </a:ext>
            </a:extLst>
          </p:cNvPr>
          <p:cNvSpPr>
            <a:spLocks xmlns:a="http://schemas.openxmlformats.org/drawingml/2006/main" noGrp="1"/>
          </p:cNvSpPr>
          <p:nvPr/>
        </p:nvSpPr>
        <p:spPr>
          <a:xfrm xmlns:a="http://schemas.openxmlformats.org/drawingml/2006/main">
            <a:off x="628650" y="3714750"/>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49968"/>
                </a:solidFill>
                <a:latin typeface="Microsoft YaHei"/>
                <a:ea typeface="Microsoft YaHei"/>
                <a:cs typeface="Microsoft YaHei"/>
              </a:defRPr>
            </a:pPr>
            <a:r>
              <a:rPr sz="1425" b="1">
                <a:solidFill>
                  <a:srgbClr val="149968"/>
                </a:solidFill>
                <a:latin typeface="Microsoft YaHei"/>
                <a:ea typeface="Microsoft YaHei"/>
                <a:cs typeface="Microsoft YaHei"/>
              </a:rPr>
              <a:t>参考答案</a:t>
            </a:r>
          </a:p>
        </p:txBody>
      </p:sp>
      <p:sp>
        <p:nvSpPr>
          <p:cNvPr id="4" name="">
            <a:extLst xmlns:a="http://schemas.openxmlformats.org/drawingml/2006/main">
              <a:ext uri="{FF2B5EF4-FFF2-40B4-BE49-F238E27FC236}">
                <a16:creationId xmlns:a16="http://schemas.microsoft.com/office/drawing/2014/main" id="{DF98EC29-E745-497A-AFC3-BD6C298D3A08}"/>
              </a:ext>
            </a:extLst>
          </p:cNvPr>
          <p:cNvSpPr>
            <a:spLocks xmlns:a="http://schemas.openxmlformats.org/drawingml/2006/main" noGrp="1"/>
          </p:cNvSpPr>
          <p:nvPr/>
        </p:nvSpPr>
        <p:spPr>
          <a:xfrm xmlns:a="http://schemas.openxmlformats.org/drawingml/2006/main">
            <a:off x="628650" y="430530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CE7FF"/>
                </a:solidFill>
                <a:latin typeface="Microsoft YaHei"/>
                <a:ea typeface="Microsoft YaHei"/>
                <a:cs typeface="Microsoft YaHei"/>
              </a:defRPr>
            </a:pPr>
            <a:r>
              <a:rPr sz="1800" b="0">
                <a:solidFill>
                  <a:srgbClr val="DCE7FF"/>
                </a:solidFill>
                <a:latin typeface="Microsoft YaHei"/>
                <a:ea typeface="Microsoft YaHei"/>
                <a:cs typeface="Microsoft YaHei"/>
              </a:rPr>
              <a:t>密钥可能仍存在于备份、缓存、硬件模块或复制节点，且明文副本也可能残留。</a:t>
            </a:r>
          </a:p>
        </p:txBody>
      </p:sp>
      <p:sp>
        <p:nvSpPr>
          <p:cNvPr id="5" name="">
            <a:extLst xmlns:a="http://schemas.openxmlformats.org/drawingml/2006/main">
              <a:ext uri="{FF2B5EF4-FFF2-40B4-BE49-F238E27FC236}">
                <a16:creationId xmlns:a16="http://schemas.microsoft.com/office/drawing/2014/main" id="{A1A6ED51-6EC3-4CFF-B41E-EAC7EF5EC1AC}"/>
              </a:ext>
            </a:extLst>
          </p:cNvPr>
          <p:cNvSpPr>
            <a:spLocks xmlns:a="http://schemas.openxmlformats.org/drawingml/2006/main" noGrp="1"/>
          </p:cNvSpPr>
          <p:nvPr/>
        </p:nvSpPr>
        <p:spPr>
          <a:xfrm xmlns:a="http://schemas.openxmlformats.org/drawingml/2006/main">
            <a:off x="609600" y="64198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DCE7FF"/>
                </a:solidFill>
                <a:latin typeface="Microsoft YaHei"/>
                <a:ea typeface="Microsoft YaHei"/>
                <a:cs typeface="Microsoft YaHei"/>
              </a:defRPr>
            </a:pPr>
            <a:r>
              <a:rPr sz="900" b="0">
                <a:solidFill>
                  <a:srgbClr val="DCE7FF"/>
                </a:solidFill>
                <a:latin typeface="Microsoft YaHei"/>
                <a:ea typeface="Microsoft YaHei"/>
                <a:cs typeface="Microsoft YaHei"/>
              </a:rPr>
              <a:t>6.4  数据安全技术基础</a:t>
            </a:r>
          </a:p>
        </p:txBody>
      </p:sp>
      <p:sp>
        <p:nvSpPr>
          <p:cNvPr id="6" name="">
            <a:extLst xmlns:a="http://schemas.openxmlformats.org/drawingml/2006/main">
              <a:ext uri="{FF2B5EF4-FFF2-40B4-BE49-F238E27FC236}">
                <a16:creationId xmlns:a16="http://schemas.microsoft.com/office/drawing/2014/main" id="{41003071-4FFF-4262-A148-758945DB21AA}"/>
              </a:ext>
            </a:extLst>
          </p:cNvPr>
          <p:cNvSpPr>
            <a:spLocks xmlns:a="http://schemas.openxmlformats.org/drawingml/2006/main" noGrp="1"/>
          </p:cNvSpPr>
          <p:nvPr/>
        </p:nvSpPr>
        <p:spPr>
          <a:xfrm xmlns:a="http://schemas.openxmlformats.org/drawingml/2006/main">
            <a:off x="7239000" y="6419850"/>
            <a:ext cx="434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DCE7FF"/>
                </a:solidFill>
                <a:latin typeface="Microsoft YaHei"/>
                <a:ea typeface="Microsoft YaHei"/>
                <a:cs typeface="Microsoft YaHei"/>
              </a:defRPr>
            </a:pPr>
            <a:r>
              <a:rPr sz="900" b="0">
                <a:solidFill>
                  <a:srgbClr val="DCE7FF"/>
                </a:solidFill>
                <a:latin typeface="Microsoft YaHei"/>
                <a:ea typeface="Microsoft YaHei"/>
                <a:cs typeface="Microsoft YaHei"/>
              </a:rPr>
              <a:t>08  来源与版权信息见演讲者备注</a:t>
            </a:r>
          </a:p>
        </p:txBody>
      </p:sp>
    </p:spTree>
    <p:extLst>
      <p:ext uri="{BB962C8B-B14F-4D97-AF65-F5344CB8AC3E}">
        <p14:creationId xmlns:p14="http://schemas.microsoft.com/office/powerpoint/2010/main" val="997347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2026-09-21T18:11:37.1610000Z</dcterms:created>
  <dcterms:modified xsi:type="dcterms:W3CDTF">2026-09-21T18:11:37.1610000Z</dcterms:modified>
</coreProperties>
</file>