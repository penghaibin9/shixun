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9c8d7fc5a534874" /><Relationship Type="http://schemas.openxmlformats.org/officeDocument/2006/relationships/extended-properties" Target="/docProps/app.xml" Id="Rc4fb564653b74ed2" /><Relationship Type="http://schemas.openxmlformats.org/officeDocument/2006/relationships/officeDocument" Target="/ppt/presentation.xml" Id="R7736d67aa7a443b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8b278fa676b4038"/>
  </p:sldMasterIdLst>
  <p:notesMasterIdLst>
    <p:notesMasterId xmlns:r="http://schemas.openxmlformats.org/officeDocument/2006/relationships" r:id="R59d24cb806854a52"/>
  </p:notesMasterIdLst>
  <p:sldIdLst>
    <p:sldId xmlns:r="http://schemas.openxmlformats.org/officeDocument/2006/relationships" id="256" r:id="R8f1dab1c72b94f02"/>
    <p:sldId xmlns:r="http://schemas.openxmlformats.org/officeDocument/2006/relationships" id="257" r:id="R4c680ed7932c46dc"/>
    <p:sldId xmlns:r="http://schemas.openxmlformats.org/officeDocument/2006/relationships" id="258" r:id="R4a8369f74cda417f"/>
    <p:sldId xmlns:r="http://schemas.openxmlformats.org/officeDocument/2006/relationships" id="259" r:id="R3f64ec18d87e4cfd"/>
    <p:sldId xmlns:r="http://schemas.openxmlformats.org/officeDocument/2006/relationships" id="260" r:id="R0215ff9bd32e4131"/>
    <p:sldId xmlns:r="http://schemas.openxmlformats.org/officeDocument/2006/relationships" id="261" r:id="R5e0defcca0c64987"/>
    <p:sldId xmlns:r="http://schemas.openxmlformats.org/officeDocument/2006/relationships" id="262" r:id="R609f40eb56814d0c"/>
    <p:sldId xmlns:r="http://schemas.openxmlformats.org/officeDocument/2006/relationships" id="263" r:id="R1c00172c7e74484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60b3d172c5a4297" /><Relationship Type="http://schemas.openxmlformats.org/officeDocument/2006/relationships/slideMaster" Target="/ppt/slideMasters/slideMaster1.xml" Id="Rb8b278fa676b4038" /><Relationship Type="http://schemas.openxmlformats.org/officeDocument/2006/relationships/notesMaster" Target="/ppt/notesMasters/notesMaster1.xml" Id="R59d24cb806854a52" /><Relationship Type="http://schemas.openxmlformats.org/officeDocument/2006/relationships/presProps" Target="/ppt/presProps.xml" Id="R2fa291ca1e574a6d" /><Relationship Type="http://schemas.openxmlformats.org/officeDocument/2006/relationships/tableStyles" Target="/ppt/tableStyles.xml" Id="Rdfc0fc30ce694608" /><Relationship Type="http://schemas.openxmlformats.org/officeDocument/2006/relationships/slide" Target="/ppt/slides/slide1.xml" Id="R8f1dab1c72b94f02" /><Relationship Type="http://schemas.openxmlformats.org/officeDocument/2006/relationships/slide" Target="/ppt/slides/slide2.xml" Id="R4c680ed7932c46dc" /><Relationship Type="http://schemas.openxmlformats.org/officeDocument/2006/relationships/slide" Target="/ppt/slides/slide3.xml" Id="R4a8369f74cda417f" /><Relationship Type="http://schemas.openxmlformats.org/officeDocument/2006/relationships/slide" Target="/ppt/slides/slide4.xml" Id="R3f64ec18d87e4cfd" /><Relationship Type="http://schemas.openxmlformats.org/officeDocument/2006/relationships/slide" Target="/ppt/slides/slide5.xml" Id="R0215ff9bd32e4131" /><Relationship Type="http://schemas.openxmlformats.org/officeDocument/2006/relationships/slide" Target="/ppt/slides/slide6.xml" Id="R5e0defcca0c64987" /><Relationship Type="http://schemas.openxmlformats.org/officeDocument/2006/relationships/slide" Target="/ppt/slides/slide7.xml" Id="R609f40eb56814d0c" /><Relationship Type="http://schemas.openxmlformats.org/officeDocument/2006/relationships/slide" Target="/ppt/slides/slide8.xml" Id="R1c00172c7e74484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2b3bc6a4392429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94322fd7a8a4958" /><Relationship Type="http://schemas.openxmlformats.org/officeDocument/2006/relationships/notesMaster" Target="/ppt/notesMasters/notesMaster1.xml" Id="Rd40153cd79cf46f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b9bd233bfc94aa3" /><Relationship Type="http://schemas.openxmlformats.org/officeDocument/2006/relationships/notesMaster" Target="/ppt/notesMasters/notesMaster1.xml" Id="R6e125849c786472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5ba9004903343cf" /><Relationship Type="http://schemas.openxmlformats.org/officeDocument/2006/relationships/notesMaster" Target="/ppt/notesMasters/notesMaster1.xml" Id="Rba0c70e944424fc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49fe5481db048bc" /><Relationship Type="http://schemas.openxmlformats.org/officeDocument/2006/relationships/notesMaster" Target="/ppt/notesMasters/notesMaster1.xml" Id="R2f8f0b3cff864c3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f07e1b6fcd84175" /><Relationship Type="http://schemas.openxmlformats.org/officeDocument/2006/relationships/notesMaster" Target="/ppt/notesMasters/notesMaster1.xml" Id="R17195fd369e14c3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9fc4a04740f4460" /><Relationship Type="http://schemas.openxmlformats.org/officeDocument/2006/relationships/notesMaster" Target="/ppt/notesMasters/notesMaster1.xml" Id="R597b9b63546b486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2020b8fe3034496" /><Relationship Type="http://schemas.openxmlformats.org/officeDocument/2006/relationships/notesMaster" Target="/ppt/notesMasters/notesMaster1.xml" Id="R2b362389cdd241f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8c66b5032a64eae" /><Relationship Type="http://schemas.openxmlformats.org/officeDocument/2006/relationships/notesMaster" Target="/ppt/notesMasters/notesMaster1.xml" Id="Rcda3f555c76d4db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封面。说明本课在课程蓝图中的位置，并用一个真实业务问题导入主题。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正式题库 5.1 课时内容</a:t>
            </a:r>
          </a:p>
          <a:p xmlns:a="http://schemas.openxmlformats.org/drawingml/2006/main">
            <a:r>
              <a:t>backend/app/resources/content/question-bank-v1.json#lesson_theory_5_1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学习目标与知识结构。先说明目标，再解释各知识点之间的依赖关系。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正式题库 5.1 课时内容</a:t>
            </a:r>
          </a:p>
          <a:p xmlns:a="http://schemas.openxmlformats.org/drawingml/2006/main">
            <a:r>
              <a:t>backend/app/resources/content/question-bank-v1.json#lesson_theory_5_1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核心概念：载体与水印载荷。结合要点解释定义、适用边界和验证方式。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正式题库 5.1 课时内容</a:t>
            </a:r>
          </a:p>
          <a:p xmlns:a="http://schemas.openxmlformats.org/drawingml/2006/main">
            <a:r>
              <a:t>backend/app/resources/content/question-bank-v1.json#lesson_theory_5_1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核心概念：嵌入和检测。结合要点解释定义、适用边界和验证方式。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正式题库 5.1 课时内容</a:t>
            </a:r>
          </a:p>
          <a:p xmlns:a="http://schemas.openxmlformats.org/drawingml/2006/main">
            <a:r>
              <a:t>backend/app/resources/content/question-bank-v1.json#lesson_theory_5_1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核心概念：不可感知性。结合要点解释定义、适用边界和验证方式。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正式题库 5.1 课时内容</a:t>
            </a:r>
          </a:p>
          <a:p xmlns:a="http://schemas.openxmlformats.org/drawingml/2006/main">
            <a:r>
              <a:t>backend/app/resources/content/question-bank-v1.json#lesson_theory_5_1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核心概念：容量与鲁棒性。结合要点解释定义、适用边界和验证方式。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正式题库 5.1 课时内容</a:t>
            </a:r>
          </a:p>
          <a:p xmlns:a="http://schemas.openxmlformats.org/drawingml/2006/main">
            <a:r>
              <a:t>backend/app/resources/content/question-bank-v1.json#lesson_theory_5_1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业务案例。引导学生先识别事实，再提出控制方案和可验证证据。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正式题库 5.1 课时内容</a:t>
            </a:r>
          </a:p>
          <a:p xmlns:a="http://schemas.openxmlformats.org/drawingml/2006/main">
            <a:r>
              <a:t>backend/app/resources/content/question-bank-v1.json#lesson_theory_5_1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知识检查。先让学生独立回答，再展示参考答案并回到本课学习目标。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正式题库 5.1 课时内容</a:t>
            </a:r>
          </a:p>
          <a:p xmlns:a="http://schemas.openxmlformats.org/drawingml/2006/main">
            <a:r>
              <a:t>backend/app/resources/content/question-bank-v1.json#lesson_theory_5_1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10b924139a465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4497a9691174adf" /><Relationship Type="http://schemas.openxmlformats.org/officeDocument/2006/relationships/slideLayout" Target="/ppt/slideLayouts/slideLayout1.xml" Id="R756e4beae6224c7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56e4beae6224c7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3a3eed29f3429a" /><Relationship Type="http://schemas.openxmlformats.org/officeDocument/2006/relationships/image" Target="/ppt/media/image.png" Id="Rb7142352bbf5410d" /><Relationship Type="http://schemas.openxmlformats.org/officeDocument/2006/relationships/notesSlide" Target="/ppt/notesSlides/notesSlide1.xml" Id="R97133469a5034da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8a9915f5f84f6e" /><Relationship Type="http://schemas.openxmlformats.org/officeDocument/2006/relationships/notesSlide" Target="/ppt/notesSlides/notesSlide2.xml" Id="Rb96ae55e6e8d436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1f58fa3ab14e37" /><Relationship Type="http://schemas.openxmlformats.org/officeDocument/2006/relationships/notesSlide" Target="/ppt/notesSlides/notesSlide3.xml" Id="Raec4adb49c714fd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fa7a098c49435a" /><Relationship Type="http://schemas.openxmlformats.org/officeDocument/2006/relationships/notesSlide" Target="/ppt/notesSlides/notesSlide4.xml" Id="R02fc70096061453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30cfb5a5424a36" /><Relationship Type="http://schemas.openxmlformats.org/officeDocument/2006/relationships/notesSlide" Target="/ppt/notesSlides/notesSlide5.xml" Id="R5439bbf98c97445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800b2a0e9f4370" /><Relationship Type="http://schemas.openxmlformats.org/officeDocument/2006/relationships/notesSlide" Target="/ppt/notesSlides/notesSlide6.xml" Id="R19701bcf297547b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527fa9182b4dfb" /><Relationship Type="http://schemas.openxmlformats.org/officeDocument/2006/relationships/notesSlide" Target="/ppt/notesSlides/notesSlide7.xml" Id="Rea10dc0a8923444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575a4fad8640cb" /><Relationship Type="http://schemas.openxmlformats.org/officeDocument/2006/relationships/notesSlide" Target="/ppt/notesSlides/notesSlide8.xml" Id="Re8f7c12020b04a4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1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142352bbf5410d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D843BC-03B5-44F6-B4B0-541578379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第 5 章  ·  5.1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A32A4C-38AE-422E-B493-C5D26736E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5715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数字水印基本原理与工作流程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4A7D86-C4C8-4968-BEFC-FF0828E96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1490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数据安全技术基础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3A5B37-621A-41E5-86F9-468DF3A1E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816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跃科网络空间安全实训平台</a:t>
            </a:r>
          </a:p>
        </p:txBody>
      </p:sp>
    </p:spTree>
    <p:extLst>
      <p:ext uri="{BB962C8B-B14F-4D97-AF65-F5344CB8AC3E}">
        <p14:creationId xmlns:p14="http://schemas.microsoft.com/office/powerpoint/2010/main" val="692168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C4FE43-DD46-4B4C-A78B-F5B447EDB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本课目标与知识结构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783C9E-9843-40CE-848F-29F576583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1950"/>
            <a:ext cx="1676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5.1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975991-95A8-457B-981F-F3FC0178D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rPr>
              <a:t>学习目标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24980B-90A4-4663-9DA8-A6D412313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762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01  能够说明载体、载荷、嵌入、检测和提取组成的数字水印流程。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02  能够从不可感知性、容量、鲁棒性和安全性评价水印方案。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C691BE-6D21-4BA3-ABF4-27280DA59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287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rPr>
              <a:t>知识结构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015B1B-22FC-4226-8BC3-5080A3D80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51435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01  载体与水印载荷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02  嵌入和检测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03  不可感知性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04  容量与鲁棒性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3215DD-CB41-4B7B-AAF7-487DDED41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5.1  数据安全技术基础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D408EC-64E3-4241-AADB-AB0239ADC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2646056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B564C5-910E-4A11-9C84-67E7261C5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01  核心概念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5C2C16-1C33-4D26-924F-11FA5E7B3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载体与水印载荷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CA5124-0917-46AE-B287-AC5ECF8FC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85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载体是承载水印的图像、音频、视频或文档，载荷是被嵌入的标识或辅助信息。载荷长度、载体冗余和允许失真共同限制可用容量。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56213D-52F3-45BF-A8D3-9947D07F4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382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载荷可包含版权编号或接收者标识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敏感身份信息不宜直接作为明文载荷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不同媒体的可嵌入区域和容错性不同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嵌入前保留载体摘要与版本信息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6D2622-3BE6-4501-98B8-13C44994E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5.1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5EA54B-FDC7-4F3A-90D8-BA4DD38E8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17978142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C54466-91E2-4AAD-92DC-3ED17EDCD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02  核心概念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AC1955-4CF5-4E54-9D85-652CD8F86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嵌入和检测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D4A35B-7971-4E95-A057-14E33DCC6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85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嵌入算法按密钥和参数改变载体特征，检测或提取算法判断水印是否存在并恢复载荷。系统应分别评估正确提取、错误接受和错误拒绝，而不只演示一次成功。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765A6D-5811-4D49-BB84-7C3C8709D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382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密钥和嵌入位置决定检测条件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使用未加水印样本测试误报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使用受损样本测试漏报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保留算法版本、参数和检测置信度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311267-8CDC-416C-8755-BC712C238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5.1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1EA301-7C98-4D17-A668-93C7589F5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7369360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D937DE-F8E5-4EF8-BAFC-E1248D9BA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03  核心概念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9CF83F-5228-4B4F-B1FB-858D21EEA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不可感知性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A13FF1-8B5F-4AAF-95CF-94992500F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85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不可感知性要求嵌入后的变化不明显影响人类感知或业务使用。它不是变化为零，可通过主观观察与客观质量指标共同评价。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6DAB6C-306D-40D6-A738-D9E1DF4D1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382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比较原始与嵌入后载体的视觉或听觉差异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避免在平坦敏感区域集中修改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质量指标高不代表一定无法被察觉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不同显示和压缩条件下重复检查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1C0BC9-CDEB-41C1-8DF1-8576D46CE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5.1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B5BEB2-4962-4B00-952F-872CD7B5E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05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4946984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F78258-D5D0-45DD-8045-2B66E4DB8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04  核心概念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9BB70E-E66F-4457-96B6-89C7560A5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容量与鲁棒性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F63B18-F80C-4873-8E99-F5315CD0C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85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容量描述能可靠承载的信息量，鲁棒性描述水印经历压缩、裁剪、缩放或噪声后仍可检测的能力。提高容量和鲁棒性往往会增加失真，三者需要按用途权衡。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09839A-FB2B-4FC5-82DA-FF371DD08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382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追踪编号通常不需要很大载荷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对预期处理操作建立攻击测试集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脆弱水印可用于发现篡改而非长期追踪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以提取成功率量化鲁棒性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CF4239-E583-4F27-A55C-CBE7C95DE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5.1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EA4181-6A09-4B55-ACDD-53114FD59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06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2717008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33503F-E22C-4722-916F-03D6E9BD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业务案例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63FEA0-D80A-4832-BA5B-AF57C3965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287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把概念放回真实决策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BEA522-4C21-45B0-B4BC-89B8F5A0E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33600"/>
            <a:ext cx="108585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学校向不同合作方发放文档时嵌入不同接收者标识，发现外泄文件后提取水印辅助定位流转来源。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EACBDA-AB79-4AF1-B5CF-1ACFFD313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481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rPr>
              <a:t>课堂讨论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5613D2-60B3-43ED-817F-F92C96D4A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24400"/>
            <a:ext cx="10763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案例中的核心数据资产、威胁和责任主体分别是什么？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优先控制措施是什么，如何用日志、测试或指标验证效果？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哪些边界条件变化后，需要重新评估方案？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3BC430-5490-47E5-B380-52ADC807B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5.1  数据安全技术基础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4F19D2-FD13-4220-95AD-67D1D1F6B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07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152797047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21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0AC8DE-FD3A-4F20-843E-577F5F7E5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知识检查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0766E4-1A26-44A4-80A3-677CD69D6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107632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数字水印和内容加密的安全目标有何不同？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D36466-E723-489D-8A46-6CC86B7C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499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49968"/>
                </a:solidFill>
                <a:latin typeface="Microsoft YaHei"/>
                <a:ea typeface="Microsoft YaHei"/>
                <a:cs typeface="Microsoft YaHei"/>
              </a:rPr>
              <a:t>参考答案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E23705-A439-40DD-ADE0-23ED00974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05300"/>
            <a:ext cx="1076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水印主要用于标识、追踪或完整性证据；加密主要阻止未授权主体理解内容，两者可组合使用。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65C2CE-6FF4-40BC-9E7F-533A93D40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5.1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6928F7-1AD3-4B16-BDBB-5D6BD23DF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08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17927816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2026-09-21T18:11:03.1820000Z</dcterms:created>
  <dcterms:modified xsi:type="dcterms:W3CDTF">2026-09-21T18:11:03.1820000Z</dcterms:modified>
</coreProperties>
</file>