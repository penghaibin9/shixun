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37258b4c0b4e86" /><Relationship Type="http://schemas.openxmlformats.org/officeDocument/2006/relationships/extended-properties" Target="/docProps/app.xml" Id="R6cad9f15ec024e38" /><Relationship Type="http://schemas.openxmlformats.org/officeDocument/2006/relationships/officeDocument" Target="/ppt/presentation.xml" Id="R9e7e0166b2694472" /></Relationships>
</file>

<file path=ppt/presentation.xml><?xml version="1.0" encoding="utf-8"?>
<p:presentation xmlns:p="http://schemas.openxmlformats.org/presentationml/2006/main">
  <p:sldMasterIdLst>
    <p:sldMasterId xmlns:r="http://schemas.openxmlformats.org/officeDocument/2006/relationships" id="2147483648" r:id="Rd12c756349fc403d"/>
  </p:sldMasterIdLst>
  <p:notesMasterIdLst>
    <p:notesMasterId xmlns:r="http://schemas.openxmlformats.org/officeDocument/2006/relationships" r:id="R554b79f979004762"/>
  </p:notesMasterIdLst>
  <p:sldIdLst>
    <p:sldId xmlns:r="http://schemas.openxmlformats.org/officeDocument/2006/relationships" id="256" r:id="R72cb1cbe5bcd45d7"/>
    <p:sldId xmlns:r="http://schemas.openxmlformats.org/officeDocument/2006/relationships" id="257" r:id="Rb38b4680fa1c477d"/>
    <p:sldId xmlns:r="http://schemas.openxmlformats.org/officeDocument/2006/relationships" id="258" r:id="R81d7a521b22b4178"/>
    <p:sldId xmlns:r="http://schemas.openxmlformats.org/officeDocument/2006/relationships" id="259" r:id="R2f5e1709191c483e"/>
    <p:sldId xmlns:r="http://schemas.openxmlformats.org/officeDocument/2006/relationships" id="260" r:id="R6871109e87e24d69"/>
    <p:sldId xmlns:r="http://schemas.openxmlformats.org/officeDocument/2006/relationships" id="261" r:id="R1cee9f240ef440cf"/>
    <p:sldId xmlns:r="http://schemas.openxmlformats.org/officeDocument/2006/relationships" id="262" r:id="R6d74515186994c5a"/>
    <p:sldId xmlns:r="http://schemas.openxmlformats.org/officeDocument/2006/relationships" id="263" r:id="Rba9c2bc8479247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169047d4a24ba3" /><Relationship Type="http://schemas.openxmlformats.org/officeDocument/2006/relationships/slideMaster" Target="/ppt/slideMasters/slideMaster1.xml" Id="Rd12c756349fc403d" /><Relationship Type="http://schemas.openxmlformats.org/officeDocument/2006/relationships/notesMaster" Target="/ppt/notesMasters/notesMaster1.xml" Id="R554b79f979004762" /><Relationship Type="http://schemas.openxmlformats.org/officeDocument/2006/relationships/presProps" Target="/ppt/presProps.xml" Id="R0da53d73fea84d45" /><Relationship Type="http://schemas.openxmlformats.org/officeDocument/2006/relationships/tableStyles" Target="/ppt/tableStyles.xml" Id="Ra7334dee23b24617" /><Relationship Type="http://schemas.openxmlformats.org/officeDocument/2006/relationships/slide" Target="/ppt/slides/slide1.xml" Id="R72cb1cbe5bcd45d7" /><Relationship Type="http://schemas.openxmlformats.org/officeDocument/2006/relationships/slide" Target="/ppt/slides/slide2.xml" Id="Rb38b4680fa1c477d" /><Relationship Type="http://schemas.openxmlformats.org/officeDocument/2006/relationships/slide" Target="/ppt/slides/slide3.xml" Id="R81d7a521b22b4178" /><Relationship Type="http://schemas.openxmlformats.org/officeDocument/2006/relationships/slide" Target="/ppt/slides/slide4.xml" Id="R2f5e1709191c483e" /><Relationship Type="http://schemas.openxmlformats.org/officeDocument/2006/relationships/slide" Target="/ppt/slides/slide5.xml" Id="R6871109e87e24d69" /><Relationship Type="http://schemas.openxmlformats.org/officeDocument/2006/relationships/slide" Target="/ppt/slides/slide6.xml" Id="R1cee9f240ef440cf" /><Relationship Type="http://schemas.openxmlformats.org/officeDocument/2006/relationships/slide" Target="/ppt/slides/slide7.xml" Id="R6d74515186994c5a" /><Relationship Type="http://schemas.openxmlformats.org/officeDocument/2006/relationships/slide" Target="/ppt/slides/slide8.xml" Id="Rba9c2bc8479247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fd998612e94a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956e53fd1f49a1" /><Relationship Type="http://schemas.openxmlformats.org/officeDocument/2006/relationships/notesMaster" Target="/ppt/notesMasters/notesMaster1.xml" Id="Rae6e32ecd7ac48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4d47fe3b874230" /><Relationship Type="http://schemas.openxmlformats.org/officeDocument/2006/relationships/notesMaster" Target="/ppt/notesMasters/notesMaster1.xml" Id="R6d16587ac9754f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4f582f59d04168" /><Relationship Type="http://schemas.openxmlformats.org/officeDocument/2006/relationships/notesMaster" Target="/ppt/notesMasters/notesMaster1.xml" Id="R8d5563fa6d0b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e44d3ed958400f" /><Relationship Type="http://schemas.openxmlformats.org/officeDocument/2006/relationships/notesMaster" Target="/ppt/notesMasters/notesMaster1.xml" Id="R08be7e72fbf04f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ed6947acfa4864" /><Relationship Type="http://schemas.openxmlformats.org/officeDocument/2006/relationships/notesMaster" Target="/ppt/notesMasters/notesMaster1.xml" Id="R86c4b0d9dc4c4b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d1da8c1f9344f6" /><Relationship Type="http://schemas.openxmlformats.org/officeDocument/2006/relationships/notesMaster" Target="/ppt/notesMasters/notesMaster1.xml" Id="R53aa05c933f54b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173c9a8bcf480a" /><Relationship Type="http://schemas.openxmlformats.org/officeDocument/2006/relationships/notesMaster" Target="/ppt/notesMasters/notesMaster1.xml" Id="Raaf6292d004249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645934be624541" /><Relationship Type="http://schemas.openxmlformats.org/officeDocument/2006/relationships/notesMaster" Target="/ppt/notesMasters/notesMaster1.xml" Id="R4570840ec76841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封面。说明本课在课程蓝图中的位置，并用一个真实业务问题导入主题。</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学习目标与知识结构。先说明目标，再解释各知识点之间的依赖关系。</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核心概念：密文计算。结合要点解释定义、适用边界和验证方式。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核心概念：同态类型与性能成本。结合要点解释定义、适用边界和验证方式。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核心概念：联邦学习。结合要点解释定义、适用边界和验证方式。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核心概念：安全聚合与模型泄露。结合要点解释定义、适用边界和验证方式。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业务案例。引导学生先识别事实，再提出控制方案和可验证证据。</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知识检查。先让学生独立回答，再展示参考答案并回到本课学习目标。</a:t>
            </a:r>
          </a:p>
          <a:p xmlns:a="http://schemas.openxmlformats.org/drawingml/2006/main">
            <a:r>
              <a:t/>
            </a:r>
          </a:p>
          <a:p xmlns:a="http://schemas.openxmlformats.org/drawingml/2006/main">
            <a:r>
              <a:t>资料来源：</a:t>
            </a:r>
          </a:p>
          <a:p xmlns:a="http://schemas.openxmlformats.org/drawingml/2006/main">
            <a:r>
              <a:t>1. NIST（美国国家标准与技术研究院）隐私框架</a:t>
            </a:r>
          </a:p>
          <a:p xmlns:a="http://schemas.openxmlformats.org/drawingml/2006/main">
            <a:r>
              <a:t>https://www.nist.gov/privacy-framework</a:t>
            </a:r>
          </a:p>
          <a:p xmlns:a="http://schemas.openxmlformats.org/drawingml/2006/main">
            <a:r>
              <a:t>2. 正式题库 5.5 课时内容</a:t>
            </a:r>
          </a:p>
          <a:p xmlns:a="http://schemas.openxmlformats.org/drawingml/2006/main">
            <a:r>
              <a:t>backend/app/resources/content/question-bank-v1.json#lesson_theory_5_5</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abda3171a948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66734b85214c91" /><Relationship Type="http://schemas.openxmlformats.org/officeDocument/2006/relationships/slideLayout" Target="/ppt/slideLayouts/slideLayout1.xml" Id="R739ade05218941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9ade05218941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1d7d9aab634626" /><Relationship Type="http://schemas.openxmlformats.org/officeDocument/2006/relationships/image" Target="/ppt/media/image.png" Id="R2633197909214907" /><Relationship Type="http://schemas.openxmlformats.org/officeDocument/2006/relationships/notesSlide" Target="/ppt/notesSlides/notesSlide1.xml" Id="R6e52e3f119e6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c4004819a44794" /><Relationship Type="http://schemas.openxmlformats.org/officeDocument/2006/relationships/notesSlide" Target="/ppt/notesSlides/notesSlide2.xml" Id="R25e2b1ffc0cd4b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7869d31cf24864" /><Relationship Type="http://schemas.openxmlformats.org/officeDocument/2006/relationships/notesSlide" Target="/ppt/notesSlides/notesSlide3.xml" Id="Rf56d4d017ab845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4d80e1705046a2" /><Relationship Type="http://schemas.openxmlformats.org/officeDocument/2006/relationships/notesSlide" Target="/ppt/notesSlides/notesSlide4.xml" Id="R20b86585bd334e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8c6f84d5214421" /><Relationship Type="http://schemas.openxmlformats.org/officeDocument/2006/relationships/notesSlide" Target="/ppt/notesSlides/notesSlide5.xml" Id="R8c21062df28544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1db843570c4acd" /><Relationship Type="http://schemas.openxmlformats.org/officeDocument/2006/relationships/notesSlide" Target="/ppt/notesSlides/notesSlide6.xml" Id="Rf5d86a7b49434f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67464614984e1f" /><Relationship Type="http://schemas.openxmlformats.org/officeDocument/2006/relationships/notesSlide" Target="/ppt/notesSlides/notesSlide7.xml" Id="Ra9f2321594854b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321a0231c941a1" /><Relationship Type="http://schemas.openxmlformats.org/officeDocument/2006/relationships/notesSlide" Target="/ppt/notesSlides/notesSlide8.xml" Id="R79eda7231dbe4e67" /></Relationships>
</file>

<file path=ppt/slides/slide1.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63319790921490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D7C0FE-880F-47A8-8714-464BC4F7154D}"/>
              </a:ext>
            </a:extLst>
          </p:cNvPr>
          <p:cNvSpPr>
            <a:spLocks xmlns:a="http://schemas.openxmlformats.org/drawingml/2006/main" noGrp="1"/>
          </p:cNvSpPr>
          <p:nvPr/>
        </p:nvSpPr>
        <p:spPr>
          <a:xfrm xmlns:a="http://schemas.openxmlformats.org/drawingml/2006/main">
            <a:off x="666750" y="8572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CE7FF"/>
                </a:solidFill>
                <a:latin typeface="Microsoft YaHei"/>
                <a:ea typeface="Microsoft YaHei"/>
                <a:cs typeface="Microsoft YaHei"/>
              </a:defRPr>
            </a:pPr>
            <a:r>
              <a:rPr sz="1350" b="1">
                <a:solidFill>
                  <a:srgbClr val="DCE7FF"/>
                </a:solidFill>
                <a:latin typeface="Microsoft YaHei"/>
                <a:ea typeface="Microsoft YaHei"/>
                <a:cs typeface="Microsoft YaHei"/>
              </a:rPr>
              <a:t>第 5 章  ·  5.5</a:t>
            </a:r>
          </a:p>
        </p:txBody>
      </p:sp>
      <p:sp>
        <p:nvSpPr>
          <p:cNvPr id="3" name="">
            <a:extLst xmlns:a="http://schemas.openxmlformats.org/drawingml/2006/main">
              <a:ext uri="{FF2B5EF4-FFF2-40B4-BE49-F238E27FC236}">
                <a16:creationId xmlns:a16="http://schemas.microsoft.com/office/drawing/2014/main" id="{5362631E-7EDB-4FF2-B62B-A26B70CBA545}"/>
              </a:ext>
            </a:extLst>
          </p:cNvPr>
          <p:cNvSpPr>
            <a:spLocks xmlns:a="http://schemas.openxmlformats.org/drawingml/2006/main" noGrp="1"/>
          </p:cNvSpPr>
          <p:nvPr/>
        </p:nvSpPr>
        <p:spPr>
          <a:xfrm xmlns:a="http://schemas.openxmlformats.org/drawingml/2006/main">
            <a:off x="666750" y="1619250"/>
            <a:ext cx="571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Microsoft YaHei"/>
                <a:ea typeface="Microsoft YaHei"/>
                <a:cs typeface="Microsoft YaHei"/>
              </a:defRPr>
            </a:pPr>
            <a:r>
              <a:rPr sz="3150" b="1">
                <a:solidFill>
                  <a:srgbClr val="FFFFFF"/>
                </a:solidFill>
                <a:latin typeface="Microsoft YaHei"/>
                <a:ea typeface="Microsoft YaHei"/>
                <a:cs typeface="Microsoft YaHei"/>
              </a:rPr>
              <a:t>同态加密与联邦学习</a:t>
            </a:r>
          </a:p>
        </p:txBody>
      </p:sp>
      <p:sp>
        <p:nvSpPr>
          <p:cNvPr id="4" name="">
            <a:extLst xmlns:a="http://schemas.openxmlformats.org/drawingml/2006/main">
              <a:ext uri="{FF2B5EF4-FFF2-40B4-BE49-F238E27FC236}">
                <a16:creationId xmlns:a16="http://schemas.microsoft.com/office/drawing/2014/main" id="{C7201B0E-84C6-4229-B9F6-49E55C691D60}"/>
              </a:ext>
            </a:extLst>
          </p:cNvPr>
          <p:cNvSpPr>
            <a:spLocks xmlns:a="http://schemas.openxmlformats.org/drawingml/2006/main" noGrp="1"/>
          </p:cNvSpPr>
          <p:nvPr/>
        </p:nvSpPr>
        <p:spPr>
          <a:xfrm xmlns:a="http://schemas.openxmlformats.org/drawingml/2006/main">
            <a:off x="666750" y="4914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数据安全技术基础</a:t>
            </a:r>
          </a:p>
        </p:txBody>
      </p:sp>
      <p:sp>
        <p:nvSpPr>
          <p:cNvPr id="5" name="">
            <a:extLst xmlns:a="http://schemas.openxmlformats.org/drawingml/2006/main">
              <a:ext uri="{FF2B5EF4-FFF2-40B4-BE49-F238E27FC236}">
                <a16:creationId xmlns:a16="http://schemas.microsoft.com/office/drawing/2014/main" id="{F13F705D-1BD4-42C5-99BE-FB65A2A8B45C}"/>
              </a:ext>
            </a:extLst>
          </p:cNvPr>
          <p:cNvSpPr>
            <a:spLocks xmlns:a="http://schemas.openxmlformats.org/drawingml/2006/main" noGrp="1"/>
          </p:cNvSpPr>
          <p:nvPr/>
        </p:nvSpPr>
        <p:spPr>
          <a:xfrm xmlns:a="http://schemas.openxmlformats.org/drawingml/2006/main">
            <a:off x="666750" y="55816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CE7FF"/>
                </a:solidFill>
                <a:latin typeface="Microsoft YaHei"/>
                <a:ea typeface="Microsoft YaHei"/>
                <a:cs typeface="Microsoft YaHei"/>
              </a:defRPr>
            </a:pPr>
            <a:r>
              <a:rPr sz="1200" b="0">
                <a:solidFill>
                  <a:srgbClr val="DCE7FF"/>
                </a:solidFill>
                <a:latin typeface="Microsoft YaHei"/>
                <a:ea typeface="Microsoft YaHei"/>
                <a:cs typeface="Microsoft YaHei"/>
              </a:rPr>
              <a:t>跃科网络空间安全实训平台</a:t>
            </a:r>
          </a:p>
        </p:txBody>
      </p:sp>
    </p:spTree>
    <p:extLst>
      <p:ext uri="{BB962C8B-B14F-4D97-AF65-F5344CB8AC3E}">
        <p14:creationId xmlns:p14="http://schemas.microsoft.com/office/powerpoint/2010/main" val="12939724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3192F6-22DC-49DF-90B8-1CC3093780EB}"/>
              </a:ext>
            </a:extLst>
          </p:cNvPr>
          <p:cNvSpPr>
            <a:spLocks xmlns:a="http://schemas.openxmlformats.org/drawingml/2006/main" noGrp="1"/>
          </p:cNvSpPr>
          <p:nvPr/>
        </p:nvSpPr>
        <p:spPr>
          <a:xfrm xmlns:a="http://schemas.openxmlformats.org/drawingml/2006/main">
            <a:off x="609600" y="43815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033"/>
                </a:solidFill>
                <a:latin typeface="Microsoft YaHei"/>
                <a:ea typeface="Microsoft YaHei"/>
                <a:cs typeface="Microsoft YaHei"/>
              </a:defRPr>
            </a:pPr>
            <a:r>
              <a:rPr sz="2550" b="1">
                <a:solidFill>
                  <a:srgbClr val="172033"/>
                </a:solidFill>
                <a:latin typeface="Microsoft YaHei"/>
                <a:ea typeface="Microsoft YaHei"/>
                <a:cs typeface="Microsoft YaHei"/>
              </a:rPr>
              <a:t>本课目标与知识结构</a:t>
            </a:r>
          </a:p>
        </p:txBody>
      </p:sp>
      <p:sp>
        <p:nvSpPr>
          <p:cNvPr id="2" name="">
            <a:extLst xmlns:a="http://schemas.openxmlformats.org/drawingml/2006/main">
              <a:ext uri="{FF2B5EF4-FFF2-40B4-BE49-F238E27FC236}">
                <a16:creationId xmlns:a16="http://schemas.microsoft.com/office/drawing/2014/main" id="{BBCF802B-8C97-47F2-A7A9-26AD222F3402}"/>
              </a:ext>
            </a:extLst>
          </p:cNvPr>
          <p:cNvSpPr>
            <a:spLocks xmlns:a="http://schemas.openxmlformats.org/drawingml/2006/main" noGrp="1"/>
          </p:cNvSpPr>
          <p:nvPr/>
        </p:nvSpPr>
        <p:spPr>
          <a:xfrm xmlns:a="http://schemas.openxmlformats.org/drawingml/2006/main">
            <a:off x="9906000" y="361950"/>
            <a:ext cx="167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57F5"/>
                </a:solidFill>
                <a:latin typeface="Microsoft YaHei"/>
                <a:ea typeface="Microsoft YaHei"/>
                <a:cs typeface="Microsoft YaHei"/>
              </a:defRPr>
            </a:pPr>
            <a:r>
              <a:rPr sz="3150" b="1">
                <a:solidFill>
                  <a:srgbClr val="2457F5"/>
                </a:solidFill>
                <a:latin typeface="Microsoft YaHei"/>
                <a:ea typeface="Microsoft YaHei"/>
                <a:cs typeface="Microsoft YaHei"/>
              </a:rPr>
              <a:t>5.5</a:t>
            </a:r>
          </a:p>
        </p:txBody>
      </p:sp>
      <p:sp>
        <p:nvSpPr>
          <p:cNvPr id="3" name="">
            <a:extLst xmlns:a="http://schemas.openxmlformats.org/drawingml/2006/main">
              <a:ext uri="{FF2B5EF4-FFF2-40B4-BE49-F238E27FC236}">
                <a16:creationId xmlns:a16="http://schemas.microsoft.com/office/drawing/2014/main" id="{D45F0D13-AC17-4D28-BC9C-20933DBE4E19}"/>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学习目标</a:t>
            </a:r>
          </a:p>
        </p:txBody>
      </p:sp>
      <p:sp>
        <p:nvSpPr>
          <p:cNvPr id="4" name="">
            <a:extLst xmlns:a="http://schemas.openxmlformats.org/drawingml/2006/main">
              <a:ext uri="{FF2B5EF4-FFF2-40B4-BE49-F238E27FC236}">
                <a16:creationId xmlns:a16="http://schemas.microsoft.com/office/drawing/2014/main" id="{706DFF9F-3F91-4F10-ACA9-C28905FF92D8}"/>
              </a:ext>
            </a:extLst>
          </p:cNvPr>
          <p:cNvSpPr>
            <a:spLocks xmlns:a="http://schemas.openxmlformats.org/drawingml/2006/main" noGrp="1"/>
          </p:cNvSpPr>
          <p:nvPr/>
        </p:nvSpPr>
        <p:spPr>
          <a:xfrm xmlns:a="http://schemas.openxmlformats.org/drawingml/2006/main">
            <a:off x="685800" y="2000250"/>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01  能够解释同态加密支持在密文上计算并由持钥方解密结果的基本思想。</a:t>
            </a:r>
          </a:p>
          <a:p xmlns:a="http://schemas.openxmlformats.org/drawingml/2006/main">
            <a:r>
              <a:t/>
            </a:r>
          </a:p>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02  能够说明联邦学习的数据不出域目标、参数泄露风险和安全聚合需求。</a:t>
            </a:r>
          </a:p>
        </p:txBody>
      </p:sp>
      <p:sp>
        <p:nvSpPr>
          <p:cNvPr id="5" name="">
            <a:extLst xmlns:a="http://schemas.openxmlformats.org/drawingml/2006/main">
              <a:ext uri="{FF2B5EF4-FFF2-40B4-BE49-F238E27FC236}">
                <a16:creationId xmlns:a16="http://schemas.microsoft.com/office/drawing/2014/main" id="{DAE5FE03-A09B-42B7-B52B-94381409F20C}"/>
              </a:ext>
            </a:extLst>
          </p:cNvPr>
          <p:cNvSpPr>
            <a:spLocks xmlns:a="http://schemas.openxmlformats.org/drawingml/2006/main" noGrp="1"/>
          </p:cNvSpPr>
          <p:nvPr/>
        </p:nvSpPr>
        <p:spPr>
          <a:xfrm xmlns:a="http://schemas.openxmlformats.org/drawingml/2006/main">
            <a:off x="619125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知识结构</a:t>
            </a:r>
          </a:p>
        </p:txBody>
      </p:sp>
      <p:sp>
        <p:nvSpPr>
          <p:cNvPr id="6" name="">
            <a:extLst xmlns:a="http://schemas.openxmlformats.org/drawingml/2006/main">
              <a:ext uri="{FF2B5EF4-FFF2-40B4-BE49-F238E27FC236}">
                <a16:creationId xmlns:a16="http://schemas.microsoft.com/office/drawing/2014/main" id="{B1DCEAC1-D86F-446A-A565-F8CC25709DF0}"/>
              </a:ext>
            </a:extLst>
          </p:cNvPr>
          <p:cNvSpPr>
            <a:spLocks xmlns:a="http://schemas.openxmlformats.org/drawingml/2006/main" noGrp="1"/>
          </p:cNvSpPr>
          <p:nvPr/>
        </p:nvSpPr>
        <p:spPr>
          <a:xfrm xmlns:a="http://schemas.openxmlformats.org/drawingml/2006/main">
            <a:off x="6191250" y="2000250"/>
            <a:ext cx="5143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01  密文计算</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02  同态类型与性能成本</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03  联邦学习</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04  安全聚合与模型泄露</a:t>
            </a:r>
          </a:p>
        </p:txBody>
      </p:sp>
      <p:sp>
        <p:nvSpPr>
          <p:cNvPr id="7" name="">
            <a:extLst xmlns:a="http://schemas.openxmlformats.org/drawingml/2006/main">
              <a:ext uri="{FF2B5EF4-FFF2-40B4-BE49-F238E27FC236}">
                <a16:creationId xmlns:a16="http://schemas.microsoft.com/office/drawing/2014/main" id="{863C21AE-3DB0-4C28-8B25-4F938AE56CD6}"/>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8" name="">
            <a:extLst xmlns:a="http://schemas.openxmlformats.org/drawingml/2006/main">
              <a:ext uri="{FF2B5EF4-FFF2-40B4-BE49-F238E27FC236}">
                <a16:creationId xmlns:a16="http://schemas.microsoft.com/office/drawing/2014/main" id="{71FA8A97-82EB-4430-A4A5-D3207118776E}"/>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02  来源与版权信息见演讲者备注</a:t>
            </a:r>
          </a:p>
        </p:txBody>
      </p:sp>
    </p:spTree>
    <p:extLst>
      <p:ext uri="{BB962C8B-B14F-4D97-AF65-F5344CB8AC3E}">
        <p14:creationId xmlns:p14="http://schemas.microsoft.com/office/powerpoint/2010/main" val="20575588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1EA7C6-443A-4D7C-B6B2-BB14E84A0CB6}"/>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01  核心概念</a:t>
            </a:r>
          </a:p>
        </p:txBody>
      </p:sp>
      <p:sp>
        <p:nvSpPr>
          <p:cNvPr id="2" name="">
            <a:extLst xmlns:a="http://schemas.openxmlformats.org/drawingml/2006/main">
              <a:ext uri="{FF2B5EF4-FFF2-40B4-BE49-F238E27FC236}">
                <a16:creationId xmlns:a16="http://schemas.microsoft.com/office/drawing/2014/main" id="{93990D2E-44BC-46F9-9E6F-00B49D924CFA}"/>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密文计算</a:t>
            </a:r>
          </a:p>
        </p:txBody>
      </p:sp>
      <p:sp>
        <p:nvSpPr>
          <p:cNvPr id="3" name="">
            <a:extLst xmlns:a="http://schemas.openxmlformats.org/drawingml/2006/main">
              <a:ext uri="{FF2B5EF4-FFF2-40B4-BE49-F238E27FC236}">
                <a16:creationId xmlns:a16="http://schemas.microsoft.com/office/drawing/2014/main" id="{415B3A5D-5149-4129-95F2-387AB9D6BF32}"/>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同态加密允许对密文执行特定运算，解密结果与对明文执行对应运算一致。计算方可不见原始数据，但密钥持有者、输入合法性和输出权限仍需单独控制。</a:t>
            </a:r>
          </a:p>
        </p:txBody>
      </p:sp>
      <p:sp>
        <p:nvSpPr>
          <p:cNvPr id="4" name="">
            <a:extLst xmlns:a="http://schemas.openxmlformats.org/drawingml/2006/main">
              <a:ext uri="{FF2B5EF4-FFF2-40B4-BE49-F238E27FC236}">
                <a16:creationId xmlns:a16="http://schemas.microsoft.com/office/drawing/2014/main" id="{5184C987-1DAF-4756-9E2C-AFB2D8845994}"/>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加法或乘法能力由具体方案决定</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密文尺寸和计算时间通常显著增加</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输入需绑定来源并防止恶意构造</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解密端只释放授权结果</a:t>
            </a:r>
          </a:p>
        </p:txBody>
      </p:sp>
      <p:sp>
        <p:nvSpPr>
          <p:cNvPr id="5" name="">
            <a:extLst xmlns:a="http://schemas.openxmlformats.org/drawingml/2006/main">
              <a:ext uri="{FF2B5EF4-FFF2-40B4-BE49-F238E27FC236}">
                <a16:creationId xmlns:a16="http://schemas.microsoft.com/office/drawing/2014/main" id="{1A55EEFF-1CBD-4C54-AF79-3378DEC50F5F}"/>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6" name="">
            <a:extLst xmlns:a="http://schemas.openxmlformats.org/drawingml/2006/main">
              <a:ext uri="{FF2B5EF4-FFF2-40B4-BE49-F238E27FC236}">
                <a16:creationId xmlns:a16="http://schemas.microsoft.com/office/drawing/2014/main" id="{E9410EE2-9E59-4BB5-AEF3-2A68B57870FD}"/>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03  来源与版权信息见演讲者备注</a:t>
            </a:r>
          </a:p>
        </p:txBody>
      </p:sp>
    </p:spTree>
    <p:extLst>
      <p:ext uri="{BB962C8B-B14F-4D97-AF65-F5344CB8AC3E}">
        <p14:creationId xmlns:p14="http://schemas.microsoft.com/office/powerpoint/2010/main" val="1444904277"/>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133C03-24E6-4C57-A0BE-49F4927ED031}"/>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02  核心概念</a:t>
            </a:r>
          </a:p>
        </p:txBody>
      </p:sp>
      <p:sp>
        <p:nvSpPr>
          <p:cNvPr id="2" name="">
            <a:extLst xmlns:a="http://schemas.openxmlformats.org/drawingml/2006/main">
              <a:ext uri="{FF2B5EF4-FFF2-40B4-BE49-F238E27FC236}">
                <a16:creationId xmlns:a16="http://schemas.microsoft.com/office/drawing/2014/main" id="{2EA57A4F-E092-416C-8DE0-03C186B427CE}"/>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同态类型与性能成本</a:t>
            </a:r>
          </a:p>
        </p:txBody>
      </p:sp>
      <p:sp>
        <p:nvSpPr>
          <p:cNvPr id="3" name="">
            <a:extLst xmlns:a="http://schemas.openxmlformats.org/drawingml/2006/main">
              <a:ext uri="{FF2B5EF4-FFF2-40B4-BE49-F238E27FC236}">
                <a16:creationId xmlns:a16="http://schemas.microsoft.com/office/drawing/2014/main" id="{D522A9F0-80A2-4901-893D-D70DEAD01D2E}"/>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部分同态方案只支持有限运算，全同态方案可组合更丰富电路但成本更高。选型应从实际计算表达式、精度、数据规模和时延出发，而不是只追求全同态标签。</a:t>
            </a:r>
          </a:p>
        </p:txBody>
      </p:sp>
      <p:sp>
        <p:nvSpPr>
          <p:cNvPr id="4" name="">
            <a:extLst xmlns:a="http://schemas.openxmlformats.org/drawingml/2006/main">
              <a:ext uri="{FF2B5EF4-FFF2-40B4-BE49-F238E27FC236}">
                <a16:creationId xmlns:a16="http://schemas.microsoft.com/office/drawing/2014/main" id="{62EB55E7-2FC7-4D47-B52F-22C2ED01558A}"/>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统计求和可能不需要全同态能力</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乘法深度会影响噪声增长和参数</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批处理可摊薄部分计算开销</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用真实数据量开展性能验证</a:t>
            </a:r>
          </a:p>
        </p:txBody>
      </p:sp>
      <p:sp>
        <p:nvSpPr>
          <p:cNvPr id="5" name="">
            <a:extLst xmlns:a="http://schemas.openxmlformats.org/drawingml/2006/main">
              <a:ext uri="{FF2B5EF4-FFF2-40B4-BE49-F238E27FC236}">
                <a16:creationId xmlns:a16="http://schemas.microsoft.com/office/drawing/2014/main" id="{259916AA-FEAD-4EDB-A5DF-E697F1831166}"/>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6" name="">
            <a:extLst xmlns:a="http://schemas.openxmlformats.org/drawingml/2006/main">
              <a:ext uri="{FF2B5EF4-FFF2-40B4-BE49-F238E27FC236}">
                <a16:creationId xmlns:a16="http://schemas.microsoft.com/office/drawing/2014/main" id="{886B712B-9235-4185-BAEE-4FEAF6C4365D}"/>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04  来源与版权信息见演讲者备注</a:t>
            </a:r>
          </a:p>
        </p:txBody>
      </p:sp>
    </p:spTree>
    <p:extLst>
      <p:ext uri="{BB962C8B-B14F-4D97-AF65-F5344CB8AC3E}">
        <p14:creationId xmlns:p14="http://schemas.microsoft.com/office/powerpoint/2010/main" val="13564861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7EBCFA-E7CD-490F-B9E2-94CC7D8DF6CA}"/>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03  核心概念</a:t>
            </a:r>
          </a:p>
        </p:txBody>
      </p:sp>
      <p:sp>
        <p:nvSpPr>
          <p:cNvPr id="2" name="">
            <a:extLst xmlns:a="http://schemas.openxmlformats.org/drawingml/2006/main">
              <a:ext uri="{FF2B5EF4-FFF2-40B4-BE49-F238E27FC236}">
                <a16:creationId xmlns:a16="http://schemas.microsoft.com/office/drawing/2014/main" id="{680C65D2-E7CC-4CD3-9F41-3CF41511D570}"/>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联邦学习</a:t>
            </a:r>
          </a:p>
        </p:txBody>
      </p:sp>
      <p:sp>
        <p:nvSpPr>
          <p:cNvPr id="3" name="">
            <a:extLst xmlns:a="http://schemas.openxmlformats.org/drawingml/2006/main">
              <a:ext uri="{FF2B5EF4-FFF2-40B4-BE49-F238E27FC236}">
                <a16:creationId xmlns:a16="http://schemas.microsoft.com/office/drawing/2014/main" id="{EAFD9D05-6E29-4395-B64D-FE0FC9E50010}"/>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联邦学习把训练留在各参与方本地，只汇总模型更新而非集中原始样本。参数更新仍可能暴露信息，且数据分布差异会影响模型收敛和公平性。</a:t>
            </a:r>
          </a:p>
        </p:txBody>
      </p:sp>
      <p:sp>
        <p:nvSpPr>
          <p:cNvPr id="4" name="">
            <a:extLst xmlns:a="http://schemas.openxmlformats.org/drawingml/2006/main">
              <a:ext uri="{FF2B5EF4-FFF2-40B4-BE49-F238E27FC236}">
                <a16:creationId xmlns:a16="http://schemas.microsoft.com/office/drawing/2014/main" id="{1CABB9A0-F5BA-4F4A-8FC8-6ACDF240221F}"/>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本地样本不直接上传中心服务器</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记录参与轮次、模型版本和聚合策略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处理各节点数据分布不一致问题</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客户端退出和掉线需要容错机制</a:t>
            </a:r>
          </a:p>
        </p:txBody>
      </p:sp>
      <p:sp>
        <p:nvSpPr>
          <p:cNvPr id="5" name="">
            <a:extLst xmlns:a="http://schemas.openxmlformats.org/drawingml/2006/main">
              <a:ext uri="{FF2B5EF4-FFF2-40B4-BE49-F238E27FC236}">
                <a16:creationId xmlns:a16="http://schemas.microsoft.com/office/drawing/2014/main" id="{EAFA024F-C492-4B04-99F3-75633EBD6273}"/>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6" name="">
            <a:extLst xmlns:a="http://schemas.openxmlformats.org/drawingml/2006/main">
              <a:ext uri="{FF2B5EF4-FFF2-40B4-BE49-F238E27FC236}">
                <a16:creationId xmlns:a16="http://schemas.microsoft.com/office/drawing/2014/main" id="{0995551C-201C-4806-9D99-9347ACD80A2E}"/>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05  来源与版权信息见演讲者备注</a:t>
            </a:r>
          </a:p>
        </p:txBody>
      </p:sp>
    </p:spTree>
    <p:extLst>
      <p:ext uri="{BB962C8B-B14F-4D97-AF65-F5344CB8AC3E}">
        <p14:creationId xmlns:p14="http://schemas.microsoft.com/office/powerpoint/2010/main" val="1437834150"/>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C55043-7E38-48B2-B560-6FE2057424BC}"/>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04  核心概念</a:t>
            </a:r>
          </a:p>
        </p:txBody>
      </p:sp>
      <p:sp>
        <p:nvSpPr>
          <p:cNvPr id="2" name="">
            <a:extLst xmlns:a="http://schemas.openxmlformats.org/drawingml/2006/main">
              <a:ext uri="{FF2B5EF4-FFF2-40B4-BE49-F238E27FC236}">
                <a16:creationId xmlns:a16="http://schemas.microsoft.com/office/drawing/2014/main" id="{5CAA0F55-1CA2-469A-9ECE-1F294A26F42D}"/>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安全聚合与模型泄露</a:t>
            </a:r>
          </a:p>
        </p:txBody>
      </p:sp>
      <p:sp>
        <p:nvSpPr>
          <p:cNvPr id="3" name="">
            <a:extLst xmlns:a="http://schemas.openxmlformats.org/drawingml/2006/main">
              <a:ext uri="{FF2B5EF4-FFF2-40B4-BE49-F238E27FC236}">
                <a16:creationId xmlns:a16="http://schemas.microsoft.com/office/drawing/2014/main" id="{B9D20EC9-1A0D-4408-8D4F-83A6986FE69F}"/>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安全聚合使服务器只能看到多方更新的合计值，降低对单个客户端更新的直接观察。它不能自动防止梯度反演、成员推断、模型投毒和恶意结果操纵。</a:t>
            </a:r>
          </a:p>
        </p:txBody>
      </p:sp>
      <p:sp>
        <p:nvSpPr>
          <p:cNvPr id="4" name="">
            <a:extLst xmlns:a="http://schemas.openxmlformats.org/drawingml/2006/main">
              <a:ext uri="{FF2B5EF4-FFF2-40B4-BE49-F238E27FC236}">
                <a16:creationId xmlns:a16="http://schemas.microsoft.com/office/drawing/2014/main" id="{E9AB67A4-0E8B-498D-B493-0A2F8750ED15}"/>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设置最小参与方数量避免单方暴露</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对更新幅度和异常方向进行检测</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结合差分隐私降低单样本泄露</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评估最终模型的成员推断风险</a:t>
            </a:r>
          </a:p>
        </p:txBody>
      </p:sp>
      <p:sp>
        <p:nvSpPr>
          <p:cNvPr id="5" name="">
            <a:extLst xmlns:a="http://schemas.openxmlformats.org/drawingml/2006/main">
              <a:ext uri="{FF2B5EF4-FFF2-40B4-BE49-F238E27FC236}">
                <a16:creationId xmlns:a16="http://schemas.microsoft.com/office/drawing/2014/main" id="{BA45B649-05C4-495B-AB0D-258AF1376797}"/>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6" name="">
            <a:extLst xmlns:a="http://schemas.openxmlformats.org/drawingml/2006/main">
              <a:ext uri="{FF2B5EF4-FFF2-40B4-BE49-F238E27FC236}">
                <a16:creationId xmlns:a16="http://schemas.microsoft.com/office/drawing/2014/main" id="{2698D35C-9CBA-4F82-8830-010862B2A37F}"/>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06  来源与版权信息见演讲者备注</a:t>
            </a:r>
          </a:p>
        </p:txBody>
      </p:sp>
    </p:spTree>
    <p:extLst>
      <p:ext uri="{BB962C8B-B14F-4D97-AF65-F5344CB8AC3E}">
        <p14:creationId xmlns:p14="http://schemas.microsoft.com/office/powerpoint/2010/main" val="1930827244"/>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CB43A2-795B-4C33-A76E-FCD7E3D7079B}"/>
              </a:ext>
            </a:extLst>
          </p:cNvPr>
          <p:cNvSpPr>
            <a:spLocks xmlns:a="http://schemas.openxmlformats.org/drawingml/2006/main" noGrp="1"/>
          </p:cNvSpPr>
          <p:nvPr/>
        </p:nvSpPr>
        <p:spPr>
          <a:xfrm xmlns:a="http://schemas.openxmlformats.org/drawingml/2006/main">
            <a:off x="628650" y="438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457F5"/>
                </a:solidFill>
                <a:latin typeface="Microsoft YaHei"/>
                <a:ea typeface="Microsoft YaHei"/>
                <a:cs typeface="Microsoft YaHei"/>
              </a:defRPr>
            </a:pPr>
            <a:r>
              <a:rPr sz="1500" b="1">
                <a:solidFill>
                  <a:srgbClr val="2457F5"/>
                </a:solidFill>
                <a:latin typeface="Microsoft YaHei"/>
                <a:ea typeface="Microsoft YaHei"/>
                <a:cs typeface="Microsoft YaHei"/>
              </a:rPr>
              <a:t>业务案例</a:t>
            </a:r>
          </a:p>
        </p:txBody>
      </p:sp>
      <p:sp>
        <p:nvSpPr>
          <p:cNvPr id="2" name="">
            <a:extLst xmlns:a="http://schemas.openxmlformats.org/drawingml/2006/main">
              <a:ext uri="{FF2B5EF4-FFF2-40B4-BE49-F238E27FC236}">
                <a16:creationId xmlns:a16="http://schemas.microsoft.com/office/drawing/2014/main" id="{552EB73E-E837-4EB0-85D4-1E052F59C3FA}"/>
              </a:ext>
            </a:extLst>
          </p:cNvPr>
          <p:cNvSpPr>
            <a:spLocks xmlns:a="http://schemas.openxmlformats.org/drawingml/2006/main" noGrp="1"/>
          </p:cNvSpPr>
          <p:nvPr/>
        </p:nvSpPr>
        <p:spPr>
          <a:xfrm xmlns:a="http://schemas.openxmlformats.org/drawingml/2006/main">
            <a:off x="628650" y="10287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把概念放回真实决策</a:t>
            </a:r>
          </a:p>
        </p:txBody>
      </p:sp>
      <p:sp>
        <p:nvSpPr>
          <p:cNvPr id="3" name="">
            <a:extLst xmlns:a="http://schemas.openxmlformats.org/drawingml/2006/main">
              <a:ext uri="{FF2B5EF4-FFF2-40B4-BE49-F238E27FC236}">
                <a16:creationId xmlns:a16="http://schemas.microsoft.com/office/drawing/2014/main" id="{8DF99D17-10A9-4F62-B871-26801AEFC341}"/>
              </a:ext>
            </a:extLst>
          </p:cNvPr>
          <p:cNvSpPr>
            <a:spLocks xmlns:a="http://schemas.openxmlformats.org/drawingml/2006/main" noGrp="1"/>
          </p:cNvSpPr>
          <p:nvPr/>
        </p:nvSpPr>
        <p:spPr>
          <a:xfrm xmlns:a="http://schemas.openxmlformats.org/drawingml/2006/main">
            <a:off x="628650" y="2133600"/>
            <a:ext cx="10858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Microsoft YaHei"/>
                <a:ea typeface="Microsoft YaHei"/>
                <a:cs typeface="Microsoft YaHei"/>
              </a:defRPr>
            </a:pPr>
            <a:r>
              <a:rPr sz="2025" b="0">
                <a:solidFill>
                  <a:srgbClr val="172033"/>
                </a:solidFill>
                <a:latin typeface="Microsoft YaHei"/>
                <a:ea typeface="Microsoft YaHei"/>
                <a:cs typeface="Microsoft YaHei"/>
              </a:rPr>
              <a:t>多家机构在本地训练模型，仅上传受保护的参数更新；聚合端使用安全聚合，仍需评估梯度反演、恶意客户端和模型偏差。</a:t>
            </a:r>
          </a:p>
        </p:txBody>
      </p:sp>
      <p:sp>
        <p:nvSpPr>
          <p:cNvPr id="4" name="">
            <a:extLst xmlns:a="http://schemas.openxmlformats.org/drawingml/2006/main">
              <a:ext uri="{FF2B5EF4-FFF2-40B4-BE49-F238E27FC236}">
                <a16:creationId xmlns:a16="http://schemas.microsoft.com/office/drawing/2014/main" id="{EFD1280E-713D-40F3-A54C-1BC45BC1054B}"/>
              </a:ext>
            </a:extLst>
          </p:cNvPr>
          <p:cNvSpPr>
            <a:spLocks xmlns:a="http://schemas.openxmlformats.org/drawingml/2006/main" noGrp="1"/>
          </p:cNvSpPr>
          <p:nvPr/>
        </p:nvSpPr>
        <p:spPr>
          <a:xfrm xmlns:a="http://schemas.openxmlformats.org/drawingml/2006/main">
            <a:off x="628650" y="4248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46CD"/>
                </a:solidFill>
                <a:latin typeface="Microsoft YaHei"/>
                <a:ea typeface="Microsoft YaHei"/>
                <a:cs typeface="Microsoft YaHei"/>
              </a:defRPr>
            </a:pPr>
            <a:r>
              <a:rPr sz="1425" b="1">
                <a:solidFill>
                  <a:srgbClr val="1846CD"/>
                </a:solidFill>
                <a:latin typeface="Microsoft YaHei"/>
                <a:ea typeface="Microsoft YaHei"/>
                <a:cs typeface="Microsoft YaHei"/>
              </a:rPr>
              <a:t>课堂讨论</a:t>
            </a:r>
          </a:p>
        </p:txBody>
      </p:sp>
      <p:sp>
        <p:nvSpPr>
          <p:cNvPr id="5" name="">
            <a:extLst xmlns:a="http://schemas.openxmlformats.org/drawingml/2006/main">
              <a:ext uri="{FF2B5EF4-FFF2-40B4-BE49-F238E27FC236}">
                <a16:creationId xmlns:a16="http://schemas.microsoft.com/office/drawing/2014/main" id="{F519FBDF-10F8-4B54-B532-7843D3F59E16}"/>
              </a:ext>
            </a:extLst>
          </p:cNvPr>
          <p:cNvSpPr>
            <a:spLocks xmlns:a="http://schemas.openxmlformats.org/drawingml/2006/main" noGrp="1"/>
          </p:cNvSpPr>
          <p:nvPr/>
        </p:nvSpPr>
        <p:spPr>
          <a:xfrm xmlns:a="http://schemas.openxmlformats.org/drawingml/2006/main">
            <a:off x="628650" y="4724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01  案例中的核心数据资产、威胁和责任主体分别是什么？</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02  优先控制措施是什么，如何用日志、测试或指标验证效果？</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03  哪些边界条件变化后，需要重新评估方案？</a:t>
            </a:r>
          </a:p>
        </p:txBody>
      </p:sp>
      <p:sp>
        <p:nvSpPr>
          <p:cNvPr id="6" name="">
            <a:extLst xmlns:a="http://schemas.openxmlformats.org/drawingml/2006/main">
              <a:ext uri="{FF2B5EF4-FFF2-40B4-BE49-F238E27FC236}">
                <a16:creationId xmlns:a16="http://schemas.microsoft.com/office/drawing/2014/main" id="{D55EE5B7-77CC-422E-8FF3-93CBD288E7A8}"/>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5.5  数据安全技术基础</a:t>
            </a:r>
          </a:p>
        </p:txBody>
      </p:sp>
      <p:sp>
        <p:nvSpPr>
          <p:cNvPr id="7" name="">
            <a:extLst xmlns:a="http://schemas.openxmlformats.org/drawingml/2006/main">
              <a:ext uri="{FF2B5EF4-FFF2-40B4-BE49-F238E27FC236}">
                <a16:creationId xmlns:a16="http://schemas.microsoft.com/office/drawing/2014/main" id="{2C9C9DA9-BFC7-455B-82B1-6FAA9614D7EE}"/>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07  来源与版权信息见演讲者备注</a:t>
            </a:r>
          </a:p>
        </p:txBody>
      </p:sp>
    </p:spTree>
    <p:extLst>
      <p:ext uri="{BB962C8B-B14F-4D97-AF65-F5344CB8AC3E}">
        <p14:creationId xmlns:p14="http://schemas.microsoft.com/office/powerpoint/2010/main" val="1246450812"/>
      </p:ext>
    </p:extLst>
  </p:cSld>
</p:sld>
</file>

<file path=ppt/slides/slide8.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DC42F9-8104-4323-90B7-CC1F2F175D8B}"/>
              </a:ext>
            </a:extLst>
          </p:cNvPr>
          <p:cNvSpPr>
            <a:spLocks xmlns:a="http://schemas.openxmlformats.org/drawingml/2006/main" noGrp="1"/>
          </p:cNvSpPr>
          <p:nvPr/>
        </p:nvSpPr>
        <p:spPr>
          <a:xfrm xmlns:a="http://schemas.openxmlformats.org/drawingml/2006/main">
            <a:off x="628650" y="4572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CE7FF"/>
                </a:solidFill>
                <a:latin typeface="Microsoft YaHei"/>
                <a:ea typeface="Microsoft YaHei"/>
                <a:cs typeface="Microsoft YaHei"/>
              </a:defRPr>
            </a:pPr>
            <a:r>
              <a:rPr sz="1500" b="1">
                <a:solidFill>
                  <a:srgbClr val="DCE7FF"/>
                </a:solidFill>
                <a:latin typeface="Microsoft YaHei"/>
                <a:ea typeface="Microsoft YaHei"/>
                <a:cs typeface="Microsoft YaHei"/>
              </a:rPr>
              <a:t>知识检查</a:t>
            </a:r>
          </a:p>
        </p:txBody>
      </p:sp>
      <p:sp>
        <p:nvSpPr>
          <p:cNvPr id="2" name="">
            <a:extLst xmlns:a="http://schemas.openxmlformats.org/drawingml/2006/main">
              <a:ext uri="{FF2B5EF4-FFF2-40B4-BE49-F238E27FC236}">
                <a16:creationId xmlns:a16="http://schemas.microsoft.com/office/drawing/2014/main" id="{1165E3EE-4B9D-43C0-9C73-9B38855CCA0F}"/>
              </a:ext>
            </a:extLst>
          </p:cNvPr>
          <p:cNvSpPr>
            <a:spLocks xmlns:a="http://schemas.openxmlformats.org/drawingml/2006/main" noGrp="1"/>
          </p:cNvSpPr>
          <p:nvPr/>
        </p:nvSpPr>
        <p:spPr>
          <a:xfrm xmlns:a="http://schemas.openxmlformats.org/drawingml/2006/main">
            <a:off x="628650" y="13525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联邦学习是否等同于数据绝不泄露？</a:t>
            </a:r>
          </a:p>
        </p:txBody>
      </p:sp>
      <p:sp>
        <p:nvSpPr>
          <p:cNvPr id="3" name="">
            <a:extLst xmlns:a="http://schemas.openxmlformats.org/drawingml/2006/main">
              <a:ext uri="{FF2B5EF4-FFF2-40B4-BE49-F238E27FC236}">
                <a16:creationId xmlns:a16="http://schemas.microsoft.com/office/drawing/2014/main" id="{1D11D496-D3C5-4F7F-8F83-D56AD16E8FB1}"/>
              </a:ext>
            </a:extLst>
          </p:cNvPr>
          <p:cNvSpPr>
            <a:spLocks xmlns:a="http://schemas.openxmlformats.org/drawingml/2006/main" noGrp="1"/>
          </p:cNvSpPr>
          <p:nvPr/>
        </p:nvSpPr>
        <p:spPr>
          <a:xfrm xmlns:a="http://schemas.openxmlformats.org/drawingml/2006/main">
            <a:off x="628650" y="37147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9968"/>
                </a:solidFill>
                <a:latin typeface="Microsoft YaHei"/>
                <a:ea typeface="Microsoft YaHei"/>
                <a:cs typeface="Microsoft YaHei"/>
              </a:defRPr>
            </a:pPr>
            <a:r>
              <a:rPr sz="1425" b="1">
                <a:solidFill>
                  <a:srgbClr val="149968"/>
                </a:solidFill>
                <a:latin typeface="Microsoft YaHei"/>
                <a:ea typeface="Microsoft YaHei"/>
                <a:cs typeface="Microsoft YaHei"/>
              </a:rPr>
              <a:t>参考答案</a:t>
            </a:r>
          </a:p>
        </p:txBody>
      </p:sp>
      <p:sp>
        <p:nvSpPr>
          <p:cNvPr id="4" name="">
            <a:extLst xmlns:a="http://schemas.openxmlformats.org/drawingml/2006/main">
              <a:ext uri="{FF2B5EF4-FFF2-40B4-BE49-F238E27FC236}">
                <a16:creationId xmlns:a16="http://schemas.microsoft.com/office/drawing/2014/main" id="{2E178F16-42BD-4700-A943-B0A60FE8EEA1}"/>
              </a:ext>
            </a:extLst>
          </p:cNvPr>
          <p:cNvSpPr>
            <a:spLocks xmlns:a="http://schemas.openxmlformats.org/drawingml/2006/main" noGrp="1"/>
          </p:cNvSpPr>
          <p:nvPr/>
        </p:nvSpPr>
        <p:spPr>
          <a:xfrm xmlns:a="http://schemas.openxmlformats.org/drawingml/2006/main">
            <a:off x="628650" y="43053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不是；参数更新可能暴露训练信息，还存在恶意参与方、推断攻击和模型投毒风险，需要额外保护。</a:t>
            </a:r>
          </a:p>
        </p:txBody>
      </p:sp>
      <p:sp>
        <p:nvSpPr>
          <p:cNvPr id="5" name="">
            <a:extLst xmlns:a="http://schemas.openxmlformats.org/drawingml/2006/main">
              <a:ext uri="{FF2B5EF4-FFF2-40B4-BE49-F238E27FC236}">
                <a16:creationId xmlns:a16="http://schemas.microsoft.com/office/drawing/2014/main" id="{181A70F0-FE24-4B61-AFB9-29AEFB092FCE}"/>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5.5  数据安全技术基础</a:t>
            </a:r>
          </a:p>
        </p:txBody>
      </p:sp>
      <p:sp>
        <p:nvSpPr>
          <p:cNvPr id="6" name="">
            <a:extLst xmlns:a="http://schemas.openxmlformats.org/drawingml/2006/main">
              <a:ext uri="{FF2B5EF4-FFF2-40B4-BE49-F238E27FC236}">
                <a16:creationId xmlns:a16="http://schemas.microsoft.com/office/drawing/2014/main" id="{BC145494-5DAD-4A89-8801-510D5CEF2102}"/>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08  来源与版权信息见演讲者备注</a:t>
            </a:r>
          </a:p>
        </p:txBody>
      </p:sp>
    </p:spTree>
    <p:extLst>
      <p:ext uri="{BB962C8B-B14F-4D97-AF65-F5344CB8AC3E}">
        <p14:creationId xmlns:p14="http://schemas.microsoft.com/office/powerpoint/2010/main" val="436912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2026-09-21T18:11:15.8850000Z</dcterms:created>
  <dcterms:modified xsi:type="dcterms:W3CDTF">2026-09-21T18:11:15.8850000Z</dcterms:modified>
</coreProperties>
</file>