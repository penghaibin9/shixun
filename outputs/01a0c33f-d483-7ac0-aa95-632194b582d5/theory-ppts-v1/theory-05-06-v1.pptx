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b9020781da4432" /><Relationship Type="http://schemas.openxmlformats.org/officeDocument/2006/relationships/extended-properties" Target="/docProps/app.xml" Id="R7d5a24672e604c97" /><Relationship Type="http://schemas.openxmlformats.org/officeDocument/2006/relationships/officeDocument" Target="/ppt/presentation.xml" Id="R9edd965dddcb48d4" /></Relationships>
</file>

<file path=ppt/presentation.xml><?xml version="1.0" encoding="utf-8"?>
<p:presentation xmlns:p="http://schemas.openxmlformats.org/presentationml/2006/main">
  <p:sldMasterIdLst>
    <p:sldMasterId xmlns:r="http://schemas.openxmlformats.org/officeDocument/2006/relationships" id="2147483648" r:id="R5038d9faeda9413e"/>
  </p:sldMasterIdLst>
  <p:notesMasterIdLst>
    <p:notesMasterId xmlns:r="http://schemas.openxmlformats.org/officeDocument/2006/relationships" r:id="Rcf63c4e7356a4701"/>
  </p:notesMasterIdLst>
  <p:sldIdLst>
    <p:sldId xmlns:r="http://schemas.openxmlformats.org/officeDocument/2006/relationships" id="256" r:id="R04fe3b01eee4460a"/>
    <p:sldId xmlns:r="http://schemas.openxmlformats.org/officeDocument/2006/relationships" id="257" r:id="R950d4ffc6ad1438f"/>
    <p:sldId xmlns:r="http://schemas.openxmlformats.org/officeDocument/2006/relationships" id="258" r:id="R417a5cedadb84ca6"/>
    <p:sldId xmlns:r="http://schemas.openxmlformats.org/officeDocument/2006/relationships" id="259" r:id="R2d7ee250a4994ecb"/>
    <p:sldId xmlns:r="http://schemas.openxmlformats.org/officeDocument/2006/relationships" id="260" r:id="R95d2dbd77bc14b71"/>
    <p:sldId xmlns:r="http://schemas.openxmlformats.org/officeDocument/2006/relationships" id="261" r:id="Rae618d22b9324482"/>
    <p:sldId xmlns:r="http://schemas.openxmlformats.org/officeDocument/2006/relationships" id="262" r:id="R7055289e1235449e"/>
    <p:sldId xmlns:r="http://schemas.openxmlformats.org/officeDocument/2006/relationships" id="263" r:id="R800e9e5aaf754e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6ac74162c04594" /><Relationship Type="http://schemas.openxmlformats.org/officeDocument/2006/relationships/slideMaster" Target="/ppt/slideMasters/slideMaster1.xml" Id="R5038d9faeda9413e" /><Relationship Type="http://schemas.openxmlformats.org/officeDocument/2006/relationships/notesMaster" Target="/ppt/notesMasters/notesMaster1.xml" Id="Rcf63c4e7356a4701" /><Relationship Type="http://schemas.openxmlformats.org/officeDocument/2006/relationships/presProps" Target="/ppt/presProps.xml" Id="R3bb77e7250c148ae" /><Relationship Type="http://schemas.openxmlformats.org/officeDocument/2006/relationships/tableStyles" Target="/ppt/tableStyles.xml" Id="R2ea4ddb3dd9e47e6" /><Relationship Type="http://schemas.openxmlformats.org/officeDocument/2006/relationships/slide" Target="/ppt/slides/slide1.xml" Id="R04fe3b01eee4460a" /><Relationship Type="http://schemas.openxmlformats.org/officeDocument/2006/relationships/slide" Target="/ppt/slides/slide2.xml" Id="R950d4ffc6ad1438f" /><Relationship Type="http://schemas.openxmlformats.org/officeDocument/2006/relationships/slide" Target="/ppt/slides/slide3.xml" Id="R417a5cedadb84ca6" /><Relationship Type="http://schemas.openxmlformats.org/officeDocument/2006/relationships/slide" Target="/ppt/slides/slide4.xml" Id="R2d7ee250a4994ecb" /><Relationship Type="http://schemas.openxmlformats.org/officeDocument/2006/relationships/slide" Target="/ppt/slides/slide5.xml" Id="R95d2dbd77bc14b71" /><Relationship Type="http://schemas.openxmlformats.org/officeDocument/2006/relationships/slide" Target="/ppt/slides/slide6.xml" Id="Rae618d22b9324482" /><Relationship Type="http://schemas.openxmlformats.org/officeDocument/2006/relationships/slide" Target="/ppt/slides/slide7.xml" Id="R7055289e1235449e" /><Relationship Type="http://schemas.openxmlformats.org/officeDocument/2006/relationships/slide" Target="/ppt/slides/slide8.xml" Id="R800e9e5aaf754e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483b574b3048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7c826c0fdf4e14" /><Relationship Type="http://schemas.openxmlformats.org/officeDocument/2006/relationships/notesMaster" Target="/ppt/notesMasters/notesMaster1.xml" Id="Rda328435765c42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0b07650bb042d2" /><Relationship Type="http://schemas.openxmlformats.org/officeDocument/2006/relationships/notesMaster" Target="/ppt/notesMasters/notesMaster1.xml" Id="R751b430472d44d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99a49c468444bf" /><Relationship Type="http://schemas.openxmlformats.org/officeDocument/2006/relationships/notesMaster" Target="/ppt/notesMasters/notesMaster1.xml" Id="Rd1303e832f2d49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e7f649870d4dcf" /><Relationship Type="http://schemas.openxmlformats.org/officeDocument/2006/relationships/notesMaster" Target="/ppt/notesMasters/notesMaster1.xml" Id="Rb95b8ff08e5b45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ade7a12c574dac" /><Relationship Type="http://schemas.openxmlformats.org/officeDocument/2006/relationships/notesMaster" Target="/ppt/notesMasters/notesMaster1.xml" Id="Ra3ed5e633d3940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2cd88778044de8" /><Relationship Type="http://schemas.openxmlformats.org/officeDocument/2006/relationships/notesMaster" Target="/ppt/notesMasters/notesMaster1.xml" Id="Redd27a3ffb8649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c5a93ecc67348a9" /><Relationship Type="http://schemas.openxmlformats.org/officeDocument/2006/relationships/notesMaster" Target="/ppt/notesMasters/notesMaster1.xml" Id="Ra577af1cf6bf48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c29245488a045d7" /><Relationship Type="http://schemas.openxmlformats.org/officeDocument/2006/relationships/notesMaster" Target="/ppt/notesMasters/notesMaster1.xml" Id="R810302e4c58b46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封面。说明本课在课程蓝图中的位置，并用一个真实业务问题导入主题。</a:t>
            </a:r>
          </a:p>
          <a:p xmlns:a="http://schemas.openxmlformats.org/drawingml/2006/main">
            <a:r>
              <a:t/>
            </a:r>
          </a:p>
          <a:p xmlns:a="http://schemas.openxmlformats.org/drawingml/2006/main">
            <a:r>
              <a:t>资料来源：</a:t>
            </a:r>
          </a:p>
          <a:p xmlns:a="http://schemas.openxmlformats.org/drawingml/2006/main">
            <a:r>
              <a:t>1. NIST（美国国家标准与技术研究院）SP（特别出版物） 800-92 日志管理指南</a:t>
            </a:r>
          </a:p>
          <a:p xmlns:a="http://schemas.openxmlformats.org/drawingml/2006/main">
            <a:r>
              <a:t>https://csrc.nist.gov/pubs/sp/800/92/final</a:t>
            </a:r>
          </a:p>
          <a:p xmlns:a="http://schemas.openxmlformats.org/drawingml/2006/main">
            <a:r>
              <a:t>2. 正式题库 5.6 课时内容</a:t>
            </a:r>
          </a:p>
          <a:p xmlns:a="http://schemas.openxmlformats.org/drawingml/2006/main">
            <a:r>
              <a:t>backend/app/resources/content/question-bank-v1.json#lesson_theory_5_6</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学习目标与知识结构。先说明目标，再解释各知识点之间的依赖关系。</a:t>
            </a:r>
          </a:p>
          <a:p xmlns:a="http://schemas.openxmlformats.org/drawingml/2006/main">
            <a:r>
              <a:t/>
            </a:r>
          </a:p>
          <a:p xmlns:a="http://schemas.openxmlformats.org/drawingml/2006/main">
            <a:r>
              <a:t>资料来源：</a:t>
            </a:r>
          </a:p>
          <a:p xmlns:a="http://schemas.openxmlformats.org/drawingml/2006/main">
            <a:r>
              <a:t>1. NIST（美国国家标准与技术研究院）SP（特别出版物） 800-92 日志管理指南</a:t>
            </a:r>
          </a:p>
          <a:p xmlns:a="http://schemas.openxmlformats.org/drawingml/2006/main">
            <a:r>
              <a:t>https://csrc.nist.gov/pubs/sp/800/92/final</a:t>
            </a:r>
          </a:p>
          <a:p xmlns:a="http://schemas.openxmlformats.org/drawingml/2006/main">
            <a:r>
              <a:t>2. 正式题库 5.6 课时内容</a:t>
            </a:r>
          </a:p>
          <a:p xmlns:a="http://schemas.openxmlformats.org/drawingml/2006/main">
            <a:r>
              <a:t>backend/app/resources/content/question-bank-v1.json#lesson_theory_5_6</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核心概念：多层审计数据源。结合要点解释定义、适用边界和验证方式。</a:t>
            </a:r>
          </a:p>
          <a:p xmlns:a="http://schemas.openxmlformats.org/drawingml/2006/main">
            <a:r>
              <a:t/>
            </a:r>
          </a:p>
          <a:p xmlns:a="http://schemas.openxmlformats.org/drawingml/2006/main">
            <a:r>
              <a:t>资料来源：</a:t>
            </a:r>
          </a:p>
          <a:p xmlns:a="http://schemas.openxmlformats.org/drawingml/2006/main">
            <a:r>
              <a:t>1. NIST（美国国家标准与技术研究院）SP（特别出版物） 800-92 日志管理指南</a:t>
            </a:r>
          </a:p>
          <a:p xmlns:a="http://schemas.openxmlformats.org/drawingml/2006/main">
            <a:r>
              <a:t>https://csrc.nist.gov/pubs/sp/800/92/final</a:t>
            </a:r>
          </a:p>
          <a:p xmlns:a="http://schemas.openxmlformats.org/drawingml/2006/main">
            <a:r>
              <a:t>2. 正式题库 5.6 课时内容</a:t>
            </a:r>
          </a:p>
          <a:p xmlns:a="http://schemas.openxmlformats.org/drawingml/2006/main">
            <a:r>
              <a:t>backend/app/resources/content/question-bank-v1.json#lesson_theory_5_6</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核心概念：统一身份和时间。结合要点解释定义、适用边界和验证方式。</a:t>
            </a:r>
          </a:p>
          <a:p xmlns:a="http://schemas.openxmlformats.org/drawingml/2006/main">
            <a:r>
              <a:t/>
            </a:r>
          </a:p>
          <a:p xmlns:a="http://schemas.openxmlformats.org/drawingml/2006/main">
            <a:r>
              <a:t>资料来源：</a:t>
            </a:r>
          </a:p>
          <a:p xmlns:a="http://schemas.openxmlformats.org/drawingml/2006/main">
            <a:r>
              <a:t>1. NIST（美国国家标准与技术研究院）SP（特别出版物） 800-92 日志管理指南</a:t>
            </a:r>
          </a:p>
          <a:p xmlns:a="http://schemas.openxmlformats.org/drawingml/2006/main">
            <a:r>
              <a:t>https://csrc.nist.gov/pubs/sp/800/92/final</a:t>
            </a:r>
          </a:p>
          <a:p xmlns:a="http://schemas.openxmlformats.org/drawingml/2006/main">
            <a:r>
              <a:t>2. 正式题库 5.6 课时内容</a:t>
            </a:r>
          </a:p>
          <a:p xmlns:a="http://schemas.openxmlformats.org/drawingml/2006/main">
            <a:r>
              <a:t>backend/app/resources/content/question-bank-v1.json#lesson_theory_5_6</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核心概念：日志完整性。结合要点解释定义、适用边界和验证方式。</a:t>
            </a:r>
          </a:p>
          <a:p xmlns:a="http://schemas.openxmlformats.org/drawingml/2006/main">
            <a:r>
              <a:t/>
            </a:r>
          </a:p>
          <a:p xmlns:a="http://schemas.openxmlformats.org/drawingml/2006/main">
            <a:r>
              <a:t>资料来源：</a:t>
            </a:r>
          </a:p>
          <a:p xmlns:a="http://schemas.openxmlformats.org/drawingml/2006/main">
            <a:r>
              <a:t>1. NIST（美国国家标准与技术研究院）SP（特别出版物） 800-92 日志管理指南</a:t>
            </a:r>
          </a:p>
          <a:p xmlns:a="http://schemas.openxmlformats.org/drawingml/2006/main">
            <a:r>
              <a:t>https://csrc.nist.gov/pubs/sp/800/92/final</a:t>
            </a:r>
          </a:p>
          <a:p xmlns:a="http://schemas.openxmlformats.org/drawingml/2006/main">
            <a:r>
              <a:t>2. 正式题库 5.6 课时内容</a:t>
            </a:r>
          </a:p>
          <a:p xmlns:a="http://schemas.openxmlformats.org/drawingml/2006/main">
            <a:r>
              <a:t>backend/app/resources/content/question-bank-v1.json#lesson_theory_5_6</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核心概念：集中检索与关联。结合要点解释定义、适用边界和验证方式。</a:t>
            </a:r>
          </a:p>
          <a:p xmlns:a="http://schemas.openxmlformats.org/drawingml/2006/main">
            <a:r>
              <a:t/>
            </a:r>
          </a:p>
          <a:p xmlns:a="http://schemas.openxmlformats.org/drawingml/2006/main">
            <a:r>
              <a:t>资料来源：</a:t>
            </a:r>
          </a:p>
          <a:p xmlns:a="http://schemas.openxmlformats.org/drawingml/2006/main">
            <a:r>
              <a:t>1. NIST（美国国家标准与技术研究院）SP（特别出版物） 800-92 日志管理指南</a:t>
            </a:r>
          </a:p>
          <a:p xmlns:a="http://schemas.openxmlformats.org/drawingml/2006/main">
            <a:r>
              <a:t>https://csrc.nist.gov/pubs/sp/800/92/final</a:t>
            </a:r>
          </a:p>
          <a:p xmlns:a="http://schemas.openxmlformats.org/drawingml/2006/main">
            <a:r>
              <a:t>2. 正式题库 5.6 课时内容</a:t>
            </a:r>
          </a:p>
          <a:p xmlns:a="http://schemas.openxmlformats.org/drawingml/2006/main">
            <a:r>
              <a:t>backend/app/resources/content/question-bank-v1.json#lesson_theory_5_6</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业务案例。引导学生先识别事实，再提出控制方案和可验证证据。</a:t>
            </a:r>
          </a:p>
          <a:p xmlns:a="http://schemas.openxmlformats.org/drawingml/2006/main">
            <a:r>
              <a:t/>
            </a:r>
          </a:p>
          <a:p xmlns:a="http://schemas.openxmlformats.org/drawingml/2006/main">
            <a:r>
              <a:t>资料来源：</a:t>
            </a:r>
          </a:p>
          <a:p xmlns:a="http://schemas.openxmlformats.org/drawingml/2006/main">
            <a:r>
              <a:t>1. NIST（美国国家标准与技术研究院）SP（特别出版物） 800-92 日志管理指南</a:t>
            </a:r>
          </a:p>
          <a:p xmlns:a="http://schemas.openxmlformats.org/drawingml/2006/main">
            <a:r>
              <a:t>https://csrc.nist.gov/pubs/sp/800/92/final</a:t>
            </a:r>
          </a:p>
          <a:p xmlns:a="http://schemas.openxmlformats.org/drawingml/2006/main">
            <a:r>
              <a:t>2. 正式题库 5.6 课时内容</a:t>
            </a:r>
          </a:p>
          <a:p xmlns:a="http://schemas.openxmlformats.org/drawingml/2006/main">
            <a:r>
              <a:t>backend/app/resources/content/question-bank-v1.json#lesson_theory_5_6</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知识检查。先让学生独立回答，再展示参考答案并回到本课学习目标。</a:t>
            </a:r>
          </a:p>
          <a:p xmlns:a="http://schemas.openxmlformats.org/drawingml/2006/main">
            <a:r>
              <a:t/>
            </a:r>
          </a:p>
          <a:p xmlns:a="http://schemas.openxmlformats.org/drawingml/2006/main">
            <a:r>
              <a:t>资料来源：</a:t>
            </a:r>
          </a:p>
          <a:p xmlns:a="http://schemas.openxmlformats.org/drawingml/2006/main">
            <a:r>
              <a:t>1. NIST（美国国家标准与技术研究院）SP（特别出版物） 800-92 日志管理指南</a:t>
            </a:r>
          </a:p>
          <a:p xmlns:a="http://schemas.openxmlformats.org/drawingml/2006/main">
            <a:r>
              <a:t>https://csrc.nist.gov/pubs/sp/800/92/final</a:t>
            </a:r>
          </a:p>
          <a:p xmlns:a="http://schemas.openxmlformats.org/drawingml/2006/main">
            <a:r>
              <a:t>2. 正式题库 5.6 课时内容</a:t>
            </a:r>
          </a:p>
          <a:p xmlns:a="http://schemas.openxmlformats.org/drawingml/2006/main">
            <a:r>
              <a:t>backend/app/resources/content/question-bank-v1.json#lesson_theory_5_6</a:t>
            </a:r>
          </a:p>
          <a:p xmlns:a="http://schemas.openxmlformats.org/drawingml/2006/main">
            <a:r>
              <a:t/>
            </a:r>
          </a:p>
          <a:p xmlns:a="http://schemas.openxmlformats.org/drawingml/2006/main">
            <a:r>
              <a:t>版权说明：课件文字为项目原创教学编排；封面抽象图由图像生成工具为本项目生成，不代表真实系统、设备或现场。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a75ececc494d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9dba004c8b480b" /><Relationship Type="http://schemas.openxmlformats.org/officeDocument/2006/relationships/slideLayout" Target="/ppt/slideLayouts/slideLayout1.xml" Id="R20980841ca4d4fd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980841ca4d4fd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57e2f45f2154cbe" /><Relationship Type="http://schemas.openxmlformats.org/officeDocument/2006/relationships/image" Target="/ppt/media/image.png" Id="R790460ac75074be3" /><Relationship Type="http://schemas.openxmlformats.org/officeDocument/2006/relationships/notesSlide" Target="/ppt/notesSlides/notesSlide1.xml" Id="R19d81f829d624d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2e060d19924867" /><Relationship Type="http://schemas.openxmlformats.org/officeDocument/2006/relationships/notesSlide" Target="/ppt/notesSlides/notesSlide2.xml" Id="R9978dfe9502040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f8c61d88a064f5b" /><Relationship Type="http://schemas.openxmlformats.org/officeDocument/2006/relationships/notesSlide" Target="/ppt/notesSlides/notesSlide3.xml" Id="R489edaee01dd41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115f9ad2d24370" /><Relationship Type="http://schemas.openxmlformats.org/officeDocument/2006/relationships/notesSlide" Target="/ppt/notesSlides/notesSlide4.xml" Id="R0fc7ab5324ce49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78aa40def4c4e11" /><Relationship Type="http://schemas.openxmlformats.org/officeDocument/2006/relationships/notesSlide" Target="/ppt/notesSlides/notesSlide5.xml" Id="R320badc08d4c4d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0bf8efe4f6d490e" /><Relationship Type="http://schemas.openxmlformats.org/officeDocument/2006/relationships/notesSlide" Target="/ppt/notesSlides/notesSlide6.xml" Id="R7ce48c76da644e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bef3ea4d36b4626" /><Relationship Type="http://schemas.openxmlformats.org/officeDocument/2006/relationships/notesSlide" Target="/ppt/notesSlides/notesSlide7.xml" Id="Re9c5cd368d214f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c0b78dc9f3a4046" /><Relationship Type="http://schemas.openxmlformats.org/officeDocument/2006/relationships/notesSlide" Target="/ppt/notesSlides/notesSlide8.xml" Id="R42b22d7645c544c3" /></Relationships>
</file>

<file path=ppt/slides/slide1.xml><?xml version="1.0" encoding="utf-8"?>
<p:sld xmlns:p="http://schemas.openxmlformats.org/presentationml/2006/main">
  <p:cSld>
    <p:bg>
      <p:bgPr>
        <a:solidFill xmlns:a="http://schemas.openxmlformats.org/drawingml/2006/main">
          <a:srgbClr val="10213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90460ac75074be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B375B2F-A31F-407F-8AF3-2A9F236AE075}"/>
              </a:ext>
            </a:extLst>
          </p:cNvPr>
          <p:cNvSpPr>
            <a:spLocks xmlns:a="http://schemas.openxmlformats.org/drawingml/2006/main" noGrp="1"/>
          </p:cNvSpPr>
          <p:nvPr/>
        </p:nvSpPr>
        <p:spPr>
          <a:xfrm xmlns:a="http://schemas.openxmlformats.org/drawingml/2006/main">
            <a:off x="666750" y="8572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CE7FF"/>
                </a:solidFill>
                <a:latin typeface="Microsoft YaHei"/>
                <a:ea typeface="Microsoft YaHei"/>
                <a:cs typeface="Microsoft YaHei"/>
              </a:defRPr>
            </a:pPr>
            <a:r>
              <a:rPr sz="1350" b="1">
                <a:solidFill>
                  <a:srgbClr val="DCE7FF"/>
                </a:solidFill>
                <a:latin typeface="Microsoft YaHei"/>
                <a:ea typeface="Microsoft YaHei"/>
                <a:cs typeface="Microsoft YaHei"/>
              </a:rPr>
              <a:t>第 5 章  ·  5.6</a:t>
            </a:r>
          </a:p>
        </p:txBody>
      </p:sp>
      <p:sp>
        <p:nvSpPr>
          <p:cNvPr id="3" name="">
            <a:extLst xmlns:a="http://schemas.openxmlformats.org/drawingml/2006/main">
              <a:ext uri="{FF2B5EF4-FFF2-40B4-BE49-F238E27FC236}">
                <a16:creationId xmlns:a16="http://schemas.microsoft.com/office/drawing/2014/main" id="{1A68634D-ACED-4681-BD25-3CC21037C75D}"/>
              </a:ext>
            </a:extLst>
          </p:cNvPr>
          <p:cNvSpPr>
            <a:spLocks xmlns:a="http://schemas.openxmlformats.org/drawingml/2006/main" noGrp="1"/>
          </p:cNvSpPr>
          <p:nvPr/>
        </p:nvSpPr>
        <p:spPr>
          <a:xfrm xmlns:a="http://schemas.openxmlformats.org/drawingml/2006/main">
            <a:off x="666750" y="1619250"/>
            <a:ext cx="5715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Microsoft YaHei"/>
                <a:ea typeface="Microsoft YaHei"/>
                <a:cs typeface="Microsoft YaHei"/>
              </a:defRPr>
            </a:pPr>
            <a:r>
              <a:rPr sz="3150" b="1">
                <a:solidFill>
                  <a:srgbClr val="FFFFFF"/>
                </a:solidFill>
                <a:latin typeface="Microsoft YaHei"/>
                <a:ea typeface="Microsoft YaHei"/>
                <a:cs typeface="Microsoft YaHei"/>
              </a:rPr>
              <a:t>数据审计体系：数据库、应用、主机、网络审计</a:t>
            </a:r>
          </a:p>
        </p:txBody>
      </p:sp>
      <p:sp>
        <p:nvSpPr>
          <p:cNvPr id="4" name="">
            <a:extLst xmlns:a="http://schemas.openxmlformats.org/drawingml/2006/main">
              <a:ext uri="{FF2B5EF4-FFF2-40B4-BE49-F238E27FC236}">
                <a16:creationId xmlns:a16="http://schemas.microsoft.com/office/drawing/2014/main" id="{5C12BC95-43D4-496D-B17D-865F50BBEDC0}"/>
              </a:ext>
            </a:extLst>
          </p:cNvPr>
          <p:cNvSpPr>
            <a:spLocks xmlns:a="http://schemas.openxmlformats.org/drawingml/2006/main" noGrp="1"/>
          </p:cNvSpPr>
          <p:nvPr/>
        </p:nvSpPr>
        <p:spPr>
          <a:xfrm xmlns:a="http://schemas.openxmlformats.org/drawingml/2006/main">
            <a:off x="666750" y="49149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CE7FF"/>
                </a:solidFill>
                <a:latin typeface="Microsoft YaHei"/>
                <a:ea typeface="Microsoft YaHei"/>
                <a:cs typeface="Microsoft YaHei"/>
              </a:defRPr>
            </a:pPr>
            <a:r>
              <a:rPr sz="1800" b="0">
                <a:solidFill>
                  <a:srgbClr val="DCE7FF"/>
                </a:solidFill>
                <a:latin typeface="Microsoft YaHei"/>
                <a:ea typeface="Microsoft YaHei"/>
                <a:cs typeface="Microsoft YaHei"/>
              </a:rPr>
              <a:t>数据安全技术基础</a:t>
            </a:r>
          </a:p>
        </p:txBody>
      </p:sp>
      <p:sp>
        <p:nvSpPr>
          <p:cNvPr id="5" name="">
            <a:extLst xmlns:a="http://schemas.openxmlformats.org/drawingml/2006/main">
              <a:ext uri="{FF2B5EF4-FFF2-40B4-BE49-F238E27FC236}">
                <a16:creationId xmlns:a16="http://schemas.microsoft.com/office/drawing/2014/main" id="{34A9796F-2BB8-4CDB-B84D-5037A7DD108A}"/>
              </a:ext>
            </a:extLst>
          </p:cNvPr>
          <p:cNvSpPr>
            <a:spLocks xmlns:a="http://schemas.openxmlformats.org/drawingml/2006/main" noGrp="1"/>
          </p:cNvSpPr>
          <p:nvPr/>
        </p:nvSpPr>
        <p:spPr>
          <a:xfrm xmlns:a="http://schemas.openxmlformats.org/drawingml/2006/main">
            <a:off x="666750" y="5581650"/>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CE7FF"/>
                </a:solidFill>
                <a:latin typeface="Microsoft YaHei"/>
                <a:ea typeface="Microsoft YaHei"/>
                <a:cs typeface="Microsoft YaHei"/>
              </a:defRPr>
            </a:pPr>
            <a:r>
              <a:rPr sz="1200" b="0">
                <a:solidFill>
                  <a:srgbClr val="DCE7FF"/>
                </a:solidFill>
                <a:latin typeface="Microsoft YaHei"/>
                <a:ea typeface="Microsoft YaHei"/>
                <a:cs typeface="Microsoft YaHei"/>
              </a:rPr>
              <a:t>跃科网络空间安全实训平台</a:t>
            </a:r>
          </a:p>
        </p:txBody>
      </p:sp>
    </p:spTree>
    <p:extLst>
      <p:ext uri="{BB962C8B-B14F-4D97-AF65-F5344CB8AC3E}">
        <p14:creationId xmlns:p14="http://schemas.microsoft.com/office/powerpoint/2010/main" val="222912185"/>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1C84847-2794-467A-BD8F-3A02E54960E0}"/>
              </a:ext>
            </a:extLst>
          </p:cNvPr>
          <p:cNvSpPr>
            <a:spLocks xmlns:a="http://schemas.openxmlformats.org/drawingml/2006/main" noGrp="1"/>
          </p:cNvSpPr>
          <p:nvPr/>
        </p:nvSpPr>
        <p:spPr>
          <a:xfrm xmlns:a="http://schemas.openxmlformats.org/drawingml/2006/main">
            <a:off x="609600" y="438150"/>
            <a:ext cx="876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2033"/>
                </a:solidFill>
                <a:latin typeface="Microsoft YaHei"/>
                <a:ea typeface="Microsoft YaHei"/>
                <a:cs typeface="Microsoft YaHei"/>
              </a:defRPr>
            </a:pPr>
            <a:r>
              <a:rPr sz="2550" b="1">
                <a:solidFill>
                  <a:srgbClr val="172033"/>
                </a:solidFill>
                <a:latin typeface="Microsoft YaHei"/>
                <a:ea typeface="Microsoft YaHei"/>
                <a:cs typeface="Microsoft YaHei"/>
              </a:rPr>
              <a:t>本课目标与知识结构</a:t>
            </a:r>
          </a:p>
        </p:txBody>
      </p:sp>
      <p:sp>
        <p:nvSpPr>
          <p:cNvPr id="2" name="">
            <a:extLst xmlns:a="http://schemas.openxmlformats.org/drawingml/2006/main">
              <a:ext uri="{FF2B5EF4-FFF2-40B4-BE49-F238E27FC236}">
                <a16:creationId xmlns:a16="http://schemas.microsoft.com/office/drawing/2014/main" id="{25A274A0-DDE7-4FB4-8BAC-A089AAF046FD}"/>
              </a:ext>
            </a:extLst>
          </p:cNvPr>
          <p:cNvSpPr>
            <a:spLocks xmlns:a="http://schemas.openxmlformats.org/drawingml/2006/main" noGrp="1"/>
          </p:cNvSpPr>
          <p:nvPr/>
        </p:nvSpPr>
        <p:spPr>
          <a:xfrm xmlns:a="http://schemas.openxmlformats.org/drawingml/2006/main">
            <a:off x="9906000" y="361950"/>
            <a:ext cx="167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457F5"/>
                </a:solidFill>
                <a:latin typeface="Microsoft YaHei"/>
                <a:ea typeface="Microsoft YaHei"/>
                <a:cs typeface="Microsoft YaHei"/>
              </a:defRPr>
            </a:pPr>
            <a:r>
              <a:rPr sz="3150" b="1">
                <a:solidFill>
                  <a:srgbClr val="2457F5"/>
                </a:solidFill>
                <a:latin typeface="Microsoft YaHei"/>
                <a:ea typeface="Microsoft YaHei"/>
                <a:cs typeface="Microsoft YaHei"/>
              </a:rPr>
              <a:t>5.6</a:t>
            </a:r>
          </a:p>
        </p:txBody>
      </p:sp>
      <p:sp>
        <p:nvSpPr>
          <p:cNvPr id="3" name="">
            <a:extLst xmlns:a="http://schemas.openxmlformats.org/drawingml/2006/main">
              <a:ext uri="{FF2B5EF4-FFF2-40B4-BE49-F238E27FC236}">
                <a16:creationId xmlns:a16="http://schemas.microsoft.com/office/drawing/2014/main" id="{AACF8DCA-4B14-47EB-88B6-47A05C6E63AC}"/>
              </a:ext>
            </a:extLst>
          </p:cNvPr>
          <p:cNvSpPr>
            <a:spLocks xmlns:a="http://schemas.openxmlformats.org/drawingml/2006/main" noGrp="1"/>
          </p:cNvSpPr>
          <p:nvPr/>
        </p:nvSpPr>
        <p:spPr>
          <a:xfrm xmlns:a="http://schemas.openxmlformats.org/drawingml/2006/main">
            <a:off x="685800" y="14287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46CD"/>
                </a:solidFill>
                <a:latin typeface="Microsoft YaHei"/>
                <a:ea typeface="Microsoft YaHei"/>
                <a:cs typeface="Microsoft YaHei"/>
              </a:defRPr>
            </a:pPr>
            <a:r>
              <a:rPr sz="1500" b="1">
                <a:solidFill>
                  <a:srgbClr val="1846CD"/>
                </a:solidFill>
                <a:latin typeface="Microsoft YaHei"/>
                <a:ea typeface="Microsoft YaHei"/>
                <a:cs typeface="Microsoft YaHei"/>
              </a:rPr>
              <a:t>学习目标</a:t>
            </a:r>
          </a:p>
        </p:txBody>
      </p:sp>
      <p:sp>
        <p:nvSpPr>
          <p:cNvPr id="4" name="">
            <a:extLst xmlns:a="http://schemas.openxmlformats.org/drawingml/2006/main">
              <a:ext uri="{FF2B5EF4-FFF2-40B4-BE49-F238E27FC236}">
                <a16:creationId xmlns:a16="http://schemas.microsoft.com/office/drawing/2014/main" id="{BCFB01DF-E6E2-4B11-B3EC-8D7C5D0D3F01}"/>
              </a:ext>
            </a:extLst>
          </p:cNvPr>
          <p:cNvSpPr>
            <a:spLocks xmlns:a="http://schemas.openxmlformats.org/drawingml/2006/main" noGrp="1"/>
          </p:cNvSpPr>
          <p:nvPr/>
        </p:nvSpPr>
        <p:spPr>
          <a:xfrm xmlns:a="http://schemas.openxmlformats.org/drawingml/2006/main">
            <a:off x="685800" y="2000250"/>
            <a:ext cx="4762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033"/>
                </a:solidFill>
                <a:latin typeface="Microsoft YaHei"/>
                <a:ea typeface="Microsoft YaHei"/>
                <a:cs typeface="Microsoft YaHei"/>
              </a:defRPr>
            </a:pPr>
            <a:r>
              <a:rPr sz="1800" b="0">
                <a:solidFill>
                  <a:srgbClr val="172033"/>
                </a:solidFill>
                <a:latin typeface="Microsoft YaHei"/>
                <a:ea typeface="Microsoft YaHei"/>
                <a:cs typeface="Microsoft YaHei"/>
              </a:rPr>
              <a:t>01  能够区分数据库、应用、主机和网络审计的采集对象与证据价值。</a:t>
            </a:r>
          </a:p>
          <a:p xmlns:a="http://schemas.openxmlformats.org/drawingml/2006/main">
            <a:r>
              <a:t/>
            </a:r>
          </a:p>
          <a:p xmlns:a="http://schemas.openxmlformats.org/drawingml/2006/main">
            <a:pPr>
              <a:defRPr sz="1800" b="0">
                <a:solidFill>
                  <a:srgbClr val="172033"/>
                </a:solidFill>
                <a:latin typeface="Microsoft YaHei"/>
                <a:ea typeface="Microsoft YaHei"/>
                <a:cs typeface="Microsoft YaHei"/>
              </a:defRPr>
            </a:pPr>
            <a:r>
              <a:rPr sz="1800" b="0">
                <a:solidFill>
                  <a:srgbClr val="172033"/>
                </a:solidFill>
                <a:latin typeface="Microsoft YaHei"/>
                <a:ea typeface="Microsoft YaHei"/>
                <a:cs typeface="Microsoft YaHei"/>
              </a:rPr>
              <a:t>02  能够设计跨层日志关联所需的身份、时间、对象、动作和结果字段。</a:t>
            </a:r>
          </a:p>
        </p:txBody>
      </p:sp>
      <p:sp>
        <p:nvSpPr>
          <p:cNvPr id="5" name="">
            <a:extLst xmlns:a="http://schemas.openxmlformats.org/drawingml/2006/main">
              <a:ext uri="{FF2B5EF4-FFF2-40B4-BE49-F238E27FC236}">
                <a16:creationId xmlns:a16="http://schemas.microsoft.com/office/drawing/2014/main" id="{C80FA144-5E2A-45C3-9C07-C42CE9CA61C6}"/>
              </a:ext>
            </a:extLst>
          </p:cNvPr>
          <p:cNvSpPr>
            <a:spLocks xmlns:a="http://schemas.openxmlformats.org/drawingml/2006/main" noGrp="1"/>
          </p:cNvSpPr>
          <p:nvPr/>
        </p:nvSpPr>
        <p:spPr>
          <a:xfrm xmlns:a="http://schemas.openxmlformats.org/drawingml/2006/main">
            <a:off x="6191250" y="14287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46CD"/>
                </a:solidFill>
                <a:latin typeface="Microsoft YaHei"/>
                <a:ea typeface="Microsoft YaHei"/>
                <a:cs typeface="Microsoft YaHei"/>
              </a:defRPr>
            </a:pPr>
            <a:r>
              <a:rPr sz="1500" b="1">
                <a:solidFill>
                  <a:srgbClr val="1846CD"/>
                </a:solidFill>
                <a:latin typeface="Microsoft YaHei"/>
                <a:ea typeface="Microsoft YaHei"/>
                <a:cs typeface="Microsoft YaHei"/>
              </a:rPr>
              <a:t>知识结构</a:t>
            </a:r>
          </a:p>
        </p:txBody>
      </p:sp>
      <p:sp>
        <p:nvSpPr>
          <p:cNvPr id="6" name="">
            <a:extLst xmlns:a="http://schemas.openxmlformats.org/drawingml/2006/main">
              <a:ext uri="{FF2B5EF4-FFF2-40B4-BE49-F238E27FC236}">
                <a16:creationId xmlns:a16="http://schemas.microsoft.com/office/drawing/2014/main" id="{92D52BFC-78E3-4A62-9031-19863971D197}"/>
              </a:ext>
            </a:extLst>
          </p:cNvPr>
          <p:cNvSpPr>
            <a:spLocks xmlns:a="http://schemas.openxmlformats.org/drawingml/2006/main" noGrp="1"/>
          </p:cNvSpPr>
          <p:nvPr/>
        </p:nvSpPr>
        <p:spPr>
          <a:xfrm xmlns:a="http://schemas.openxmlformats.org/drawingml/2006/main">
            <a:off x="6191250" y="2000250"/>
            <a:ext cx="5143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033"/>
                </a:solidFill>
                <a:latin typeface="Microsoft YaHei"/>
                <a:ea typeface="Microsoft YaHei"/>
                <a:cs typeface="Microsoft YaHei"/>
              </a:defRPr>
            </a:pPr>
            <a:r>
              <a:rPr sz="1650" b="0">
                <a:solidFill>
                  <a:srgbClr val="172033"/>
                </a:solidFill>
                <a:latin typeface="Microsoft YaHei"/>
                <a:ea typeface="Microsoft YaHei"/>
                <a:cs typeface="Microsoft YaHei"/>
              </a:rPr>
              <a:t>01  多层审计数据源</a:t>
            </a:r>
          </a:p>
          <a:p xmlns:a="http://schemas.openxmlformats.org/drawingml/2006/main">
            <a:r>
              <a:t/>
            </a:r>
          </a:p>
          <a:p xmlns:a="http://schemas.openxmlformats.org/drawingml/2006/main">
            <a:pPr>
              <a:defRPr sz="1650" b="0">
                <a:solidFill>
                  <a:srgbClr val="172033"/>
                </a:solidFill>
                <a:latin typeface="Microsoft YaHei"/>
                <a:ea typeface="Microsoft YaHei"/>
                <a:cs typeface="Microsoft YaHei"/>
              </a:defRPr>
            </a:pPr>
            <a:r>
              <a:rPr sz="1650" b="0">
                <a:solidFill>
                  <a:srgbClr val="172033"/>
                </a:solidFill>
                <a:latin typeface="Microsoft YaHei"/>
                <a:ea typeface="Microsoft YaHei"/>
                <a:cs typeface="Microsoft YaHei"/>
              </a:rPr>
              <a:t>02  统一身份和时间</a:t>
            </a:r>
          </a:p>
          <a:p xmlns:a="http://schemas.openxmlformats.org/drawingml/2006/main">
            <a:r>
              <a:t/>
            </a:r>
          </a:p>
          <a:p xmlns:a="http://schemas.openxmlformats.org/drawingml/2006/main">
            <a:pPr>
              <a:defRPr sz="1650" b="0">
                <a:solidFill>
                  <a:srgbClr val="172033"/>
                </a:solidFill>
                <a:latin typeface="Microsoft YaHei"/>
                <a:ea typeface="Microsoft YaHei"/>
                <a:cs typeface="Microsoft YaHei"/>
              </a:defRPr>
            </a:pPr>
            <a:r>
              <a:rPr sz="1650" b="0">
                <a:solidFill>
                  <a:srgbClr val="172033"/>
                </a:solidFill>
                <a:latin typeface="Microsoft YaHei"/>
                <a:ea typeface="Microsoft YaHei"/>
                <a:cs typeface="Microsoft YaHei"/>
              </a:rPr>
              <a:t>03  日志完整性</a:t>
            </a:r>
          </a:p>
          <a:p xmlns:a="http://schemas.openxmlformats.org/drawingml/2006/main">
            <a:r>
              <a:t/>
            </a:r>
          </a:p>
          <a:p xmlns:a="http://schemas.openxmlformats.org/drawingml/2006/main">
            <a:pPr>
              <a:defRPr sz="1650" b="0">
                <a:solidFill>
                  <a:srgbClr val="172033"/>
                </a:solidFill>
                <a:latin typeface="Microsoft YaHei"/>
                <a:ea typeface="Microsoft YaHei"/>
                <a:cs typeface="Microsoft YaHei"/>
              </a:defRPr>
            </a:pPr>
            <a:r>
              <a:rPr sz="1650" b="0">
                <a:solidFill>
                  <a:srgbClr val="172033"/>
                </a:solidFill>
                <a:latin typeface="Microsoft YaHei"/>
                <a:ea typeface="Microsoft YaHei"/>
                <a:cs typeface="Microsoft YaHei"/>
              </a:rPr>
              <a:t>04  集中检索与关联</a:t>
            </a:r>
          </a:p>
        </p:txBody>
      </p:sp>
      <p:sp>
        <p:nvSpPr>
          <p:cNvPr id="7" name="">
            <a:extLst xmlns:a="http://schemas.openxmlformats.org/drawingml/2006/main">
              <a:ext uri="{FF2B5EF4-FFF2-40B4-BE49-F238E27FC236}">
                <a16:creationId xmlns:a16="http://schemas.microsoft.com/office/drawing/2014/main" id="{77FEA0CD-2BF9-490E-A3AD-C88E5133D825}"/>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5.6  数据安全技术基础</a:t>
            </a:r>
          </a:p>
        </p:txBody>
      </p:sp>
      <p:sp>
        <p:nvSpPr>
          <p:cNvPr id="8" name="">
            <a:extLst xmlns:a="http://schemas.openxmlformats.org/drawingml/2006/main">
              <a:ext uri="{FF2B5EF4-FFF2-40B4-BE49-F238E27FC236}">
                <a16:creationId xmlns:a16="http://schemas.microsoft.com/office/drawing/2014/main" id="{10472DC8-7B4F-4331-B29C-400B77FD03D2}"/>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02  来源与版权信息见演讲者备注</a:t>
            </a:r>
          </a:p>
        </p:txBody>
      </p:sp>
    </p:spTree>
    <p:extLst>
      <p:ext uri="{BB962C8B-B14F-4D97-AF65-F5344CB8AC3E}">
        <p14:creationId xmlns:p14="http://schemas.microsoft.com/office/powerpoint/2010/main" val="12671315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1E32846-ED37-4EE1-80CF-8BC107B58D1A}"/>
              </a:ext>
            </a:extLst>
          </p:cNvPr>
          <p:cNvSpPr>
            <a:spLocks xmlns:a="http://schemas.openxmlformats.org/drawingml/2006/main" noGrp="1"/>
          </p:cNvSpPr>
          <p:nvPr/>
        </p:nvSpPr>
        <p:spPr>
          <a:xfrm xmlns:a="http://schemas.openxmlformats.org/drawingml/2006/main">
            <a:off x="628650" y="4381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457F5"/>
                </a:solidFill>
                <a:latin typeface="Microsoft YaHei"/>
                <a:ea typeface="Microsoft YaHei"/>
                <a:cs typeface="Microsoft YaHei"/>
              </a:defRPr>
            </a:pPr>
            <a:r>
              <a:rPr sz="1275" b="1">
                <a:solidFill>
                  <a:srgbClr val="2457F5"/>
                </a:solidFill>
                <a:latin typeface="Microsoft YaHei"/>
                <a:ea typeface="Microsoft YaHei"/>
                <a:cs typeface="Microsoft YaHei"/>
              </a:rPr>
              <a:t>01  核心概念</a:t>
            </a:r>
          </a:p>
        </p:txBody>
      </p:sp>
      <p:sp>
        <p:nvSpPr>
          <p:cNvPr id="2" name="">
            <a:extLst xmlns:a="http://schemas.openxmlformats.org/drawingml/2006/main">
              <a:ext uri="{FF2B5EF4-FFF2-40B4-BE49-F238E27FC236}">
                <a16:creationId xmlns:a16="http://schemas.microsoft.com/office/drawing/2014/main" id="{F891D240-C992-4C7F-BBB6-085D3C7409B4}"/>
              </a:ext>
            </a:extLst>
          </p:cNvPr>
          <p:cNvSpPr>
            <a:spLocks xmlns:a="http://schemas.openxmlformats.org/drawingml/2006/main" noGrp="1"/>
          </p:cNvSpPr>
          <p:nvPr/>
        </p:nvSpPr>
        <p:spPr>
          <a:xfrm xmlns:a="http://schemas.openxmlformats.org/drawingml/2006/main">
            <a:off x="628650" y="1009650"/>
            <a:ext cx="9810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Microsoft YaHei"/>
                <a:ea typeface="Microsoft YaHei"/>
                <a:cs typeface="Microsoft YaHei"/>
              </a:defRPr>
            </a:pPr>
            <a:r>
              <a:rPr sz="2700" b="1">
                <a:solidFill>
                  <a:srgbClr val="172033"/>
                </a:solidFill>
                <a:latin typeface="Microsoft YaHei"/>
                <a:ea typeface="Microsoft YaHei"/>
                <a:cs typeface="Microsoft YaHei"/>
              </a:rPr>
              <a:t>多层审计数据源</a:t>
            </a:r>
          </a:p>
        </p:txBody>
      </p:sp>
      <p:sp>
        <p:nvSpPr>
          <p:cNvPr id="3" name="">
            <a:extLst xmlns:a="http://schemas.openxmlformats.org/drawingml/2006/main">
              <a:ext uri="{FF2B5EF4-FFF2-40B4-BE49-F238E27FC236}">
                <a16:creationId xmlns:a16="http://schemas.microsoft.com/office/drawing/2014/main" id="{C3BAB5C5-73DF-4489-B871-DD6BD9AB1B1C}"/>
              </a:ext>
            </a:extLst>
          </p:cNvPr>
          <p:cNvSpPr>
            <a:spLocks xmlns:a="http://schemas.openxmlformats.org/drawingml/2006/main" noGrp="1"/>
          </p:cNvSpPr>
          <p:nvPr/>
        </p:nvSpPr>
        <p:spPr>
          <a:xfrm xmlns:a="http://schemas.openxmlformats.org/drawingml/2006/main">
            <a:off x="628650" y="2114550"/>
            <a:ext cx="1085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033"/>
                </a:solidFill>
                <a:latin typeface="Microsoft YaHei"/>
                <a:ea typeface="Microsoft YaHei"/>
                <a:cs typeface="Microsoft YaHei"/>
              </a:defRPr>
            </a:pPr>
            <a:r>
              <a:rPr sz="1875" b="0">
                <a:solidFill>
                  <a:srgbClr val="172033"/>
                </a:solidFill>
                <a:latin typeface="Microsoft YaHei"/>
                <a:ea typeface="Microsoft YaHei"/>
                <a:cs typeface="Microsoft YaHei"/>
              </a:rPr>
              <a:t>数据库、应用、主机和网络日志分别观察查询、业务动作、进程行为和连接流量。单一层面通常无法完整解释事件，需要保留共同标识并理解各层可见范围。</a:t>
            </a:r>
          </a:p>
        </p:txBody>
      </p:sp>
      <p:sp>
        <p:nvSpPr>
          <p:cNvPr id="4" name="">
            <a:extLst xmlns:a="http://schemas.openxmlformats.org/drawingml/2006/main">
              <a:ext uri="{FF2B5EF4-FFF2-40B4-BE49-F238E27FC236}">
                <a16:creationId xmlns:a16="http://schemas.microsoft.com/office/drawing/2014/main" id="{C5A89B34-DCC2-4247-B410-18A549C7BF2A}"/>
              </a:ext>
            </a:extLst>
          </p:cNvPr>
          <p:cNvSpPr>
            <a:spLocks xmlns:a="http://schemas.openxmlformats.org/drawingml/2006/main" noGrp="1"/>
          </p:cNvSpPr>
          <p:nvPr/>
        </p:nvSpPr>
        <p:spPr>
          <a:xfrm xmlns:a="http://schemas.openxmlformats.org/drawingml/2006/main">
            <a:off x="800100" y="3714750"/>
            <a:ext cx="103822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01  应用日志记录业务用户和业务对象</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02  数据库日志记录语句、账号和结果</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03  主机日志记录进程、文件和系统事件</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04  网络日志提供源、目的和流量特征</a:t>
            </a:r>
          </a:p>
        </p:txBody>
      </p:sp>
      <p:sp>
        <p:nvSpPr>
          <p:cNvPr id="5" name="">
            <a:extLst xmlns:a="http://schemas.openxmlformats.org/drawingml/2006/main">
              <a:ext uri="{FF2B5EF4-FFF2-40B4-BE49-F238E27FC236}">
                <a16:creationId xmlns:a16="http://schemas.microsoft.com/office/drawing/2014/main" id="{7250B73A-9067-4289-8D12-A30FE422900C}"/>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5.6  数据安全技术基础</a:t>
            </a:r>
          </a:p>
        </p:txBody>
      </p:sp>
      <p:sp>
        <p:nvSpPr>
          <p:cNvPr id="6" name="">
            <a:extLst xmlns:a="http://schemas.openxmlformats.org/drawingml/2006/main">
              <a:ext uri="{FF2B5EF4-FFF2-40B4-BE49-F238E27FC236}">
                <a16:creationId xmlns:a16="http://schemas.microsoft.com/office/drawing/2014/main" id="{EFE934E2-AD24-4B17-A7A8-D274A07B03F3}"/>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03  来源与版权信息见演讲者备注</a:t>
            </a:r>
          </a:p>
        </p:txBody>
      </p:sp>
    </p:spTree>
    <p:extLst>
      <p:ext uri="{BB962C8B-B14F-4D97-AF65-F5344CB8AC3E}">
        <p14:creationId xmlns:p14="http://schemas.microsoft.com/office/powerpoint/2010/main" val="1077021453"/>
      </p:ext>
    </p:extLst>
  </p:cSld>
</p:sld>
</file>

<file path=ppt/slides/slide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8229C65-F4DA-4B28-BDD8-ABC40E8F5714}"/>
              </a:ext>
            </a:extLst>
          </p:cNvPr>
          <p:cNvSpPr>
            <a:spLocks xmlns:a="http://schemas.openxmlformats.org/drawingml/2006/main" noGrp="1"/>
          </p:cNvSpPr>
          <p:nvPr/>
        </p:nvSpPr>
        <p:spPr>
          <a:xfrm xmlns:a="http://schemas.openxmlformats.org/drawingml/2006/main">
            <a:off x="628650" y="4381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457F5"/>
                </a:solidFill>
                <a:latin typeface="Microsoft YaHei"/>
                <a:ea typeface="Microsoft YaHei"/>
                <a:cs typeface="Microsoft YaHei"/>
              </a:defRPr>
            </a:pPr>
            <a:r>
              <a:rPr sz="1275" b="1">
                <a:solidFill>
                  <a:srgbClr val="2457F5"/>
                </a:solidFill>
                <a:latin typeface="Microsoft YaHei"/>
                <a:ea typeface="Microsoft YaHei"/>
                <a:cs typeface="Microsoft YaHei"/>
              </a:rPr>
              <a:t>02  核心概念</a:t>
            </a:r>
          </a:p>
        </p:txBody>
      </p:sp>
      <p:sp>
        <p:nvSpPr>
          <p:cNvPr id="2" name="">
            <a:extLst xmlns:a="http://schemas.openxmlformats.org/drawingml/2006/main">
              <a:ext uri="{FF2B5EF4-FFF2-40B4-BE49-F238E27FC236}">
                <a16:creationId xmlns:a16="http://schemas.microsoft.com/office/drawing/2014/main" id="{8D59325A-E3BD-4EF6-B6A5-5B3C2D3BDDD5}"/>
              </a:ext>
            </a:extLst>
          </p:cNvPr>
          <p:cNvSpPr>
            <a:spLocks xmlns:a="http://schemas.openxmlformats.org/drawingml/2006/main" noGrp="1"/>
          </p:cNvSpPr>
          <p:nvPr/>
        </p:nvSpPr>
        <p:spPr>
          <a:xfrm xmlns:a="http://schemas.openxmlformats.org/drawingml/2006/main">
            <a:off x="628650" y="1009650"/>
            <a:ext cx="9810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Microsoft YaHei"/>
                <a:ea typeface="Microsoft YaHei"/>
                <a:cs typeface="Microsoft YaHei"/>
              </a:defRPr>
            </a:pPr>
            <a:r>
              <a:rPr sz="2700" b="1">
                <a:solidFill>
                  <a:srgbClr val="172033"/>
                </a:solidFill>
                <a:latin typeface="Microsoft YaHei"/>
                <a:ea typeface="Microsoft YaHei"/>
                <a:cs typeface="Microsoft YaHei"/>
              </a:rPr>
              <a:t>统一身份和时间</a:t>
            </a:r>
          </a:p>
        </p:txBody>
      </p:sp>
      <p:sp>
        <p:nvSpPr>
          <p:cNvPr id="3" name="">
            <a:extLst xmlns:a="http://schemas.openxmlformats.org/drawingml/2006/main">
              <a:ext uri="{FF2B5EF4-FFF2-40B4-BE49-F238E27FC236}">
                <a16:creationId xmlns:a16="http://schemas.microsoft.com/office/drawing/2014/main" id="{3CCF854F-B234-4CFE-87BD-9514A1455E9C}"/>
              </a:ext>
            </a:extLst>
          </p:cNvPr>
          <p:cNvSpPr>
            <a:spLocks xmlns:a="http://schemas.openxmlformats.org/drawingml/2006/main" noGrp="1"/>
          </p:cNvSpPr>
          <p:nvPr/>
        </p:nvSpPr>
        <p:spPr>
          <a:xfrm xmlns:a="http://schemas.openxmlformats.org/drawingml/2006/main">
            <a:off x="628650" y="2114550"/>
            <a:ext cx="1085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033"/>
                </a:solidFill>
                <a:latin typeface="Microsoft YaHei"/>
                <a:ea typeface="Microsoft YaHei"/>
                <a:cs typeface="Microsoft YaHei"/>
              </a:defRPr>
            </a:pPr>
            <a:r>
              <a:rPr sz="1875" b="0">
                <a:solidFill>
                  <a:srgbClr val="172033"/>
                </a:solidFill>
                <a:latin typeface="Microsoft YaHei"/>
                <a:ea typeface="Microsoft YaHei"/>
                <a:cs typeface="Microsoft YaHei"/>
              </a:rPr>
              <a:t>跨系统关联要求把业务账号、服务账号、设备和会话映射到可追溯主体，并使用可靠时间基准。身份映射缺失或时钟漂移会让同一事件看似由不同主体或在错误顺序发生。</a:t>
            </a:r>
          </a:p>
        </p:txBody>
      </p:sp>
      <p:sp>
        <p:nvSpPr>
          <p:cNvPr id="4" name="">
            <a:extLst xmlns:a="http://schemas.openxmlformats.org/drawingml/2006/main">
              <a:ext uri="{FF2B5EF4-FFF2-40B4-BE49-F238E27FC236}">
                <a16:creationId xmlns:a16="http://schemas.microsoft.com/office/drawing/2014/main" id="{F7AE6CE6-B157-4307-97FC-79EFE27D37BA}"/>
              </a:ext>
            </a:extLst>
          </p:cNvPr>
          <p:cNvSpPr>
            <a:spLocks xmlns:a="http://schemas.openxmlformats.org/drawingml/2006/main" noGrp="1"/>
          </p:cNvSpPr>
          <p:nvPr/>
        </p:nvSpPr>
        <p:spPr>
          <a:xfrm xmlns:a="http://schemas.openxmlformats.org/drawingml/2006/main">
            <a:off x="800100" y="3714750"/>
            <a:ext cx="103822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01  为请求生成贯穿各层的关联标识</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02  服务账号操作关联到实际发起人</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03  所有关键节点同步可信时间源</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04  保存时区、时间精度和校时状态</a:t>
            </a:r>
          </a:p>
        </p:txBody>
      </p:sp>
      <p:sp>
        <p:nvSpPr>
          <p:cNvPr id="5" name="">
            <a:extLst xmlns:a="http://schemas.openxmlformats.org/drawingml/2006/main">
              <a:ext uri="{FF2B5EF4-FFF2-40B4-BE49-F238E27FC236}">
                <a16:creationId xmlns:a16="http://schemas.microsoft.com/office/drawing/2014/main" id="{542C7768-FEC8-4268-957A-4ADE312814F2}"/>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5.6  数据安全技术基础</a:t>
            </a:r>
          </a:p>
        </p:txBody>
      </p:sp>
      <p:sp>
        <p:nvSpPr>
          <p:cNvPr id="6" name="">
            <a:extLst xmlns:a="http://schemas.openxmlformats.org/drawingml/2006/main">
              <a:ext uri="{FF2B5EF4-FFF2-40B4-BE49-F238E27FC236}">
                <a16:creationId xmlns:a16="http://schemas.microsoft.com/office/drawing/2014/main" id="{3A7E487B-8A84-41CB-858D-0D0D7EF59736}"/>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04  来源与版权信息见演讲者备注</a:t>
            </a:r>
          </a:p>
        </p:txBody>
      </p:sp>
    </p:spTree>
    <p:extLst>
      <p:ext uri="{BB962C8B-B14F-4D97-AF65-F5344CB8AC3E}">
        <p14:creationId xmlns:p14="http://schemas.microsoft.com/office/powerpoint/2010/main" val="391631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D69F0D-312A-4B6F-AB95-16AABB97FFB7}"/>
              </a:ext>
            </a:extLst>
          </p:cNvPr>
          <p:cNvSpPr>
            <a:spLocks xmlns:a="http://schemas.openxmlformats.org/drawingml/2006/main" noGrp="1"/>
          </p:cNvSpPr>
          <p:nvPr/>
        </p:nvSpPr>
        <p:spPr>
          <a:xfrm xmlns:a="http://schemas.openxmlformats.org/drawingml/2006/main">
            <a:off x="628650" y="4381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457F5"/>
                </a:solidFill>
                <a:latin typeface="Microsoft YaHei"/>
                <a:ea typeface="Microsoft YaHei"/>
                <a:cs typeface="Microsoft YaHei"/>
              </a:defRPr>
            </a:pPr>
            <a:r>
              <a:rPr sz="1275" b="1">
                <a:solidFill>
                  <a:srgbClr val="2457F5"/>
                </a:solidFill>
                <a:latin typeface="Microsoft YaHei"/>
                <a:ea typeface="Microsoft YaHei"/>
                <a:cs typeface="Microsoft YaHei"/>
              </a:rPr>
              <a:t>03  核心概念</a:t>
            </a:r>
          </a:p>
        </p:txBody>
      </p:sp>
      <p:sp>
        <p:nvSpPr>
          <p:cNvPr id="2" name="">
            <a:extLst xmlns:a="http://schemas.openxmlformats.org/drawingml/2006/main">
              <a:ext uri="{FF2B5EF4-FFF2-40B4-BE49-F238E27FC236}">
                <a16:creationId xmlns:a16="http://schemas.microsoft.com/office/drawing/2014/main" id="{D8E32C68-A026-4CC9-90B0-50E9672C4BD5}"/>
              </a:ext>
            </a:extLst>
          </p:cNvPr>
          <p:cNvSpPr>
            <a:spLocks xmlns:a="http://schemas.openxmlformats.org/drawingml/2006/main" noGrp="1"/>
          </p:cNvSpPr>
          <p:nvPr/>
        </p:nvSpPr>
        <p:spPr>
          <a:xfrm xmlns:a="http://schemas.openxmlformats.org/drawingml/2006/main">
            <a:off x="628650" y="1009650"/>
            <a:ext cx="9810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Microsoft YaHei"/>
                <a:ea typeface="Microsoft YaHei"/>
                <a:cs typeface="Microsoft YaHei"/>
              </a:defRPr>
            </a:pPr>
            <a:r>
              <a:rPr sz="2700" b="1">
                <a:solidFill>
                  <a:srgbClr val="172033"/>
                </a:solidFill>
                <a:latin typeface="Microsoft YaHei"/>
                <a:ea typeface="Microsoft YaHei"/>
                <a:cs typeface="Microsoft YaHei"/>
              </a:rPr>
              <a:t>日志完整性</a:t>
            </a:r>
          </a:p>
        </p:txBody>
      </p:sp>
      <p:sp>
        <p:nvSpPr>
          <p:cNvPr id="3" name="">
            <a:extLst xmlns:a="http://schemas.openxmlformats.org/drawingml/2006/main">
              <a:ext uri="{FF2B5EF4-FFF2-40B4-BE49-F238E27FC236}">
                <a16:creationId xmlns:a16="http://schemas.microsoft.com/office/drawing/2014/main" id="{2D797279-2E02-41F9-8C1B-7B344CE30BF2}"/>
              </a:ext>
            </a:extLst>
          </p:cNvPr>
          <p:cNvSpPr>
            <a:spLocks xmlns:a="http://schemas.openxmlformats.org/drawingml/2006/main" noGrp="1"/>
          </p:cNvSpPr>
          <p:nvPr/>
        </p:nvSpPr>
        <p:spPr>
          <a:xfrm xmlns:a="http://schemas.openxmlformats.org/drawingml/2006/main">
            <a:off x="628650" y="2114550"/>
            <a:ext cx="1085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033"/>
                </a:solidFill>
                <a:latin typeface="Microsoft YaHei"/>
                <a:ea typeface="Microsoft YaHei"/>
                <a:cs typeface="Microsoft YaHei"/>
              </a:defRPr>
            </a:pPr>
            <a:r>
              <a:rPr sz="1875" b="0">
                <a:solidFill>
                  <a:srgbClr val="172033"/>
                </a:solidFill>
                <a:latin typeface="Microsoft YaHei"/>
                <a:ea typeface="Microsoft YaHei"/>
                <a:cs typeface="Microsoft YaHei"/>
              </a:rPr>
              <a:t>日志完整性要求记录产生后不能被未授权修改、删除或插入。集中传输、追加写存储、哈希链和访问分离可提高篡改可见性，但仍需验证采集链是否完整。</a:t>
            </a:r>
          </a:p>
        </p:txBody>
      </p:sp>
      <p:sp>
        <p:nvSpPr>
          <p:cNvPr id="4" name="">
            <a:extLst xmlns:a="http://schemas.openxmlformats.org/drawingml/2006/main">
              <a:ext uri="{FF2B5EF4-FFF2-40B4-BE49-F238E27FC236}">
                <a16:creationId xmlns:a16="http://schemas.microsoft.com/office/drawing/2014/main" id="{8DC80284-9A46-4849-87BD-81A99B04CA0A}"/>
              </a:ext>
            </a:extLst>
          </p:cNvPr>
          <p:cNvSpPr>
            <a:spLocks xmlns:a="http://schemas.openxmlformats.org/drawingml/2006/main" noGrp="1"/>
          </p:cNvSpPr>
          <p:nvPr/>
        </p:nvSpPr>
        <p:spPr>
          <a:xfrm xmlns:a="http://schemas.openxmlformats.org/drawingml/2006/main">
            <a:off x="800100" y="3714750"/>
            <a:ext cx="103822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01  日志尽快从业务主机发送到独立系统</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02  限制管理员删除和覆盖权限</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03  监测日志中断、时间回退和序号缺口</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04  定期校验归档摘要与保留策略</a:t>
            </a:r>
          </a:p>
        </p:txBody>
      </p:sp>
      <p:sp>
        <p:nvSpPr>
          <p:cNvPr id="5" name="">
            <a:extLst xmlns:a="http://schemas.openxmlformats.org/drawingml/2006/main">
              <a:ext uri="{FF2B5EF4-FFF2-40B4-BE49-F238E27FC236}">
                <a16:creationId xmlns:a16="http://schemas.microsoft.com/office/drawing/2014/main" id="{D3A8DA75-FA8C-43EE-9F88-B9859DA12A80}"/>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5.6  数据安全技术基础</a:t>
            </a:r>
          </a:p>
        </p:txBody>
      </p:sp>
      <p:sp>
        <p:nvSpPr>
          <p:cNvPr id="6" name="">
            <a:extLst xmlns:a="http://schemas.openxmlformats.org/drawingml/2006/main">
              <a:ext uri="{FF2B5EF4-FFF2-40B4-BE49-F238E27FC236}">
                <a16:creationId xmlns:a16="http://schemas.microsoft.com/office/drawing/2014/main" id="{52DCB21E-30EE-41C7-AC57-23BC7D35C52C}"/>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05  来源与版权信息见演讲者备注</a:t>
            </a:r>
          </a:p>
        </p:txBody>
      </p:sp>
    </p:spTree>
    <p:extLst>
      <p:ext uri="{BB962C8B-B14F-4D97-AF65-F5344CB8AC3E}">
        <p14:creationId xmlns:p14="http://schemas.microsoft.com/office/powerpoint/2010/main" val="549776325"/>
      </p:ext>
    </p:extLst>
  </p:cSld>
</p:sld>
</file>

<file path=ppt/slides/slide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FC05D4-DF15-48A2-886E-F6AC719AFF11}"/>
              </a:ext>
            </a:extLst>
          </p:cNvPr>
          <p:cNvSpPr>
            <a:spLocks xmlns:a="http://schemas.openxmlformats.org/drawingml/2006/main" noGrp="1"/>
          </p:cNvSpPr>
          <p:nvPr/>
        </p:nvSpPr>
        <p:spPr>
          <a:xfrm xmlns:a="http://schemas.openxmlformats.org/drawingml/2006/main">
            <a:off x="628650" y="4381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457F5"/>
                </a:solidFill>
                <a:latin typeface="Microsoft YaHei"/>
                <a:ea typeface="Microsoft YaHei"/>
                <a:cs typeface="Microsoft YaHei"/>
              </a:defRPr>
            </a:pPr>
            <a:r>
              <a:rPr sz="1275" b="1">
                <a:solidFill>
                  <a:srgbClr val="2457F5"/>
                </a:solidFill>
                <a:latin typeface="Microsoft YaHei"/>
                <a:ea typeface="Microsoft YaHei"/>
                <a:cs typeface="Microsoft YaHei"/>
              </a:rPr>
              <a:t>04  核心概念</a:t>
            </a:r>
          </a:p>
        </p:txBody>
      </p:sp>
      <p:sp>
        <p:nvSpPr>
          <p:cNvPr id="2" name="">
            <a:extLst xmlns:a="http://schemas.openxmlformats.org/drawingml/2006/main">
              <a:ext uri="{FF2B5EF4-FFF2-40B4-BE49-F238E27FC236}">
                <a16:creationId xmlns:a16="http://schemas.microsoft.com/office/drawing/2014/main" id="{63B1FEE4-99D9-44FF-9D28-2E35BB7A1A96}"/>
              </a:ext>
            </a:extLst>
          </p:cNvPr>
          <p:cNvSpPr>
            <a:spLocks xmlns:a="http://schemas.openxmlformats.org/drawingml/2006/main" noGrp="1"/>
          </p:cNvSpPr>
          <p:nvPr/>
        </p:nvSpPr>
        <p:spPr>
          <a:xfrm xmlns:a="http://schemas.openxmlformats.org/drawingml/2006/main">
            <a:off x="628650" y="1009650"/>
            <a:ext cx="9810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Microsoft YaHei"/>
                <a:ea typeface="Microsoft YaHei"/>
                <a:cs typeface="Microsoft YaHei"/>
              </a:defRPr>
            </a:pPr>
            <a:r>
              <a:rPr sz="2700" b="1">
                <a:solidFill>
                  <a:srgbClr val="172033"/>
                </a:solidFill>
                <a:latin typeface="Microsoft YaHei"/>
                <a:ea typeface="Microsoft YaHei"/>
                <a:cs typeface="Microsoft YaHei"/>
              </a:rPr>
              <a:t>集中检索与关联</a:t>
            </a:r>
          </a:p>
        </p:txBody>
      </p:sp>
      <p:sp>
        <p:nvSpPr>
          <p:cNvPr id="3" name="">
            <a:extLst xmlns:a="http://schemas.openxmlformats.org/drawingml/2006/main">
              <a:ext uri="{FF2B5EF4-FFF2-40B4-BE49-F238E27FC236}">
                <a16:creationId xmlns:a16="http://schemas.microsoft.com/office/drawing/2014/main" id="{CB88B8DD-DC50-48FA-B35D-8DBF32A22D2F}"/>
              </a:ext>
            </a:extLst>
          </p:cNvPr>
          <p:cNvSpPr>
            <a:spLocks xmlns:a="http://schemas.openxmlformats.org/drawingml/2006/main" noGrp="1"/>
          </p:cNvSpPr>
          <p:nvPr/>
        </p:nvSpPr>
        <p:spPr>
          <a:xfrm xmlns:a="http://schemas.openxmlformats.org/drawingml/2006/main">
            <a:off x="628650" y="2114550"/>
            <a:ext cx="1085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033"/>
                </a:solidFill>
                <a:latin typeface="Microsoft YaHei"/>
                <a:ea typeface="Microsoft YaHei"/>
                <a:cs typeface="Microsoft YaHei"/>
              </a:defRPr>
            </a:pPr>
            <a:r>
              <a:rPr sz="1875" b="0">
                <a:solidFill>
                  <a:srgbClr val="172033"/>
                </a:solidFill>
                <a:latin typeface="Microsoft YaHei"/>
                <a:ea typeface="Microsoft YaHei"/>
                <a:cs typeface="Microsoft YaHei"/>
              </a:rPr>
              <a:t>集中平台把多源事件规范化并按身份、时间、对象和请求标识关联，支持从告警下钻到原始证据。关联规则需处理字段差异和时间偏移，避免只靠文本包含进行匹配。</a:t>
            </a:r>
          </a:p>
        </p:txBody>
      </p:sp>
      <p:sp>
        <p:nvSpPr>
          <p:cNvPr id="4" name="">
            <a:extLst xmlns:a="http://schemas.openxmlformats.org/drawingml/2006/main">
              <a:ext uri="{FF2B5EF4-FFF2-40B4-BE49-F238E27FC236}">
                <a16:creationId xmlns:a16="http://schemas.microsoft.com/office/drawing/2014/main" id="{7C8038D2-D36C-4D6A-9E69-9DF682E02016}"/>
              </a:ext>
            </a:extLst>
          </p:cNvPr>
          <p:cNvSpPr>
            <a:spLocks xmlns:a="http://schemas.openxmlformats.org/drawingml/2006/main" noGrp="1"/>
          </p:cNvSpPr>
          <p:nvPr/>
        </p:nvSpPr>
        <p:spPr>
          <a:xfrm xmlns:a="http://schemas.openxmlformats.org/drawingml/2006/main">
            <a:off x="800100" y="3714750"/>
            <a:ext cx="103822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01  统一事件字段和严重程度定义</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02  保留原始记录与解析后记录的链接</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03  关联窗口按业务时延合理设置</a:t>
            </a:r>
          </a:p>
          <a:p xmlns:a="http://schemas.openxmlformats.org/drawingml/2006/main">
            <a:r>
              <a:t/>
            </a:r>
          </a:p>
          <a:p xmlns:a="http://schemas.openxmlformats.org/drawingml/2006/main">
            <a:pPr>
              <a:defRPr sz="1500" b="0">
                <a:solidFill>
                  <a:srgbClr val="667085"/>
                </a:solidFill>
                <a:latin typeface="Microsoft YaHei"/>
                <a:ea typeface="Microsoft YaHei"/>
                <a:cs typeface="Microsoft YaHei"/>
              </a:defRPr>
            </a:pPr>
            <a:r>
              <a:rPr sz="1500" b="0">
                <a:solidFill>
                  <a:srgbClr val="667085"/>
                </a:solidFill>
                <a:latin typeface="Microsoft YaHei"/>
                <a:ea typeface="Microsoft YaHei"/>
                <a:cs typeface="Microsoft YaHei"/>
              </a:rPr>
              <a:t>04  查询和导出审计证据也要受控</a:t>
            </a:r>
          </a:p>
        </p:txBody>
      </p:sp>
      <p:sp>
        <p:nvSpPr>
          <p:cNvPr id="5" name="">
            <a:extLst xmlns:a="http://schemas.openxmlformats.org/drawingml/2006/main">
              <a:ext uri="{FF2B5EF4-FFF2-40B4-BE49-F238E27FC236}">
                <a16:creationId xmlns:a16="http://schemas.microsoft.com/office/drawing/2014/main" id="{AFD840D0-A413-446A-B7D6-4292D519A86F}"/>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5.6  数据安全技术基础</a:t>
            </a:r>
          </a:p>
        </p:txBody>
      </p:sp>
      <p:sp>
        <p:nvSpPr>
          <p:cNvPr id="6" name="">
            <a:extLst xmlns:a="http://schemas.openxmlformats.org/drawingml/2006/main">
              <a:ext uri="{FF2B5EF4-FFF2-40B4-BE49-F238E27FC236}">
                <a16:creationId xmlns:a16="http://schemas.microsoft.com/office/drawing/2014/main" id="{21B983ED-282B-40C0-90E7-D7C577AFAF0F}"/>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06  来源与版权信息见演讲者备注</a:t>
            </a:r>
          </a:p>
        </p:txBody>
      </p:sp>
    </p:spTree>
    <p:extLst>
      <p:ext uri="{BB962C8B-B14F-4D97-AF65-F5344CB8AC3E}">
        <p14:creationId xmlns:p14="http://schemas.microsoft.com/office/powerpoint/2010/main" val="1466899691"/>
      </p:ext>
    </p:extLst>
  </p:cSld>
</p:sld>
</file>

<file path=ppt/slides/slide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1A3A81-30AB-40DF-A0E0-D8BC17DA5DEF}"/>
              </a:ext>
            </a:extLst>
          </p:cNvPr>
          <p:cNvSpPr>
            <a:spLocks xmlns:a="http://schemas.openxmlformats.org/drawingml/2006/main" noGrp="1"/>
          </p:cNvSpPr>
          <p:nvPr/>
        </p:nvSpPr>
        <p:spPr>
          <a:xfrm xmlns:a="http://schemas.openxmlformats.org/drawingml/2006/main">
            <a:off x="628650" y="43815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457F5"/>
                </a:solidFill>
                <a:latin typeface="Microsoft YaHei"/>
                <a:ea typeface="Microsoft YaHei"/>
                <a:cs typeface="Microsoft YaHei"/>
              </a:defRPr>
            </a:pPr>
            <a:r>
              <a:rPr sz="1500" b="1">
                <a:solidFill>
                  <a:srgbClr val="2457F5"/>
                </a:solidFill>
                <a:latin typeface="Microsoft YaHei"/>
                <a:ea typeface="Microsoft YaHei"/>
                <a:cs typeface="Microsoft YaHei"/>
              </a:rPr>
              <a:t>业务案例</a:t>
            </a:r>
          </a:p>
        </p:txBody>
      </p:sp>
      <p:sp>
        <p:nvSpPr>
          <p:cNvPr id="2" name="">
            <a:extLst xmlns:a="http://schemas.openxmlformats.org/drawingml/2006/main">
              <a:ext uri="{FF2B5EF4-FFF2-40B4-BE49-F238E27FC236}">
                <a16:creationId xmlns:a16="http://schemas.microsoft.com/office/drawing/2014/main" id="{BFF11085-8D8E-4D5D-BCBD-FAB4E0D11E1D}"/>
              </a:ext>
            </a:extLst>
          </p:cNvPr>
          <p:cNvSpPr>
            <a:spLocks xmlns:a="http://schemas.openxmlformats.org/drawingml/2006/main" noGrp="1"/>
          </p:cNvSpPr>
          <p:nvPr/>
        </p:nvSpPr>
        <p:spPr>
          <a:xfrm xmlns:a="http://schemas.openxmlformats.org/drawingml/2006/main">
            <a:off x="628650" y="102870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033"/>
                </a:solidFill>
                <a:latin typeface="Microsoft YaHei"/>
                <a:ea typeface="Microsoft YaHei"/>
                <a:cs typeface="Microsoft YaHei"/>
              </a:defRPr>
            </a:pPr>
            <a:r>
              <a:rPr sz="2700" b="1">
                <a:solidFill>
                  <a:srgbClr val="172033"/>
                </a:solidFill>
                <a:latin typeface="Microsoft YaHei"/>
                <a:ea typeface="Microsoft YaHei"/>
                <a:cs typeface="Microsoft YaHei"/>
              </a:rPr>
              <a:t>把概念放回真实决策</a:t>
            </a:r>
          </a:p>
        </p:txBody>
      </p:sp>
      <p:sp>
        <p:nvSpPr>
          <p:cNvPr id="3" name="">
            <a:extLst xmlns:a="http://schemas.openxmlformats.org/drawingml/2006/main">
              <a:ext uri="{FF2B5EF4-FFF2-40B4-BE49-F238E27FC236}">
                <a16:creationId xmlns:a16="http://schemas.microsoft.com/office/drawing/2014/main" id="{38AFBD5D-8FB9-49CC-9300-4A4D3B5938B0}"/>
              </a:ext>
            </a:extLst>
          </p:cNvPr>
          <p:cNvSpPr>
            <a:spLocks xmlns:a="http://schemas.openxmlformats.org/drawingml/2006/main" noGrp="1"/>
          </p:cNvSpPr>
          <p:nvPr/>
        </p:nvSpPr>
        <p:spPr>
          <a:xfrm xmlns:a="http://schemas.openxmlformats.org/drawingml/2006/main">
            <a:off x="628650" y="2133600"/>
            <a:ext cx="108585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033"/>
                </a:solidFill>
                <a:latin typeface="Microsoft YaHei"/>
                <a:ea typeface="Microsoft YaHei"/>
                <a:cs typeface="Microsoft YaHei"/>
              </a:defRPr>
            </a:pPr>
            <a:r>
              <a:rPr sz="2025" b="0">
                <a:solidFill>
                  <a:srgbClr val="172033"/>
                </a:solidFill>
                <a:latin typeface="Microsoft YaHei"/>
                <a:ea typeface="Microsoft YaHei"/>
                <a:cs typeface="Microsoft YaHei"/>
              </a:rPr>
              <a:t>调查批量导出事件时，把应用导出记录、数据库查询、主机进程和网络传输日志按账号、请求标识与时间线关联。</a:t>
            </a:r>
          </a:p>
        </p:txBody>
      </p:sp>
      <p:sp>
        <p:nvSpPr>
          <p:cNvPr id="4" name="">
            <a:extLst xmlns:a="http://schemas.openxmlformats.org/drawingml/2006/main">
              <a:ext uri="{FF2B5EF4-FFF2-40B4-BE49-F238E27FC236}">
                <a16:creationId xmlns:a16="http://schemas.microsoft.com/office/drawing/2014/main" id="{C42EDB11-3E4D-4FFA-923D-17F5ECDB5D34}"/>
              </a:ext>
            </a:extLst>
          </p:cNvPr>
          <p:cNvSpPr>
            <a:spLocks xmlns:a="http://schemas.openxmlformats.org/drawingml/2006/main" noGrp="1"/>
          </p:cNvSpPr>
          <p:nvPr/>
        </p:nvSpPr>
        <p:spPr>
          <a:xfrm xmlns:a="http://schemas.openxmlformats.org/drawingml/2006/main">
            <a:off x="628650" y="42481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46CD"/>
                </a:solidFill>
                <a:latin typeface="Microsoft YaHei"/>
                <a:ea typeface="Microsoft YaHei"/>
                <a:cs typeface="Microsoft YaHei"/>
              </a:defRPr>
            </a:pPr>
            <a:r>
              <a:rPr sz="1425" b="1">
                <a:solidFill>
                  <a:srgbClr val="1846CD"/>
                </a:solidFill>
                <a:latin typeface="Microsoft YaHei"/>
                <a:ea typeface="Microsoft YaHei"/>
                <a:cs typeface="Microsoft YaHei"/>
              </a:rPr>
              <a:t>课堂讨论</a:t>
            </a:r>
          </a:p>
        </p:txBody>
      </p:sp>
      <p:sp>
        <p:nvSpPr>
          <p:cNvPr id="5" name="">
            <a:extLst xmlns:a="http://schemas.openxmlformats.org/drawingml/2006/main">
              <a:ext uri="{FF2B5EF4-FFF2-40B4-BE49-F238E27FC236}">
                <a16:creationId xmlns:a16="http://schemas.microsoft.com/office/drawing/2014/main" id="{6405C063-6BE1-4CA0-890C-E67B55A17BDB}"/>
              </a:ext>
            </a:extLst>
          </p:cNvPr>
          <p:cNvSpPr>
            <a:spLocks xmlns:a="http://schemas.openxmlformats.org/drawingml/2006/main" noGrp="1"/>
          </p:cNvSpPr>
          <p:nvPr/>
        </p:nvSpPr>
        <p:spPr>
          <a:xfrm xmlns:a="http://schemas.openxmlformats.org/drawingml/2006/main">
            <a:off x="628650" y="4724400"/>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085"/>
                </a:solidFill>
                <a:latin typeface="Microsoft YaHei"/>
                <a:ea typeface="Microsoft YaHei"/>
                <a:cs typeface="Microsoft YaHei"/>
              </a:defRPr>
            </a:pPr>
            <a:r>
              <a:rPr sz="1425" b="0">
                <a:solidFill>
                  <a:srgbClr val="667085"/>
                </a:solidFill>
                <a:latin typeface="Microsoft YaHei"/>
                <a:ea typeface="Microsoft YaHei"/>
                <a:cs typeface="Microsoft YaHei"/>
              </a:rPr>
              <a:t>01  案例中的核心数据资产、威胁和责任主体分别是什么？</a:t>
            </a:r>
          </a:p>
          <a:p xmlns:a="http://schemas.openxmlformats.org/drawingml/2006/main">
            <a:r>
              <a:t/>
            </a:r>
          </a:p>
          <a:p xmlns:a="http://schemas.openxmlformats.org/drawingml/2006/main">
            <a:pPr>
              <a:defRPr sz="1425" b="0">
                <a:solidFill>
                  <a:srgbClr val="667085"/>
                </a:solidFill>
                <a:latin typeface="Microsoft YaHei"/>
                <a:ea typeface="Microsoft YaHei"/>
                <a:cs typeface="Microsoft YaHei"/>
              </a:defRPr>
            </a:pPr>
            <a:r>
              <a:rPr sz="1425" b="0">
                <a:solidFill>
                  <a:srgbClr val="667085"/>
                </a:solidFill>
                <a:latin typeface="Microsoft YaHei"/>
                <a:ea typeface="Microsoft YaHei"/>
                <a:cs typeface="Microsoft YaHei"/>
              </a:rPr>
              <a:t>02  优先控制措施是什么，如何用日志、测试或指标验证效果？</a:t>
            </a:r>
          </a:p>
          <a:p xmlns:a="http://schemas.openxmlformats.org/drawingml/2006/main">
            <a:r>
              <a:t/>
            </a:r>
          </a:p>
          <a:p xmlns:a="http://schemas.openxmlformats.org/drawingml/2006/main">
            <a:pPr>
              <a:defRPr sz="1425" b="0">
                <a:solidFill>
                  <a:srgbClr val="667085"/>
                </a:solidFill>
                <a:latin typeface="Microsoft YaHei"/>
                <a:ea typeface="Microsoft YaHei"/>
                <a:cs typeface="Microsoft YaHei"/>
              </a:defRPr>
            </a:pPr>
            <a:r>
              <a:rPr sz="1425" b="0">
                <a:solidFill>
                  <a:srgbClr val="667085"/>
                </a:solidFill>
                <a:latin typeface="Microsoft YaHei"/>
                <a:ea typeface="Microsoft YaHei"/>
                <a:cs typeface="Microsoft YaHei"/>
              </a:rPr>
              <a:t>03  哪些边界条件变化后，需要重新评估方案？</a:t>
            </a:r>
          </a:p>
        </p:txBody>
      </p:sp>
      <p:sp>
        <p:nvSpPr>
          <p:cNvPr id="6" name="">
            <a:extLst xmlns:a="http://schemas.openxmlformats.org/drawingml/2006/main">
              <a:ext uri="{FF2B5EF4-FFF2-40B4-BE49-F238E27FC236}">
                <a16:creationId xmlns:a16="http://schemas.microsoft.com/office/drawing/2014/main" id="{24C3B65F-3267-4C13-BBB4-000D0B997747}"/>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5.6  数据安全技术基础</a:t>
            </a:r>
          </a:p>
        </p:txBody>
      </p:sp>
      <p:sp>
        <p:nvSpPr>
          <p:cNvPr id="7" name="">
            <a:extLst xmlns:a="http://schemas.openxmlformats.org/drawingml/2006/main">
              <a:ext uri="{FF2B5EF4-FFF2-40B4-BE49-F238E27FC236}">
                <a16:creationId xmlns:a16="http://schemas.microsoft.com/office/drawing/2014/main" id="{12B921A8-122A-4CFB-B243-D7368F0D163C}"/>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085"/>
                </a:solidFill>
                <a:latin typeface="Microsoft YaHei"/>
                <a:ea typeface="Microsoft YaHei"/>
                <a:cs typeface="Microsoft YaHei"/>
              </a:defRPr>
            </a:pPr>
            <a:r>
              <a:rPr sz="900" b="0">
                <a:solidFill>
                  <a:srgbClr val="667085"/>
                </a:solidFill>
                <a:latin typeface="Microsoft YaHei"/>
                <a:ea typeface="Microsoft YaHei"/>
                <a:cs typeface="Microsoft YaHei"/>
              </a:rPr>
              <a:t>07  来源与版权信息见演讲者备注</a:t>
            </a:r>
          </a:p>
        </p:txBody>
      </p:sp>
    </p:spTree>
    <p:extLst>
      <p:ext uri="{BB962C8B-B14F-4D97-AF65-F5344CB8AC3E}">
        <p14:creationId xmlns:p14="http://schemas.microsoft.com/office/powerpoint/2010/main" val="1414394695"/>
      </p:ext>
    </p:extLst>
  </p:cSld>
</p:sld>
</file>

<file path=ppt/slides/slide8.xml><?xml version="1.0" encoding="utf-8"?>
<p:sld xmlns:p="http://schemas.openxmlformats.org/presentationml/2006/main">
  <p:cSld>
    <p:bg>
      <p:bgPr>
        <a:solidFill xmlns:a="http://schemas.openxmlformats.org/drawingml/2006/main">
          <a:srgbClr val="10213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04ED2D5-245E-4EA9-B078-5285DB024812}"/>
              </a:ext>
            </a:extLst>
          </p:cNvPr>
          <p:cNvSpPr>
            <a:spLocks xmlns:a="http://schemas.openxmlformats.org/drawingml/2006/main" noGrp="1"/>
          </p:cNvSpPr>
          <p:nvPr/>
        </p:nvSpPr>
        <p:spPr>
          <a:xfrm xmlns:a="http://schemas.openxmlformats.org/drawingml/2006/main">
            <a:off x="628650" y="45720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CE7FF"/>
                </a:solidFill>
                <a:latin typeface="Microsoft YaHei"/>
                <a:ea typeface="Microsoft YaHei"/>
                <a:cs typeface="Microsoft YaHei"/>
              </a:defRPr>
            </a:pPr>
            <a:r>
              <a:rPr sz="1500" b="1">
                <a:solidFill>
                  <a:srgbClr val="DCE7FF"/>
                </a:solidFill>
                <a:latin typeface="Microsoft YaHei"/>
                <a:ea typeface="Microsoft YaHei"/>
                <a:cs typeface="Microsoft YaHei"/>
              </a:rPr>
              <a:t>知识检查</a:t>
            </a:r>
          </a:p>
        </p:txBody>
      </p:sp>
      <p:sp>
        <p:nvSpPr>
          <p:cNvPr id="2" name="">
            <a:extLst xmlns:a="http://schemas.openxmlformats.org/drawingml/2006/main">
              <a:ext uri="{FF2B5EF4-FFF2-40B4-BE49-F238E27FC236}">
                <a16:creationId xmlns:a16="http://schemas.microsoft.com/office/drawing/2014/main" id="{16B9D85E-B12D-408F-8298-DD9DD326D0AC}"/>
              </a:ext>
            </a:extLst>
          </p:cNvPr>
          <p:cNvSpPr>
            <a:spLocks xmlns:a="http://schemas.openxmlformats.org/drawingml/2006/main" noGrp="1"/>
          </p:cNvSpPr>
          <p:nvPr/>
        </p:nvSpPr>
        <p:spPr>
          <a:xfrm xmlns:a="http://schemas.openxmlformats.org/drawingml/2006/main">
            <a:off x="628650" y="1352550"/>
            <a:ext cx="10763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Microsoft YaHei"/>
                <a:ea typeface="Microsoft YaHei"/>
                <a:cs typeface="Microsoft YaHei"/>
              </a:defRPr>
            </a:pPr>
            <a:r>
              <a:rPr sz="2550" b="1">
                <a:solidFill>
                  <a:srgbClr val="FFFFFF"/>
                </a:solidFill>
                <a:latin typeface="Microsoft YaHei"/>
                <a:ea typeface="Microsoft YaHei"/>
                <a:cs typeface="Microsoft YaHei"/>
              </a:rPr>
              <a:t>跨系统日志关联为何依赖统一时间源？</a:t>
            </a:r>
          </a:p>
        </p:txBody>
      </p:sp>
      <p:sp>
        <p:nvSpPr>
          <p:cNvPr id="3" name="">
            <a:extLst xmlns:a="http://schemas.openxmlformats.org/drawingml/2006/main">
              <a:ext uri="{FF2B5EF4-FFF2-40B4-BE49-F238E27FC236}">
                <a16:creationId xmlns:a16="http://schemas.microsoft.com/office/drawing/2014/main" id="{38D7A5B2-D80F-42F2-8F0B-9DE3F6B98CC4}"/>
              </a:ext>
            </a:extLst>
          </p:cNvPr>
          <p:cNvSpPr>
            <a:spLocks xmlns:a="http://schemas.openxmlformats.org/drawingml/2006/main" noGrp="1"/>
          </p:cNvSpPr>
          <p:nvPr/>
        </p:nvSpPr>
        <p:spPr>
          <a:xfrm xmlns:a="http://schemas.openxmlformats.org/drawingml/2006/main">
            <a:off x="628650" y="37147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49968"/>
                </a:solidFill>
                <a:latin typeface="Microsoft YaHei"/>
                <a:ea typeface="Microsoft YaHei"/>
                <a:cs typeface="Microsoft YaHei"/>
              </a:defRPr>
            </a:pPr>
            <a:r>
              <a:rPr sz="1425" b="1">
                <a:solidFill>
                  <a:srgbClr val="149968"/>
                </a:solidFill>
                <a:latin typeface="Microsoft YaHei"/>
                <a:ea typeface="Microsoft YaHei"/>
                <a:cs typeface="Microsoft YaHei"/>
              </a:rPr>
              <a:t>参考答案</a:t>
            </a:r>
          </a:p>
        </p:txBody>
      </p:sp>
      <p:sp>
        <p:nvSpPr>
          <p:cNvPr id="4" name="">
            <a:extLst xmlns:a="http://schemas.openxmlformats.org/drawingml/2006/main">
              <a:ext uri="{FF2B5EF4-FFF2-40B4-BE49-F238E27FC236}">
                <a16:creationId xmlns:a16="http://schemas.microsoft.com/office/drawing/2014/main" id="{975427BA-E9AC-493B-87F8-9882DFF4127B}"/>
              </a:ext>
            </a:extLst>
          </p:cNvPr>
          <p:cNvSpPr>
            <a:spLocks xmlns:a="http://schemas.openxmlformats.org/drawingml/2006/main" noGrp="1"/>
          </p:cNvSpPr>
          <p:nvPr/>
        </p:nvSpPr>
        <p:spPr>
          <a:xfrm xmlns:a="http://schemas.openxmlformats.org/drawingml/2006/main">
            <a:off x="628650" y="430530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CE7FF"/>
                </a:solidFill>
                <a:latin typeface="Microsoft YaHei"/>
                <a:ea typeface="Microsoft YaHei"/>
                <a:cs typeface="Microsoft YaHei"/>
              </a:defRPr>
            </a:pPr>
            <a:r>
              <a:rPr sz="1800" b="0">
                <a:solidFill>
                  <a:srgbClr val="DCE7FF"/>
                </a:solidFill>
                <a:latin typeface="Microsoft YaHei"/>
                <a:ea typeface="Microsoft YaHei"/>
                <a:cs typeface="Microsoft YaHei"/>
              </a:rPr>
              <a:t>时间偏差会打乱事件先后顺序，导致攻击路径和责任判断错误。</a:t>
            </a:r>
          </a:p>
        </p:txBody>
      </p:sp>
      <p:sp>
        <p:nvSpPr>
          <p:cNvPr id="5" name="">
            <a:extLst xmlns:a="http://schemas.openxmlformats.org/drawingml/2006/main">
              <a:ext uri="{FF2B5EF4-FFF2-40B4-BE49-F238E27FC236}">
                <a16:creationId xmlns:a16="http://schemas.microsoft.com/office/drawing/2014/main" id="{BD68797C-23C1-405B-B04B-DA52E097B33B}"/>
              </a:ext>
            </a:extLst>
          </p:cNvPr>
          <p:cNvSpPr>
            <a:spLocks xmlns:a="http://schemas.openxmlformats.org/drawingml/2006/main" noGrp="1"/>
          </p:cNvSpPr>
          <p:nvPr/>
        </p:nvSpPr>
        <p:spPr>
          <a:xfrm xmlns:a="http://schemas.openxmlformats.org/drawingml/2006/main">
            <a:off x="609600" y="6419850"/>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DCE7FF"/>
                </a:solidFill>
                <a:latin typeface="Microsoft YaHei"/>
                <a:ea typeface="Microsoft YaHei"/>
                <a:cs typeface="Microsoft YaHei"/>
              </a:defRPr>
            </a:pPr>
            <a:r>
              <a:rPr sz="900" b="0">
                <a:solidFill>
                  <a:srgbClr val="DCE7FF"/>
                </a:solidFill>
                <a:latin typeface="Microsoft YaHei"/>
                <a:ea typeface="Microsoft YaHei"/>
                <a:cs typeface="Microsoft YaHei"/>
              </a:rPr>
              <a:t>5.6  数据安全技术基础</a:t>
            </a:r>
          </a:p>
        </p:txBody>
      </p:sp>
      <p:sp>
        <p:nvSpPr>
          <p:cNvPr id="6" name="">
            <a:extLst xmlns:a="http://schemas.openxmlformats.org/drawingml/2006/main">
              <a:ext uri="{FF2B5EF4-FFF2-40B4-BE49-F238E27FC236}">
                <a16:creationId xmlns:a16="http://schemas.microsoft.com/office/drawing/2014/main" id="{30A4FB0A-8333-4381-B484-690D767E9EE0}"/>
              </a:ext>
            </a:extLst>
          </p:cNvPr>
          <p:cNvSpPr>
            <a:spLocks xmlns:a="http://schemas.openxmlformats.org/drawingml/2006/main" noGrp="1"/>
          </p:cNvSpPr>
          <p:nvPr/>
        </p:nvSpPr>
        <p:spPr>
          <a:xfrm xmlns:a="http://schemas.openxmlformats.org/drawingml/2006/main">
            <a:off x="7239000" y="6419850"/>
            <a:ext cx="434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DCE7FF"/>
                </a:solidFill>
                <a:latin typeface="Microsoft YaHei"/>
                <a:ea typeface="Microsoft YaHei"/>
                <a:cs typeface="Microsoft YaHei"/>
              </a:defRPr>
            </a:pPr>
            <a:r>
              <a:rPr sz="900" b="0">
                <a:solidFill>
                  <a:srgbClr val="DCE7FF"/>
                </a:solidFill>
                <a:latin typeface="Microsoft YaHei"/>
                <a:ea typeface="Microsoft YaHei"/>
                <a:cs typeface="Microsoft YaHei"/>
              </a:rPr>
              <a:t>08  来源与版权信息见演讲者备注</a:t>
            </a:r>
          </a:p>
        </p:txBody>
      </p:sp>
    </p:spTree>
    <p:extLst>
      <p:ext uri="{BB962C8B-B14F-4D97-AF65-F5344CB8AC3E}">
        <p14:creationId xmlns:p14="http://schemas.microsoft.com/office/powerpoint/2010/main" val="11356463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2026-09-21T18:11:19.0820000Z</dcterms:created>
  <dcterms:modified xsi:type="dcterms:W3CDTF">2026-09-21T18:11:19.0820000Z</dcterms:modified>
</coreProperties>
</file>